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embeddedFontLst>
    <p:embeddedFont>
      <p:font typeface="Inter"/>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11" Type="http://schemas.openxmlformats.org/officeDocument/2006/relationships/slide" Target="slides/slide7.xml"/><Relationship Id="rId22" Type="http://schemas.openxmlformats.org/officeDocument/2006/relationships/font" Target="fonts/Inter-boldItalic.fntdata"/><Relationship Id="rId10" Type="http://schemas.openxmlformats.org/officeDocument/2006/relationships/slide" Target="slides/slide6.xml"/><Relationship Id="rId21" Type="http://schemas.openxmlformats.org/officeDocument/2006/relationships/font" Target="fonts/Inter-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Inter-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Comece com uma pergunta: duas pessoas de 40 anos sempre terão o mesmo padrão molecular relacionado à idade? Explique que estudamos mudanças químicas no DNA que ocorrem com o envelhecimento. O projeto é um programa que usa essas informações para estimar idade epigenética. Não é um exame de diagnóstico nem uma medida direta de saúde.</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Idade cronológica é o tempo desde o nascimento. A idade epigenética é uma estimativa calculada a partir de marcas químicas no DNA. Apresente as duas pessoas hipotéticas e avise que os números 37 e 46 são inventados apenas para explicar a diferença. O relógio do artigo é especialmente bom em estimar idade cronológica, mas não determina sozinho a saúde de alguém.</a:t>
            </a:r>
            <a:endParaRPr/>
          </a:p>
        </p:txBody>
      </p:sp>
      <p:sp>
        <p:nvSpPr>
          <p:cNvPr id="95" name="Google Shape;9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 DNA tem muitas posições específicas chamadas CpGs. Nesses locais pode existir uma pequena modificação química: a metilação. Os padrões de metilação variam com a idade, embora existam outras influências. O relógio não lê todo o DNA nem alterações de letras; ele recebe uma lista de medições desses CpGs. A figura da molécula é ilustrativa.</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Explique beta-value como um medidor de 0 a 1. Um local com 0,2 tem uma estimativa de metilação relativamente baixa; 0,9, alta. Cada amostra contém muitos desses números. O relógio usa os números como ingredientes de uma receita estatística. Não confundir metilação de 90% com idade de 90 anos. Os três valores da imagem são fictícios.</a:t>
            </a:r>
            <a:endParaRPr/>
          </a:p>
        </p:txBody>
      </p:sp>
      <p:sp>
        <p:nvSpPr>
          <p:cNvPr id="215" name="Google Shape;21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Os chips Illumina são tecnologias que medem metilação em muitos pontos do DNA. Ao mudar de versão, alguns CpGs deixam de ser medidos, enquanto outros entram. Isso pode afetar relógios construídos para chips antigos. Garma e Quintela-Fandiño propuseram um modelo compatível com 450K, EPIC v1 e EPIC v2. O desenho de pontos representa uma ideia, não quantidades reais.</a:t>
            </a:r>
            <a:endParaRPr/>
          </a:p>
        </p:txBody>
      </p:sp>
      <p:sp>
        <p:nvSpPr>
          <p:cNvPr id="245" name="Google Shape;24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 que construímos é um programa que aplica a fórmula do artigo. Ele aceita dados de uma ou mais amostras, encontra os CpGs relevantes, verifica ausências, aplica os coeficientes e gera um relatório. O arquivo clock.py concentra a lógica matemática. Python e as bibliotecas pandas, NumPy e Streamlit dão suporte à leitura, cálculo e interface. Nós não criamos coeficientes novos nem treinamos um relógio do zero.</a:t>
            </a:r>
            <a:endParaRPr/>
          </a:p>
        </p:txBody>
      </p:sp>
      <p:sp>
        <p:nvSpPr>
          <p:cNvPr id="303" name="Google Shape;3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Há dois grupos de arquivos. Do artigo: os pesos ou coeficientes matemáticos das quatro versões de relógio (S5 a S8), mais a tabela S2 de médias. Do GEO: dados de metilação de 500 amostras de sangue obtidas com EPIC v2; escolhemos cinco com idades registradas para demonstração. A idade real é usada para comparar depois, não para calcular a previsão.</a:t>
            </a:r>
            <a:endParaRPr/>
          </a:p>
        </p:txBody>
      </p:sp>
      <p:sp>
        <p:nvSpPr>
          <p:cNvPr id="341" name="Google Shape;3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Mostre que cada CpG gera um número chamado beta-value. O coeficiente é o peso aprendido pelos pesquisadores. Alguns termos usam o valor diretamente: linear. Outros usam o valor ao quadrado: quadrático. Há também um intercepto, número inicial da fórmula. Nesta fórmula inventada apenas para ensinar, 10 + 40 vezes 0,50 + 10 vezes 0,20 ao quadrado resulta em 30,4. A calculadora real faz o mesmo tipo de soma com milhares de termos e os pesos originais publicados.</a:t>
            </a:r>
            <a:endParaRPr/>
          </a:p>
        </p:txBody>
      </p:sp>
      <p:sp>
        <p:nvSpPr>
          <p:cNvPr id="369" name="Google Shape;36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é o detalhe mais importante do relógio combinado. Primeiro os beta-values entram no modelo geral S5, que fornece uma previsão inicial. Se ela for até 36 anos, aplicamos S6; acima de 36 e abaixo de 59, S7; a partir de 59, S8. O código faz uma segunda soma com pesos diferentes e obtém a idade final. A seleção se baseia na estimativa do modelo geral, não na idade cronológica conhecida da pessoa.</a:t>
            </a:r>
            <a:endParaRPr/>
          </a:p>
        </p:txBody>
      </p:sp>
      <p:sp>
        <p:nvSpPr>
          <p:cNvPr id="398" name="Google Shape;39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Cobertura é o percentual dos CpGs exigidos pelo relógio que foram medidos de verdade. Às vezes um probe não existe no chip, falhou no controle de qualidade ou aparece como valor ausente. Se faltam 10 em 100, a cobertura é 90 por cento. O programa pode completar alguns valores faltantes com médias publicadas na tabela S2 — isso se chama imputação. Importante: imputar não transforma o valor ausente em medição real, então a cobertura medida continua 90 por cento.</a:t>
            </a:r>
            <a:endParaRPr/>
          </a:p>
        </p:txBody>
      </p:sp>
      <p:sp>
        <p:nvSpPr>
          <p:cNvPr id="428" name="Google Shape;42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Começamos com uma matriz pública comprimida e escolhemos cinco pessoas. O programa extrair_gse246337.py cria a planilha pequena. O clock.py lê os beta-values, localiza CpGs, usa a fórmula, aplica o relógio por faixa e registra as ausências. A interface gráfica funciona com Streamlit e o modo terminal com cli.py. O resultado é exportado em arquivos CSV. A apresentação do processo é simplificada.</a:t>
            </a:r>
            <a:endParaRPr/>
          </a:p>
        </p:txBody>
      </p:sp>
      <p:sp>
        <p:nvSpPr>
          <p:cNvPr id="555" name="Google Shape;5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Ao final, cada amostra recebe uma linha de resultados: idade epigenética, modelo escolhido, quantidade de CpGs presentes, ausência e percentual de cobertura. O projeto também gera uma lista dos CpGs faltantes e imputados. O exemplo de idade 30,4 e cobertura 90 por cento é inventado para explicar a leitura; não são resultados reais do conjunto GSE246337. Sem os resultados executados nas cinco amostras, não devemos afirmar uma precisão final.</a:t>
            </a:r>
            <a:endParaRPr/>
          </a:p>
        </p:txBody>
      </p:sp>
      <p:sp>
        <p:nvSpPr>
          <p:cNvPr id="599" name="Google Shape;5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principal entrega é uma ferramenta que transforma dados de metilação em estimativas com os pesos originais dos pesquisadores, sem criar um modelo novo. O relatório de cobertura ajuda a avaliar a qualidade dos dados. Ainda assim, obter uma idade epigenética não é o mesmo que fazer diagnóstico de saúde ou provar que alguém envelhece melhor ou pior. Para validar a aplicação, compare as previsões das amostras reais com as idades cronológicas e documente os erros e a cobertura.</a:t>
            </a:r>
            <a:endParaRPr/>
          </a:p>
        </p:txBody>
      </p:sp>
      <p:sp>
        <p:nvSpPr>
          <p:cNvPr id="625" name="Google Shape;6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Agradeça e convide perguntas. Se perguntarem sobre a origem do projeto, explique que o artigo define o modelo e os pesos científicos e que o banco público GEO fornece dados reais de metilação para teste. Houve apoio do ChatGPT na implementação, depuração, documentação e elaboração dos slides; as idades são calculadas pelo modelo científico, não por um modelo generativo.</a:t>
            </a:r>
            <a:endParaRPr/>
          </a:p>
        </p:txBody>
      </p:sp>
      <p:sp>
        <p:nvSpPr>
          <p:cNvPr id="655" name="Google Shape;65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7F9F7"/>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doi.org/10.1186/s13073-024-01387-4" TargetMode="External"/><Relationship Id="rId4" Type="http://schemas.openxmlformats.org/officeDocument/2006/relationships/hyperlink" Target="https://doi.org/10.1186/s13073-024-01387-4" TargetMode="External"/><Relationship Id="rId5" Type="http://schemas.openxmlformats.org/officeDocument/2006/relationships/hyperlink" Target="https://www.ncbi.nlm.nih.gov/geo/query/acc.cgi?acc=GSE246337" TargetMode="External"/><Relationship Id="rId6" Type="http://schemas.openxmlformats.org/officeDocument/2006/relationships/hyperlink" Target="https://www.ncbi.nlm.nih.gov/geo/query/acc.cgi?acc=GSE246337"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633"/>
        </a:solidFill>
      </p:bgPr>
    </p:bg>
    <p:spTree>
      <p:nvGrpSpPr>
        <p:cNvPr id="16" name="Shape 16"/>
        <p:cNvGrpSpPr/>
        <p:nvPr/>
      </p:nvGrpSpPr>
      <p:grpSpPr>
        <a:xfrm>
          <a:off x="0" y="0"/>
          <a:ext cx="0" cy="0"/>
          <a:chOff x="0" y="0"/>
          <a:chExt cx="0" cy="0"/>
        </a:xfrm>
      </p:grpSpPr>
      <p:sp>
        <p:nvSpPr>
          <p:cNvPr id="17" name="Google Shape;17;p4"/>
          <p:cNvSpPr/>
          <p:nvPr/>
        </p:nvSpPr>
        <p:spPr>
          <a:xfrm>
            <a:off x="9418320" y="27432"/>
            <a:ext cx="2697480" cy="2697480"/>
          </a:xfrm>
          <a:prstGeom prst="ellipse">
            <a:avLst/>
          </a:prstGeom>
          <a:solidFill>
            <a:srgbClr val="124B55"/>
          </a:solidFill>
          <a:ln cap="flat" cmpd="sng" w="12700">
            <a:solidFill>
              <a:srgbClr val="124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9930384" y="4480560"/>
            <a:ext cx="2148840" cy="2148840"/>
          </a:xfrm>
          <a:prstGeom prst="ellipse">
            <a:avLst/>
          </a:prstGeom>
          <a:solidFill>
            <a:srgbClr val="133D44"/>
          </a:solidFill>
          <a:ln cap="flat" cmpd="sng" w="12700">
            <a:solidFill>
              <a:srgbClr val="133D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 name="Google Shape;19;p4"/>
          <p:cNvCxnSpPr/>
          <p:nvPr/>
        </p:nvCxnSpPr>
        <p:spPr>
          <a:xfrm>
            <a:off x="7223760" y="3406140"/>
            <a:ext cx="0" cy="0"/>
          </a:xfrm>
          <a:prstGeom prst="straightConnector1">
            <a:avLst/>
          </a:prstGeom>
          <a:noFill/>
          <a:ln cap="flat" cmpd="sng" w="19050">
            <a:solidFill>
              <a:srgbClr val="A5C7C1"/>
            </a:solidFill>
            <a:prstDash val="solid"/>
            <a:round/>
            <a:headEnd len="sm" w="sm" type="none"/>
            <a:tailEnd len="sm" w="sm" type="none"/>
          </a:ln>
        </p:spPr>
      </p:cxnSp>
      <p:cxnSp>
        <p:nvCxnSpPr>
          <p:cNvPr id="20" name="Google Shape;20;p4"/>
          <p:cNvCxnSpPr/>
          <p:nvPr/>
        </p:nvCxnSpPr>
        <p:spPr>
          <a:xfrm rot="10800000">
            <a:off x="7485507" y="2860664"/>
            <a:ext cx="0" cy="1090953"/>
          </a:xfrm>
          <a:prstGeom prst="straightConnector1">
            <a:avLst/>
          </a:prstGeom>
          <a:noFill/>
          <a:ln cap="flat" cmpd="sng" w="19050">
            <a:solidFill>
              <a:srgbClr val="A5C7C1"/>
            </a:solidFill>
            <a:prstDash val="solid"/>
            <a:round/>
            <a:headEnd len="sm" w="sm" type="none"/>
            <a:tailEnd len="sm" w="sm" type="none"/>
          </a:ln>
        </p:spPr>
      </p:cxnSp>
      <p:cxnSp>
        <p:nvCxnSpPr>
          <p:cNvPr id="21" name="Google Shape;21;p4"/>
          <p:cNvCxnSpPr/>
          <p:nvPr/>
        </p:nvCxnSpPr>
        <p:spPr>
          <a:xfrm rot="10800000">
            <a:off x="7747254" y="2431079"/>
            <a:ext cx="0" cy="1950122"/>
          </a:xfrm>
          <a:prstGeom prst="straightConnector1">
            <a:avLst/>
          </a:prstGeom>
          <a:noFill/>
          <a:ln cap="flat" cmpd="sng" w="19050">
            <a:solidFill>
              <a:srgbClr val="A5C7C1"/>
            </a:solidFill>
            <a:prstDash val="solid"/>
            <a:round/>
            <a:headEnd len="sm" w="sm" type="none"/>
            <a:tailEnd len="sm" w="sm" type="none"/>
          </a:ln>
        </p:spPr>
      </p:cxnSp>
      <p:cxnSp>
        <p:nvCxnSpPr>
          <p:cNvPr id="22" name="Google Shape;22;p4"/>
          <p:cNvCxnSpPr/>
          <p:nvPr/>
        </p:nvCxnSpPr>
        <p:spPr>
          <a:xfrm rot="10800000">
            <a:off x="8009001" y="2208657"/>
            <a:ext cx="0" cy="2394965"/>
          </a:xfrm>
          <a:prstGeom prst="straightConnector1">
            <a:avLst/>
          </a:prstGeom>
          <a:noFill/>
          <a:ln cap="flat" cmpd="sng" w="19050">
            <a:solidFill>
              <a:srgbClr val="A5C7C1"/>
            </a:solidFill>
            <a:prstDash val="solid"/>
            <a:round/>
            <a:headEnd len="sm" w="sm" type="none"/>
            <a:tailEnd len="sm" w="sm" type="none"/>
          </a:ln>
        </p:spPr>
      </p:cxnSp>
      <p:cxnSp>
        <p:nvCxnSpPr>
          <p:cNvPr id="23" name="Google Shape;23;p4"/>
          <p:cNvCxnSpPr/>
          <p:nvPr/>
        </p:nvCxnSpPr>
        <p:spPr>
          <a:xfrm rot="10800000">
            <a:off x="8270748" y="2240654"/>
            <a:ext cx="0" cy="2330971"/>
          </a:xfrm>
          <a:prstGeom prst="straightConnector1">
            <a:avLst/>
          </a:prstGeom>
          <a:noFill/>
          <a:ln cap="flat" cmpd="sng" w="19050">
            <a:solidFill>
              <a:srgbClr val="A5C7C1"/>
            </a:solidFill>
            <a:prstDash val="solid"/>
            <a:round/>
            <a:headEnd len="sm" w="sm" type="none"/>
            <a:tailEnd len="sm" w="sm" type="none"/>
          </a:ln>
        </p:spPr>
      </p:cxnSp>
      <p:cxnSp>
        <p:nvCxnSpPr>
          <p:cNvPr id="24" name="Google Shape;24;p4"/>
          <p:cNvCxnSpPr/>
          <p:nvPr/>
        </p:nvCxnSpPr>
        <p:spPr>
          <a:xfrm rot="10800000">
            <a:off x="8532495" y="2520272"/>
            <a:ext cx="0" cy="1771736"/>
          </a:xfrm>
          <a:prstGeom prst="straightConnector1">
            <a:avLst/>
          </a:prstGeom>
          <a:noFill/>
          <a:ln cap="flat" cmpd="sng" w="19050">
            <a:solidFill>
              <a:srgbClr val="A5C7C1"/>
            </a:solidFill>
            <a:prstDash val="solid"/>
            <a:round/>
            <a:headEnd len="sm" w="sm" type="none"/>
            <a:tailEnd len="sm" w="sm" type="none"/>
          </a:ln>
        </p:spPr>
      </p:cxnSp>
      <p:cxnSp>
        <p:nvCxnSpPr>
          <p:cNvPr id="25" name="Google Shape;25;p4"/>
          <p:cNvCxnSpPr/>
          <p:nvPr/>
        </p:nvCxnSpPr>
        <p:spPr>
          <a:xfrm rot="10800000">
            <a:off x="8794242" y="2988102"/>
            <a:ext cx="0" cy="836076"/>
          </a:xfrm>
          <a:prstGeom prst="straightConnector1">
            <a:avLst/>
          </a:prstGeom>
          <a:noFill/>
          <a:ln cap="flat" cmpd="sng" w="19050">
            <a:solidFill>
              <a:srgbClr val="A5C7C1"/>
            </a:solidFill>
            <a:prstDash val="solid"/>
            <a:round/>
            <a:headEnd len="sm" w="sm" type="none"/>
            <a:tailEnd len="sm" w="sm" type="none"/>
          </a:ln>
        </p:spPr>
      </p:cxnSp>
      <p:cxnSp>
        <p:nvCxnSpPr>
          <p:cNvPr id="26" name="Google Shape;26;p4"/>
          <p:cNvCxnSpPr/>
          <p:nvPr/>
        </p:nvCxnSpPr>
        <p:spPr>
          <a:xfrm>
            <a:off x="9055989" y="3267531"/>
            <a:ext cx="0" cy="277217"/>
          </a:xfrm>
          <a:prstGeom prst="straightConnector1">
            <a:avLst/>
          </a:prstGeom>
          <a:noFill/>
          <a:ln cap="flat" cmpd="sng" w="19050">
            <a:solidFill>
              <a:srgbClr val="A5C7C1"/>
            </a:solidFill>
            <a:prstDash val="solid"/>
            <a:round/>
            <a:headEnd len="sm" w="sm" type="none"/>
            <a:tailEnd len="sm" w="sm" type="none"/>
          </a:ln>
        </p:spPr>
      </p:cxnSp>
      <p:cxnSp>
        <p:nvCxnSpPr>
          <p:cNvPr id="27" name="Google Shape;27;p4"/>
          <p:cNvCxnSpPr/>
          <p:nvPr/>
        </p:nvCxnSpPr>
        <p:spPr>
          <a:xfrm>
            <a:off x="9317736" y="2740334"/>
            <a:ext cx="0" cy="1331613"/>
          </a:xfrm>
          <a:prstGeom prst="straightConnector1">
            <a:avLst/>
          </a:prstGeom>
          <a:noFill/>
          <a:ln cap="flat" cmpd="sng" w="19050">
            <a:solidFill>
              <a:srgbClr val="A5C7C1"/>
            </a:solidFill>
            <a:prstDash val="solid"/>
            <a:round/>
            <a:headEnd len="sm" w="sm" type="none"/>
            <a:tailEnd len="sm" w="sm" type="none"/>
          </a:ln>
        </p:spPr>
      </p:cxnSp>
      <p:cxnSp>
        <p:nvCxnSpPr>
          <p:cNvPr id="28" name="Google Shape;28;p4"/>
          <p:cNvCxnSpPr/>
          <p:nvPr/>
        </p:nvCxnSpPr>
        <p:spPr>
          <a:xfrm>
            <a:off x="9579483" y="2354594"/>
            <a:ext cx="0" cy="2103092"/>
          </a:xfrm>
          <a:prstGeom prst="straightConnector1">
            <a:avLst/>
          </a:prstGeom>
          <a:noFill/>
          <a:ln cap="flat" cmpd="sng" w="19050">
            <a:solidFill>
              <a:srgbClr val="A5C7C1"/>
            </a:solidFill>
            <a:prstDash val="solid"/>
            <a:round/>
            <a:headEnd len="sm" w="sm" type="none"/>
            <a:tailEnd len="sm" w="sm" type="none"/>
          </a:ln>
        </p:spPr>
      </p:cxnSp>
      <p:cxnSp>
        <p:nvCxnSpPr>
          <p:cNvPr id="29" name="Google Shape;29;p4"/>
          <p:cNvCxnSpPr/>
          <p:nvPr/>
        </p:nvCxnSpPr>
        <p:spPr>
          <a:xfrm>
            <a:off x="9841230" y="2192267"/>
            <a:ext cx="0" cy="2427747"/>
          </a:xfrm>
          <a:prstGeom prst="straightConnector1">
            <a:avLst/>
          </a:prstGeom>
          <a:noFill/>
          <a:ln cap="flat" cmpd="sng" w="19050">
            <a:solidFill>
              <a:srgbClr val="A5C7C1"/>
            </a:solidFill>
            <a:prstDash val="solid"/>
            <a:round/>
            <a:headEnd len="sm" w="sm" type="none"/>
            <a:tailEnd len="sm" w="sm" type="none"/>
          </a:ln>
        </p:spPr>
      </p:cxnSp>
      <p:cxnSp>
        <p:nvCxnSpPr>
          <p:cNvPr id="30" name="Google Shape;30;p4"/>
          <p:cNvCxnSpPr/>
          <p:nvPr/>
        </p:nvCxnSpPr>
        <p:spPr>
          <a:xfrm>
            <a:off x="10102977" y="2287841"/>
            <a:ext cx="0" cy="2236599"/>
          </a:xfrm>
          <a:prstGeom prst="straightConnector1">
            <a:avLst/>
          </a:prstGeom>
          <a:noFill/>
          <a:ln cap="flat" cmpd="sng" w="19050">
            <a:solidFill>
              <a:srgbClr val="A5C7C1"/>
            </a:solidFill>
            <a:prstDash val="solid"/>
            <a:round/>
            <a:headEnd len="sm" w="sm" type="none"/>
            <a:tailEnd len="sm" w="sm" type="none"/>
          </a:ln>
        </p:spPr>
      </p:cxnSp>
      <p:cxnSp>
        <p:nvCxnSpPr>
          <p:cNvPr id="31" name="Google Shape;31;p4"/>
          <p:cNvCxnSpPr/>
          <p:nvPr/>
        </p:nvCxnSpPr>
        <p:spPr>
          <a:xfrm>
            <a:off x="10364724" y="2621010"/>
            <a:ext cx="0" cy="1570261"/>
          </a:xfrm>
          <a:prstGeom prst="straightConnector1">
            <a:avLst/>
          </a:prstGeom>
          <a:noFill/>
          <a:ln cap="flat" cmpd="sng" w="19050">
            <a:solidFill>
              <a:srgbClr val="A5C7C1"/>
            </a:solidFill>
            <a:prstDash val="solid"/>
            <a:round/>
            <a:headEnd len="sm" w="sm" type="none"/>
            <a:tailEnd len="sm" w="sm" type="none"/>
          </a:ln>
        </p:spPr>
      </p:cxnSp>
      <p:cxnSp>
        <p:nvCxnSpPr>
          <p:cNvPr id="32" name="Google Shape;32;p4"/>
          <p:cNvCxnSpPr/>
          <p:nvPr/>
        </p:nvCxnSpPr>
        <p:spPr>
          <a:xfrm>
            <a:off x="10626471" y="3120988"/>
            <a:ext cx="0" cy="570303"/>
          </a:xfrm>
          <a:prstGeom prst="straightConnector1">
            <a:avLst/>
          </a:prstGeom>
          <a:noFill/>
          <a:ln cap="flat" cmpd="sng" w="19050">
            <a:solidFill>
              <a:srgbClr val="A5C7C1"/>
            </a:solidFill>
            <a:prstDash val="solid"/>
            <a:round/>
            <a:headEnd len="sm" w="sm" type="none"/>
            <a:tailEnd len="sm" w="sm" type="none"/>
          </a:ln>
        </p:spPr>
      </p:cxnSp>
      <p:cxnSp>
        <p:nvCxnSpPr>
          <p:cNvPr id="33" name="Google Shape;33;p4"/>
          <p:cNvCxnSpPr/>
          <p:nvPr/>
        </p:nvCxnSpPr>
        <p:spPr>
          <a:xfrm rot="10800000">
            <a:off x="10888218" y="3130729"/>
            <a:ext cx="0" cy="550822"/>
          </a:xfrm>
          <a:prstGeom prst="straightConnector1">
            <a:avLst/>
          </a:prstGeom>
          <a:noFill/>
          <a:ln cap="flat" cmpd="sng" w="19050">
            <a:solidFill>
              <a:srgbClr val="A5C7C1"/>
            </a:solidFill>
            <a:prstDash val="solid"/>
            <a:round/>
            <a:headEnd len="sm" w="sm" type="none"/>
            <a:tailEnd len="sm" w="sm" type="none"/>
          </a:ln>
        </p:spPr>
      </p:cxnSp>
      <p:cxnSp>
        <p:nvCxnSpPr>
          <p:cNvPr id="34" name="Google Shape;34;p4"/>
          <p:cNvCxnSpPr/>
          <p:nvPr/>
        </p:nvCxnSpPr>
        <p:spPr>
          <a:xfrm rot="10800000">
            <a:off x="11149965" y="2628681"/>
            <a:ext cx="0" cy="1554918"/>
          </a:xfrm>
          <a:prstGeom prst="straightConnector1">
            <a:avLst/>
          </a:prstGeom>
          <a:noFill/>
          <a:ln cap="flat" cmpd="sng" w="19050">
            <a:solidFill>
              <a:srgbClr val="A5C7C1"/>
            </a:solidFill>
            <a:prstDash val="solid"/>
            <a:round/>
            <a:headEnd len="sm" w="sm" type="none"/>
            <a:tailEnd len="sm" w="sm" type="none"/>
          </a:ln>
        </p:spPr>
      </p:cxnSp>
      <p:cxnSp>
        <p:nvCxnSpPr>
          <p:cNvPr id="35" name="Google Shape;35;p4"/>
          <p:cNvCxnSpPr/>
          <p:nvPr/>
        </p:nvCxnSpPr>
        <p:spPr>
          <a:xfrm rot="10800000">
            <a:off x="11411712" y="2291813"/>
            <a:ext cx="0" cy="2228655"/>
          </a:xfrm>
          <a:prstGeom prst="straightConnector1">
            <a:avLst/>
          </a:prstGeom>
          <a:noFill/>
          <a:ln cap="flat" cmpd="sng" w="19050">
            <a:solidFill>
              <a:srgbClr val="A5C7C1"/>
            </a:solidFill>
            <a:prstDash val="solid"/>
            <a:round/>
            <a:headEnd len="sm" w="sm" type="none"/>
            <a:tailEnd len="sm" w="sm" type="none"/>
          </a:ln>
        </p:spPr>
      </p:cxnSp>
      <p:cxnSp>
        <p:nvCxnSpPr>
          <p:cNvPr id="36" name="Google Shape;36;p4"/>
          <p:cNvCxnSpPr/>
          <p:nvPr/>
        </p:nvCxnSpPr>
        <p:spPr>
          <a:xfrm>
            <a:off x="7223760" y="3406140"/>
            <a:ext cx="261747" cy="545477"/>
          </a:xfrm>
          <a:prstGeom prst="straightConnector1">
            <a:avLst/>
          </a:prstGeom>
          <a:noFill/>
          <a:ln cap="flat" cmpd="sng" w="44450">
            <a:solidFill>
              <a:srgbClr val="57CEBB"/>
            </a:solidFill>
            <a:prstDash val="solid"/>
            <a:round/>
            <a:headEnd len="sm" w="sm" type="none"/>
            <a:tailEnd len="sm" w="sm" type="none"/>
          </a:ln>
        </p:spPr>
      </p:cxnSp>
      <p:cxnSp>
        <p:nvCxnSpPr>
          <p:cNvPr id="37" name="Google Shape;37;p4"/>
          <p:cNvCxnSpPr/>
          <p:nvPr/>
        </p:nvCxnSpPr>
        <p:spPr>
          <a:xfrm flipH="1" rot="10800000">
            <a:off x="7223760" y="2860663"/>
            <a:ext cx="261747" cy="545477"/>
          </a:xfrm>
          <a:prstGeom prst="straightConnector1">
            <a:avLst/>
          </a:prstGeom>
          <a:noFill/>
          <a:ln cap="flat" cmpd="sng" w="44450">
            <a:solidFill>
              <a:srgbClr val="E6B976"/>
            </a:solidFill>
            <a:prstDash val="solid"/>
            <a:round/>
            <a:headEnd len="sm" w="sm" type="none"/>
            <a:tailEnd len="sm" w="sm" type="none"/>
          </a:ln>
        </p:spPr>
      </p:cxnSp>
      <p:cxnSp>
        <p:nvCxnSpPr>
          <p:cNvPr id="38" name="Google Shape;38;p4"/>
          <p:cNvCxnSpPr/>
          <p:nvPr/>
        </p:nvCxnSpPr>
        <p:spPr>
          <a:xfrm>
            <a:off x="7485507" y="3951617"/>
            <a:ext cx="261747" cy="429584"/>
          </a:xfrm>
          <a:prstGeom prst="straightConnector1">
            <a:avLst/>
          </a:prstGeom>
          <a:noFill/>
          <a:ln cap="flat" cmpd="sng" w="44450">
            <a:solidFill>
              <a:srgbClr val="57CEBB"/>
            </a:solidFill>
            <a:prstDash val="solid"/>
            <a:round/>
            <a:headEnd len="sm" w="sm" type="none"/>
            <a:tailEnd len="sm" w="sm" type="none"/>
          </a:ln>
        </p:spPr>
      </p:cxnSp>
      <p:cxnSp>
        <p:nvCxnSpPr>
          <p:cNvPr id="39" name="Google Shape;39;p4"/>
          <p:cNvCxnSpPr/>
          <p:nvPr/>
        </p:nvCxnSpPr>
        <p:spPr>
          <a:xfrm flipH="1" rot="10800000">
            <a:off x="7485507" y="2431079"/>
            <a:ext cx="261747" cy="429584"/>
          </a:xfrm>
          <a:prstGeom prst="straightConnector1">
            <a:avLst/>
          </a:prstGeom>
          <a:noFill/>
          <a:ln cap="flat" cmpd="sng" w="44450">
            <a:solidFill>
              <a:srgbClr val="E6B976"/>
            </a:solidFill>
            <a:prstDash val="solid"/>
            <a:round/>
            <a:headEnd len="sm" w="sm" type="none"/>
            <a:tailEnd len="sm" w="sm" type="none"/>
          </a:ln>
        </p:spPr>
      </p:cxnSp>
      <p:cxnSp>
        <p:nvCxnSpPr>
          <p:cNvPr id="40" name="Google Shape;40;p4"/>
          <p:cNvCxnSpPr/>
          <p:nvPr/>
        </p:nvCxnSpPr>
        <p:spPr>
          <a:xfrm>
            <a:off x="7747254" y="4381201"/>
            <a:ext cx="261747" cy="222422"/>
          </a:xfrm>
          <a:prstGeom prst="straightConnector1">
            <a:avLst/>
          </a:prstGeom>
          <a:noFill/>
          <a:ln cap="flat" cmpd="sng" w="44450">
            <a:solidFill>
              <a:srgbClr val="57CEBB"/>
            </a:solidFill>
            <a:prstDash val="solid"/>
            <a:round/>
            <a:headEnd len="sm" w="sm" type="none"/>
            <a:tailEnd len="sm" w="sm" type="none"/>
          </a:ln>
        </p:spPr>
      </p:cxnSp>
      <p:cxnSp>
        <p:nvCxnSpPr>
          <p:cNvPr id="41" name="Google Shape;41;p4"/>
          <p:cNvCxnSpPr/>
          <p:nvPr/>
        </p:nvCxnSpPr>
        <p:spPr>
          <a:xfrm flipH="1" rot="10800000">
            <a:off x="7747254" y="2208657"/>
            <a:ext cx="261747" cy="222422"/>
          </a:xfrm>
          <a:prstGeom prst="straightConnector1">
            <a:avLst/>
          </a:prstGeom>
          <a:noFill/>
          <a:ln cap="flat" cmpd="sng" w="44450">
            <a:solidFill>
              <a:srgbClr val="E6B976"/>
            </a:solidFill>
            <a:prstDash val="solid"/>
            <a:round/>
            <a:headEnd len="sm" w="sm" type="none"/>
            <a:tailEnd len="sm" w="sm" type="none"/>
          </a:ln>
        </p:spPr>
      </p:cxnSp>
      <p:cxnSp>
        <p:nvCxnSpPr>
          <p:cNvPr id="42" name="Google Shape;42;p4"/>
          <p:cNvCxnSpPr/>
          <p:nvPr/>
        </p:nvCxnSpPr>
        <p:spPr>
          <a:xfrm flipH="1" rot="10800000">
            <a:off x="8009001" y="4571625"/>
            <a:ext cx="261747" cy="31997"/>
          </a:xfrm>
          <a:prstGeom prst="straightConnector1">
            <a:avLst/>
          </a:prstGeom>
          <a:noFill/>
          <a:ln cap="flat" cmpd="sng" w="44450">
            <a:solidFill>
              <a:srgbClr val="57CEBB"/>
            </a:solidFill>
            <a:prstDash val="solid"/>
            <a:round/>
            <a:headEnd len="sm" w="sm" type="none"/>
            <a:tailEnd len="sm" w="sm" type="none"/>
          </a:ln>
        </p:spPr>
      </p:cxnSp>
      <p:cxnSp>
        <p:nvCxnSpPr>
          <p:cNvPr id="43" name="Google Shape;43;p4"/>
          <p:cNvCxnSpPr/>
          <p:nvPr/>
        </p:nvCxnSpPr>
        <p:spPr>
          <a:xfrm>
            <a:off x="8009001" y="2208658"/>
            <a:ext cx="261747" cy="31997"/>
          </a:xfrm>
          <a:prstGeom prst="straightConnector1">
            <a:avLst/>
          </a:prstGeom>
          <a:noFill/>
          <a:ln cap="flat" cmpd="sng" w="44450">
            <a:solidFill>
              <a:srgbClr val="E6B976"/>
            </a:solidFill>
            <a:prstDash val="solid"/>
            <a:round/>
            <a:headEnd len="sm" w="sm" type="none"/>
            <a:tailEnd len="sm" w="sm" type="none"/>
          </a:ln>
        </p:spPr>
      </p:cxnSp>
      <p:cxnSp>
        <p:nvCxnSpPr>
          <p:cNvPr id="44" name="Google Shape;44;p4"/>
          <p:cNvCxnSpPr/>
          <p:nvPr/>
        </p:nvCxnSpPr>
        <p:spPr>
          <a:xfrm flipH="1" rot="10800000">
            <a:off x="8270748" y="4292008"/>
            <a:ext cx="261747" cy="279617"/>
          </a:xfrm>
          <a:prstGeom prst="straightConnector1">
            <a:avLst/>
          </a:prstGeom>
          <a:noFill/>
          <a:ln cap="flat" cmpd="sng" w="44450">
            <a:solidFill>
              <a:srgbClr val="57CEBB"/>
            </a:solidFill>
            <a:prstDash val="solid"/>
            <a:round/>
            <a:headEnd len="sm" w="sm" type="none"/>
            <a:tailEnd len="sm" w="sm" type="none"/>
          </a:ln>
        </p:spPr>
      </p:cxnSp>
      <p:cxnSp>
        <p:nvCxnSpPr>
          <p:cNvPr id="45" name="Google Shape;45;p4"/>
          <p:cNvCxnSpPr/>
          <p:nvPr/>
        </p:nvCxnSpPr>
        <p:spPr>
          <a:xfrm>
            <a:off x="8270748" y="2240655"/>
            <a:ext cx="261747" cy="279617"/>
          </a:xfrm>
          <a:prstGeom prst="straightConnector1">
            <a:avLst/>
          </a:prstGeom>
          <a:noFill/>
          <a:ln cap="flat" cmpd="sng" w="44450">
            <a:solidFill>
              <a:srgbClr val="E6B976"/>
            </a:solidFill>
            <a:prstDash val="solid"/>
            <a:round/>
            <a:headEnd len="sm" w="sm" type="none"/>
            <a:tailEnd len="sm" w="sm" type="none"/>
          </a:ln>
        </p:spPr>
      </p:cxnSp>
      <p:cxnSp>
        <p:nvCxnSpPr>
          <p:cNvPr id="46" name="Google Shape;46;p4"/>
          <p:cNvCxnSpPr/>
          <p:nvPr/>
        </p:nvCxnSpPr>
        <p:spPr>
          <a:xfrm flipH="1" rot="10800000">
            <a:off x="8532495" y="3824178"/>
            <a:ext cx="261747" cy="467830"/>
          </a:xfrm>
          <a:prstGeom prst="straightConnector1">
            <a:avLst/>
          </a:prstGeom>
          <a:noFill/>
          <a:ln cap="flat" cmpd="sng" w="44450">
            <a:solidFill>
              <a:srgbClr val="57CEBB"/>
            </a:solidFill>
            <a:prstDash val="solid"/>
            <a:round/>
            <a:headEnd len="sm" w="sm" type="none"/>
            <a:tailEnd len="sm" w="sm" type="none"/>
          </a:ln>
        </p:spPr>
      </p:cxnSp>
      <p:cxnSp>
        <p:nvCxnSpPr>
          <p:cNvPr id="47" name="Google Shape;47;p4"/>
          <p:cNvCxnSpPr/>
          <p:nvPr/>
        </p:nvCxnSpPr>
        <p:spPr>
          <a:xfrm>
            <a:off x="8532495" y="2520272"/>
            <a:ext cx="261747" cy="467830"/>
          </a:xfrm>
          <a:prstGeom prst="straightConnector1">
            <a:avLst/>
          </a:prstGeom>
          <a:noFill/>
          <a:ln cap="flat" cmpd="sng" w="44450">
            <a:solidFill>
              <a:srgbClr val="E6B976"/>
            </a:solidFill>
            <a:prstDash val="solid"/>
            <a:round/>
            <a:headEnd len="sm" w="sm" type="none"/>
            <a:tailEnd len="sm" w="sm" type="none"/>
          </a:ln>
        </p:spPr>
      </p:cxnSp>
      <p:cxnSp>
        <p:nvCxnSpPr>
          <p:cNvPr id="48" name="Google Shape;48;p4"/>
          <p:cNvCxnSpPr/>
          <p:nvPr/>
        </p:nvCxnSpPr>
        <p:spPr>
          <a:xfrm flipH="1" rot="10800000">
            <a:off x="8794242" y="3267531"/>
            <a:ext cx="261747" cy="556647"/>
          </a:xfrm>
          <a:prstGeom prst="straightConnector1">
            <a:avLst/>
          </a:prstGeom>
          <a:noFill/>
          <a:ln cap="flat" cmpd="sng" w="44450">
            <a:solidFill>
              <a:srgbClr val="57CEBB"/>
            </a:solidFill>
            <a:prstDash val="solid"/>
            <a:round/>
            <a:headEnd len="sm" w="sm" type="none"/>
            <a:tailEnd len="sm" w="sm" type="none"/>
          </a:ln>
        </p:spPr>
      </p:cxnSp>
      <p:cxnSp>
        <p:nvCxnSpPr>
          <p:cNvPr id="49" name="Google Shape;49;p4"/>
          <p:cNvCxnSpPr/>
          <p:nvPr/>
        </p:nvCxnSpPr>
        <p:spPr>
          <a:xfrm>
            <a:off x="8794242" y="2988102"/>
            <a:ext cx="261747" cy="556647"/>
          </a:xfrm>
          <a:prstGeom prst="straightConnector1">
            <a:avLst/>
          </a:prstGeom>
          <a:noFill/>
          <a:ln cap="flat" cmpd="sng" w="44450">
            <a:solidFill>
              <a:srgbClr val="E6B976"/>
            </a:solidFill>
            <a:prstDash val="solid"/>
            <a:round/>
            <a:headEnd len="sm" w="sm" type="none"/>
            <a:tailEnd len="sm" w="sm" type="none"/>
          </a:ln>
        </p:spPr>
      </p:cxnSp>
      <p:cxnSp>
        <p:nvCxnSpPr>
          <p:cNvPr id="50" name="Google Shape;50;p4"/>
          <p:cNvCxnSpPr/>
          <p:nvPr/>
        </p:nvCxnSpPr>
        <p:spPr>
          <a:xfrm flipH="1" rot="10800000">
            <a:off x="9055989" y="2740333"/>
            <a:ext cx="261747" cy="527198"/>
          </a:xfrm>
          <a:prstGeom prst="straightConnector1">
            <a:avLst/>
          </a:prstGeom>
          <a:noFill/>
          <a:ln cap="flat" cmpd="sng" w="44450">
            <a:solidFill>
              <a:srgbClr val="57CEBB"/>
            </a:solidFill>
            <a:prstDash val="solid"/>
            <a:round/>
            <a:headEnd len="sm" w="sm" type="none"/>
            <a:tailEnd len="sm" w="sm" type="none"/>
          </a:ln>
        </p:spPr>
      </p:cxnSp>
      <p:cxnSp>
        <p:nvCxnSpPr>
          <p:cNvPr id="51" name="Google Shape;51;p4"/>
          <p:cNvCxnSpPr/>
          <p:nvPr/>
        </p:nvCxnSpPr>
        <p:spPr>
          <a:xfrm>
            <a:off x="9055989" y="3544749"/>
            <a:ext cx="261747" cy="527198"/>
          </a:xfrm>
          <a:prstGeom prst="straightConnector1">
            <a:avLst/>
          </a:prstGeom>
          <a:noFill/>
          <a:ln cap="flat" cmpd="sng" w="44450">
            <a:solidFill>
              <a:srgbClr val="E6B976"/>
            </a:solidFill>
            <a:prstDash val="solid"/>
            <a:round/>
            <a:headEnd len="sm" w="sm" type="none"/>
            <a:tailEnd len="sm" w="sm" type="none"/>
          </a:ln>
        </p:spPr>
      </p:cxnSp>
      <p:cxnSp>
        <p:nvCxnSpPr>
          <p:cNvPr id="52" name="Google Shape;52;p4"/>
          <p:cNvCxnSpPr/>
          <p:nvPr/>
        </p:nvCxnSpPr>
        <p:spPr>
          <a:xfrm flipH="1" rot="10800000">
            <a:off x="9317736" y="2354594"/>
            <a:ext cx="261747" cy="385740"/>
          </a:xfrm>
          <a:prstGeom prst="straightConnector1">
            <a:avLst/>
          </a:prstGeom>
          <a:noFill/>
          <a:ln cap="flat" cmpd="sng" w="44450">
            <a:solidFill>
              <a:srgbClr val="57CEBB"/>
            </a:solidFill>
            <a:prstDash val="solid"/>
            <a:round/>
            <a:headEnd len="sm" w="sm" type="none"/>
            <a:tailEnd len="sm" w="sm" type="none"/>
          </a:ln>
        </p:spPr>
      </p:cxnSp>
      <p:cxnSp>
        <p:nvCxnSpPr>
          <p:cNvPr id="53" name="Google Shape;53;p4"/>
          <p:cNvCxnSpPr/>
          <p:nvPr/>
        </p:nvCxnSpPr>
        <p:spPr>
          <a:xfrm>
            <a:off x="9317736" y="4071946"/>
            <a:ext cx="261747" cy="385740"/>
          </a:xfrm>
          <a:prstGeom prst="straightConnector1">
            <a:avLst/>
          </a:prstGeom>
          <a:noFill/>
          <a:ln cap="flat" cmpd="sng" w="44450">
            <a:solidFill>
              <a:srgbClr val="E6B976"/>
            </a:solidFill>
            <a:prstDash val="solid"/>
            <a:round/>
            <a:headEnd len="sm" w="sm" type="none"/>
            <a:tailEnd len="sm" w="sm" type="none"/>
          </a:ln>
        </p:spPr>
      </p:cxnSp>
      <p:cxnSp>
        <p:nvCxnSpPr>
          <p:cNvPr id="54" name="Google Shape;54;p4"/>
          <p:cNvCxnSpPr/>
          <p:nvPr/>
        </p:nvCxnSpPr>
        <p:spPr>
          <a:xfrm flipH="1" rot="10800000">
            <a:off x="9579483" y="2192267"/>
            <a:ext cx="261747" cy="162327"/>
          </a:xfrm>
          <a:prstGeom prst="straightConnector1">
            <a:avLst/>
          </a:prstGeom>
          <a:noFill/>
          <a:ln cap="flat" cmpd="sng" w="44450">
            <a:solidFill>
              <a:srgbClr val="57CEBB"/>
            </a:solidFill>
            <a:prstDash val="solid"/>
            <a:round/>
            <a:headEnd len="sm" w="sm" type="none"/>
            <a:tailEnd len="sm" w="sm" type="none"/>
          </a:ln>
        </p:spPr>
      </p:cxnSp>
      <p:cxnSp>
        <p:nvCxnSpPr>
          <p:cNvPr id="55" name="Google Shape;55;p4"/>
          <p:cNvCxnSpPr/>
          <p:nvPr/>
        </p:nvCxnSpPr>
        <p:spPr>
          <a:xfrm>
            <a:off x="9579483" y="4457686"/>
            <a:ext cx="261747" cy="162327"/>
          </a:xfrm>
          <a:prstGeom prst="straightConnector1">
            <a:avLst/>
          </a:prstGeom>
          <a:noFill/>
          <a:ln cap="flat" cmpd="sng" w="44450">
            <a:solidFill>
              <a:srgbClr val="E6B976"/>
            </a:solidFill>
            <a:prstDash val="solid"/>
            <a:round/>
            <a:headEnd len="sm" w="sm" type="none"/>
            <a:tailEnd len="sm" w="sm" type="none"/>
          </a:ln>
        </p:spPr>
      </p:cxnSp>
      <p:cxnSp>
        <p:nvCxnSpPr>
          <p:cNvPr id="56" name="Google Shape;56;p4"/>
          <p:cNvCxnSpPr/>
          <p:nvPr/>
        </p:nvCxnSpPr>
        <p:spPr>
          <a:xfrm>
            <a:off x="9841230" y="2192267"/>
            <a:ext cx="261747" cy="95574"/>
          </a:xfrm>
          <a:prstGeom prst="straightConnector1">
            <a:avLst/>
          </a:prstGeom>
          <a:noFill/>
          <a:ln cap="flat" cmpd="sng" w="44450">
            <a:solidFill>
              <a:srgbClr val="57CEBB"/>
            </a:solidFill>
            <a:prstDash val="solid"/>
            <a:round/>
            <a:headEnd len="sm" w="sm" type="none"/>
            <a:tailEnd len="sm" w="sm" type="none"/>
          </a:ln>
        </p:spPr>
      </p:cxnSp>
      <p:cxnSp>
        <p:nvCxnSpPr>
          <p:cNvPr id="57" name="Google Shape;57;p4"/>
          <p:cNvCxnSpPr/>
          <p:nvPr/>
        </p:nvCxnSpPr>
        <p:spPr>
          <a:xfrm flipH="1" rot="10800000">
            <a:off x="9841230" y="4524439"/>
            <a:ext cx="261747" cy="95574"/>
          </a:xfrm>
          <a:prstGeom prst="straightConnector1">
            <a:avLst/>
          </a:prstGeom>
          <a:noFill/>
          <a:ln cap="flat" cmpd="sng" w="44450">
            <a:solidFill>
              <a:srgbClr val="E6B976"/>
            </a:solidFill>
            <a:prstDash val="solid"/>
            <a:round/>
            <a:headEnd len="sm" w="sm" type="none"/>
            <a:tailEnd len="sm" w="sm" type="none"/>
          </a:ln>
        </p:spPr>
      </p:cxnSp>
      <p:cxnSp>
        <p:nvCxnSpPr>
          <p:cNvPr id="58" name="Google Shape;58;p4"/>
          <p:cNvCxnSpPr/>
          <p:nvPr/>
        </p:nvCxnSpPr>
        <p:spPr>
          <a:xfrm>
            <a:off x="10102977" y="2287841"/>
            <a:ext cx="261747" cy="333169"/>
          </a:xfrm>
          <a:prstGeom prst="straightConnector1">
            <a:avLst/>
          </a:prstGeom>
          <a:noFill/>
          <a:ln cap="flat" cmpd="sng" w="44450">
            <a:solidFill>
              <a:srgbClr val="57CEBB"/>
            </a:solidFill>
            <a:prstDash val="solid"/>
            <a:round/>
            <a:headEnd len="sm" w="sm" type="none"/>
            <a:tailEnd len="sm" w="sm" type="none"/>
          </a:ln>
        </p:spPr>
      </p:cxnSp>
      <p:cxnSp>
        <p:nvCxnSpPr>
          <p:cNvPr id="59" name="Google Shape;59;p4"/>
          <p:cNvCxnSpPr/>
          <p:nvPr/>
        </p:nvCxnSpPr>
        <p:spPr>
          <a:xfrm flipH="1" rot="10800000">
            <a:off x="10102977" y="4191270"/>
            <a:ext cx="261747" cy="333169"/>
          </a:xfrm>
          <a:prstGeom prst="straightConnector1">
            <a:avLst/>
          </a:prstGeom>
          <a:noFill/>
          <a:ln cap="flat" cmpd="sng" w="44450">
            <a:solidFill>
              <a:srgbClr val="E6B976"/>
            </a:solidFill>
            <a:prstDash val="solid"/>
            <a:round/>
            <a:headEnd len="sm" w="sm" type="none"/>
            <a:tailEnd len="sm" w="sm" type="none"/>
          </a:ln>
        </p:spPr>
      </p:cxnSp>
      <p:cxnSp>
        <p:nvCxnSpPr>
          <p:cNvPr id="60" name="Google Shape;60;p4"/>
          <p:cNvCxnSpPr/>
          <p:nvPr/>
        </p:nvCxnSpPr>
        <p:spPr>
          <a:xfrm>
            <a:off x="10364724" y="2621010"/>
            <a:ext cx="261747" cy="499979"/>
          </a:xfrm>
          <a:prstGeom prst="straightConnector1">
            <a:avLst/>
          </a:prstGeom>
          <a:noFill/>
          <a:ln cap="flat" cmpd="sng" w="44450">
            <a:solidFill>
              <a:srgbClr val="57CEBB"/>
            </a:solidFill>
            <a:prstDash val="solid"/>
            <a:round/>
            <a:headEnd len="sm" w="sm" type="none"/>
            <a:tailEnd len="sm" w="sm" type="none"/>
          </a:ln>
        </p:spPr>
      </p:cxnSp>
      <p:cxnSp>
        <p:nvCxnSpPr>
          <p:cNvPr id="61" name="Google Shape;61;p4"/>
          <p:cNvCxnSpPr/>
          <p:nvPr/>
        </p:nvCxnSpPr>
        <p:spPr>
          <a:xfrm flipH="1" rot="10800000">
            <a:off x="10364724" y="3691291"/>
            <a:ext cx="261747" cy="499979"/>
          </a:xfrm>
          <a:prstGeom prst="straightConnector1">
            <a:avLst/>
          </a:prstGeom>
          <a:noFill/>
          <a:ln cap="flat" cmpd="sng" w="44450">
            <a:solidFill>
              <a:srgbClr val="E6B976"/>
            </a:solidFill>
            <a:prstDash val="solid"/>
            <a:round/>
            <a:headEnd len="sm" w="sm" type="none"/>
            <a:tailEnd len="sm" w="sm" type="none"/>
          </a:ln>
        </p:spPr>
      </p:cxnSp>
      <p:cxnSp>
        <p:nvCxnSpPr>
          <p:cNvPr id="62" name="Google Shape;62;p4"/>
          <p:cNvCxnSpPr/>
          <p:nvPr/>
        </p:nvCxnSpPr>
        <p:spPr>
          <a:xfrm>
            <a:off x="10626471" y="3120988"/>
            <a:ext cx="261747" cy="560562"/>
          </a:xfrm>
          <a:prstGeom prst="straightConnector1">
            <a:avLst/>
          </a:prstGeom>
          <a:noFill/>
          <a:ln cap="flat" cmpd="sng" w="44450">
            <a:solidFill>
              <a:srgbClr val="57CEBB"/>
            </a:solidFill>
            <a:prstDash val="solid"/>
            <a:round/>
            <a:headEnd len="sm" w="sm" type="none"/>
            <a:tailEnd len="sm" w="sm" type="none"/>
          </a:ln>
        </p:spPr>
      </p:cxnSp>
      <p:cxnSp>
        <p:nvCxnSpPr>
          <p:cNvPr id="63" name="Google Shape;63;p4"/>
          <p:cNvCxnSpPr/>
          <p:nvPr/>
        </p:nvCxnSpPr>
        <p:spPr>
          <a:xfrm flipH="1" rot="10800000">
            <a:off x="10626471" y="3130730"/>
            <a:ext cx="261747" cy="560562"/>
          </a:xfrm>
          <a:prstGeom prst="straightConnector1">
            <a:avLst/>
          </a:prstGeom>
          <a:noFill/>
          <a:ln cap="flat" cmpd="sng" w="44450">
            <a:solidFill>
              <a:srgbClr val="E6B976"/>
            </a:solidFill>
            <a:prstDash val="solid"/>
            <a:round/>
            <a:headEnd len="sm" w="sm" type="none"/>
            <a:tailEnd len="sm" w="sm" type="none"/>
          </a:ln>
        </p:spPr>
      </p:cxnSp>
      <p:cxnSp>
        <p:nvCxnSpPr>
          <p:cNvPr id="64" name="Google Shape;64;p4"/>
          <p:cNvCxnSpPr/>
          <p:nvPr/>
        </p:nvCxnSpPr>
        <p:spPr>
          <a:xfrm>
            <a:off x="10888218" y="3681551"/>
            <a:ext cx="261747" cy="502048"/>
          </a:xfrm>
          <a:prstGeom prst="straightConnector1">
            <a:avLst/>
          </a:prstGeom>
          <a:noFill/>
          <a:ln cap="flat" cmpd="sng" w="44450">
            <a:solidFill>
              <a:srgbClr val="57CEBB"/>
            </a:solidFill>
            <a:prstDash val="solid"/>
            <a:round/>
            <a:headEnd len="sm" w="sm" type="none"/>
            <a:tailEnd len="sm" w="sm" type="none"/>
          </a:ln>
        </p:spPr>
      </p:cxnSp>
      <p:cxnSp>
        <p:nvCxnSpPr>
          <p:cNvPr id="65" name="Google Shape;65;p4"/>
          <p:cNvCxnSpPr/>
          <p:nvPr/>
        </p:nvCxnSpPr>
        <p:spPr>
          <a:xfrm flipH="1" rot="10800000">
            <a:off x="10888218" y="2628681"/>
            <a:ext cx="261747" cy="502048"/>
          </a:xfrm>
          <a:prstGeom prst="straightConnector1">
            <a:avLst/>
          </a:prstGeom>
          <a:noFill/>
          <a:ln cap="flat" cmpd="sng" w="44450">
            <a:solidFill>
              <a:srgbClr val="E6B976"/>
            </a:solidFill>
            <a:prstDash val="solid"/>
            <a:round/>
            <a:headEnd len="sm" w="sm" type="none"/>
            <a:tailEnd len="sm" w="sm" type="none"/>
          </a:ln>
        </p:spPr>
      </p:cxnSp>
      <p:cxnSp>
        <p:nvCxnSpPr>
          <p:cNvPr id="66" name="Google Shape;66;p4"/>
          <p:cNvCxnSpPr/>
          <p:nvPr/>
        </p:nvCxnSpPr>
        <p:spPr>
          <a:xfrm>
            <a:off x="11149965" y="4183599"/>
            <a:ext cx="261747" cy="336868"/>
          </a:xfrm>
          <a:prstGeom prst="straightConnector1">
            <a:avLst/>
          </a:prstGeom>
          <a:noFill/>
          <a:ln cap="flat" cmpd="sng" w="44450">
            <a:solidFill>
              <a:srgbClr val="57CEBB"/>
            </a:solidFill>
            <a:prstDash val="solid"/>
            <a:round/>
            <a:headEnd len="sm" w="sm" type="none"/>
            <a:tailEnd len="sm" w="sm" type="none"/>
          </a:ln>
        </p:spPr>
      </p:cxnSp>
      <p:cxnSp>
        <p:nvCxnSpPr>
          <p:cNvPr id="67" name="Google Shape;67;p4"/>
          <p:cNvCxnSpPr/>
          <p:nvPr/>
        </p:nvCxnSpPr>
        <p:spPr>
          <a:xfrm flipH="1" rot="10800000">
            <a:off x="11149965" y="2291813"/>
            <a:ext cx="261747" cy="336868"/>
          </a:xfrm>
          <a:prstGeom prst="straightConnector1">
            <a:avLst/>
          </a:prstGeom>
          <a:noFill/>
          <a:ln cap="flat" cmpd="sng" w="44450">
            <a:solidFill>
              <a:srgbClr val="E6B976"/>
            </a:solidFill>
            <a:prstDash val="solid"/>
            <a:round/>
            <a:headEnd len="sm" w="sm" type="none"/>
            <a:tailEnd len="sm" w="sm" type="none"/>
          </a:ln>
        </p:spPr>
      </p:cxnSp>
      <p:sp>
        <p:nvSpPr>
          <p:cNvPr id="68" name="Google Shape;68;p4"/>
          <p:cNvSpPr/>
          <p:nvPr/>
        </p:nvSpPr>
        <p:spPr>
          <a:xfrm>
            <a:off x="7178040" y="3360420"/>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7178040" y="3360420"/>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7701534" y="4335481"/>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7701534" y="2385359"/>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8225028" y="4525905"/>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8225028" y="2194935"/>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8748522" y="3778458"/>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8748522" y="2942382"/>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9272016" y="2694614"/>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9272016" y="4026226"/>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9795510" y="2146547"/>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9795510" y="4574293"/>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10319004" y="2575290"/>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10319004" y="4145550"/>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10842498" y="3635831"/>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10842498" y="3085009"/>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11365992" y="4474748"/>
            <a:ext cx="91440" cy="91440"/>
          </a:xfrm>
          <a:prstGeom prst="ellipse">
            <a:avLst/>
          </a:prstGeom>
          <a:solidFill>
            <a:srgbClr val="57CEBB"/>
          </a:solidFill>
          <a:ln cap="flat" cmpd="sng" w="12700">
            <a:solidFill>
              <a:srgbClr val="57CE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11365992" y="2246092"/>
            <a:ext cx="91440" cy="91440"/>
          </a:xfrm>
          <a:prstGeom prst="ellipse">
            <a:avLst/>
          </a:prstGeom>
          <a:solidFill>
            <a:srgbClr val="E6B976"/>
          </a:solidFill>
          <a:ln cap="flat" cmpd="sng" w="12700">
            <a:solidFill>
              <a:srgbClr val="E6B9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749808" y="658368"/>
            <a:ext cx="2057400" cy="338328"/>
          </a:xfrm>
          <a:prstGeom prst="roundRect">
            <a:avLst>
              <a:gd fmla="val 43243" name="adj"/>
            </a:avLst>
          </a:prstGeom>
          <a:solidFill>
            <a:srgbClr val="194E57"/>
          </a:solidFill>
          <a:ln cap="flat" cmpd="sng" w="12700">
            <a:solidFill>
              <a:srgbClr val="194E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841248" y="690372"/>
            <a:ext cx="187452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F3EC"/>
              </a:buClr>
              <a:buSzPts val="1040"/>
              <a:buFont typeface="Inter"/>
              <a:buNone/>
            </a:pPr>
            <a:r>
              <a:rPr b="1" lang="en-US" sz="1040">
                <a:solidFill>
                  <a:srgbClr val="D8F3EC"/>
                </a:solidFill>
                <a:latin typeface="Inter"/>
                <a:ea typeface="Inter"/>
                <a:cs typeface="Inter"/>
                <a:sym typeface="Inter"/>
              </a:rPr>
              <a:t>Aprendizado em Genômica</a:t>
            </a:r>
            <a:endParaRPr b="0" i="0" sz="1040" u="none" cap="none" strike="noStrike">
              <a:solidFill>
                <a:schemeClr val="dk1"/>
              </a:solidFill>
              <a:latin typeface="Inter"/>
              <a:ea typeface="Inter"/>
              <a:cs typeface="Inter"/>
              <a:sym typeface="Inter"/>
            </a:endParaRPr>
          </a:p>
        </p:txBody>
      </p:sp>
      <p:sp>
        <p:nvSpPr>
          <p:cNvPr id="88" name="Google Shape;88;p4"/>
          <p:cNvSpPr/>
          <p:nvPr/>
        </p:nvSpPr>
        <p:spPr>
          <a:xfrm>
            <a:off x="749800" y="1280150"/>
            <a:ext cx="6373500" cy="283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Inter"/>
              <a:buNone/>
            </a:pPr>
            <a:r>
              <a:rPr b="1" lang="en-US" sz="4200">
                <a:solidFill>
                  <a:srgbClr val="FFFFFF"/>
                </a:solidFill>
                <a:latin typeface="Inter"/>
                <a:ea typeface="Inter"/>
                <a:cs typeface="Inter"/>
                <a:sym typeface="Inter"/>
              </a:rPr>
              <a:t>Calculadora de Idade Epigenética</a:t>
            </a:r>
            <a:endParaRPr b="1" sz="4200">
              <a:solidFill>
                <a:srgbClr val="FFFFFF"/>
              </a:solidFill>
              <a:latin typeface="Inter"/>
              <a:ea typeface="Inter"/>
              <a:cs typeface="Inter"/>
              <a:sym typeface="Inter"/>
            </a:endParaRPr>
          </a:p>
          <a:p>
            <a:pPr indent="0" lvl="0" marL="0" marR="0" rtl="0" algn="l">
              <a:spcBef>
                <a:spcPts val="0"/>
              </a:spcBef>
              <a:spcAft>
                <a:spcPts val="0"/>
              </a:spcAft>
              <a:buClr>
                <a:srgbClr val="FFFFFF"/>
              </a:buClr>
              <a:buSzPts val="4200"/>
              <a:buFont typeface="Inter"/>
              <a:buNone/>
            </a:pPr>
            <a:r>
              <a:rPr b="1" lang="en-US" sz="3000">
                <a:solidFill>
                  <a:srgbClr val="FFFFFF"/>
                </a:solidFill>
                <a:latin typeface="Inter"/>
                <a:ea typeface="Inter"/>
                <a:cs typeface="Inter"/>
                <a:sym typeface="Inter"/>
              </a:rPr>
              <a:t>Garma &amp; Quintela-Fandiño</a:t>
            </a:r>
            <a:endParaRPr b="1" sz="3000">
              <a:solidFill>
                <a:srgbClr val="FFFFFF"/>
              </a:solidFill>
              <a:latin typeface="Inter"/>
              <a:ea typeface="Inter"/>
              <a:cs typeface="Inter"/>
              <a:sym typeface="Inter"/>
            </a:endParaRPr>
          </a:p>
          <a:p>
            <a:pPr indent="0" lvl="0" marL="0" marR="0" rtl="0" algn="l">
              <a:spcBef>
                <a:spcPts val="0"/>
              </a:spcBef>
              <a:spcAft>
                <a:spcPts val="0"/>
              </a:spcAft>
              <a:buClr>
                <a:srgbClr val="FFFFFF"/>
              </a:buClr>
              <a:buSzPts val="4200"/>
              <a:buFont typeface="Inter"/>
              <a:buNone/>
            </a:pPr>
            <a:r>
              <a:t/>
            </a:r>
            <a:endParaRPr b="1" sz="4200">
              <a:solidFill>
                <a:srgbClr val="FFFFFF"/>
              </a:solidFill>
              <a:latin typeface="Inter"/>
              <a:ea typeface="Inter"/>
              <a:cs typeface="Inter"/>
              <a:sym typeface="Inter"/>
            </a:endParaRPr>
          </a:p>
        </p:txBody>
      </p:sp>
      <p:sp>
        <p:nvSpPr>
          <p:cNvPr id="89" name="Google Shape;89;p4"/>
          <p:cNvSpPr/>
          <p:nvPr/>
        </p:nvSpPr>
        <p:spPr>
          <a:xfrm>
            <a:off x="777240" y="4805970"/>
            <a:ext cx="6492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E5E0"/>
              </a:buClr>
              <a:buSzPts val="2050"/>
              <a:buFont typeface="Inter"/>
              <a:buNone/>
            </a:pPr>
            <a:r>
              <a:rPr lang="en-US" sz="2050">
                <a:solidFill>
                  <a:srgbClr val="CBE5E0"/>
                </a:solidFill>
                <a:latin typeface="Inter"/>
                <a:ea typeface="Inter"/>
                <a:cs typeface="Inter"/>
                <a:sym typeface="Inter"/>
              </a:rPr>
              <a:t>Mestrado em </a:t>
            </a:r>
            <a:r>
              <a:rPr lang="en-US" sz="2050">
                <a:solidFill>
                  <a:srgbClr val="CBE5E0"/>
                </a:solidFill>
                <a:latin typeface="Inter"/>
                <a:ea typeface="Inter"/>
                <a:cs typeface="Inter"/>
                <a:sym typeface="Inter"/>
              </a:rPr>
              <a:t>Computação</a:t>
            </a:r>
            <a:endParaRPr b="0" i="0" sz="2050" u="none" cap="none" strike="noStrike">
              <a:solidFill>
                <a:schemeClr val="dk1"/>
              </a:solidFill>
              <a:latin typeface="Inter"/>
              <a:ea typeface="Inter"/>
              <a:cs typeface="Inter"/>
              <a:sym typeface="Inter"/>
            </a:endParaRPr>
          </a:p>
        </p:txBody>
      </p:sp>
      <p:cxnSp>
        <p:nvCxnSpPr>
          <p:cNvPr id="90" name="Google Shape;90;p4"/>
          <p:cNvCxnSpPr/>
          <p:nvPr/>
        </p:nvCxnSpPr>
        <p:spPr>
          <a:xfrm>
            <a:off x="777240" y="5541264"/>
            <a:ext cx="2057400" cy="0"/>
          </a:xfrm>
          <a:prstGeom prst="straightConnector1">
            <a:avLst/>
          </a:prstGeom>
          <a:noFill/>
          <a:ln cap="flat" cmpd="sng" w="38100">
            <a:solidFill>
              <a:srgbClr val="7FC3B5"/>
            </a:solidFill>
            <a:prstDash val="solid"/>
            <a:round/>
            <a:headEnd len="sm" w="sm" type="none"/>
            <a:tailEnd len="sm" w="sm" type="none"/>
          </a:ln>
        </p:spPr>
      </p:cxnSp>
      <p:sp>
        <p:nvSpPr>
          <p:cNvPr id="91" name="Google Shape;91;p4"/>
          <p:cNvSpPr/>
          <p:nvPr/>
        </p:nvSpPr>
        <p:spPr>
          <a:xfrm>
            <a:off x="777240" y="5705856"/>
            <a:ext cx="6858000"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CCD0"/>
              </a:buClr>
              <a:buSzPts val="1350"/>
              <a:buFont typeface="Inter"/>
              <a:buNone/>
            </a:pPr>
            <a:r>
              <a:rPr lang="en-US" sz="1350">
                <a:solidFill>
                  <a:srgbClr val="B2CCD0"/>
                </a:solidFill>
                <a:latin typeface="Inter"/>
                <a:ea typeface="Inter"/>
                <a:cs typeface="Inter"/>
                <a:sym typeface="Inter"/>
              </a:rPr>
              <a:t>Universidade Federal de Pelotas</a:t>
            </a:r>
            <a:endParaRPr b="0" i="0" sz="1350" u="none" cap="none" strike="noStrik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96" name="Shape 96"/>
        <p:cNvGrpSpPr/>
        <p:nvPr/>
      </p:nvGrpSpPr>
      <p:grpSpPr>
        <a:xfrm>
          <a:off x="0" y="0"/>
          <a:ext cx="0" cy="0"/>
          <a:chOff x="0" y="0"/>
          <a:chExt cx="0" cy="0"/>
        </a:xfrm>
      </p:grpSpPr>
      <p:sp>
        <p:nvSpPr>
          <p:cNvPr id="97" name="Google Shape;97;p5"/>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01 · CONCEITO</a:t>
            </a:r>
            <a:endParaRPr b="0" i="0" sz="1050" u="none" cap="none" strike="noStrike">
              <a:solidFill>
                <a:schemeClr val="dk1"/>
              </a:solidFill>
              <a:latin typeface="Inter"/>
              <a:ea typeface="Inter"/>
              <a:cs typeface="Inter"/>
              <a:sym typeface="Inter"/>
            </a:endParaRPr>
          </a:p>
        </p:txBody>
      </p:sp>
      <p:sp>
        <p:nvSpPr>
          <p:cNvPr id="98" name="Google Shape;98;p5"/>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lang="en-US" sz="2950">
                <a:solidFill>
                  <a:srgbClr val="102A39"/>
                </a:solidFill>
                <a:latin typeface="Inter"/>
                <a:ea typeface="Inter"/>
                <a:cs typeface="Inter"/>
                <a:sym typeface="Inter"/>
              </a:rPr>
              <a:t>Idade cronológia Vs. idade biológica</a:t>
            </a:r>
            <a:endParaRPr b="0" i="0" sz="2950" u="none" cap="none" strike="noStrike">
              <a:solidFill>
                <a:schemeClr val="dk1"/>
              </a:solidFill>
              <a:latin typeface="Inter"/>
              <a:ea typeface="Inter"/>
              <a:cs typeface="Inter"/>
              <a:sym typeface="Inter"/>
            </a:endParaRPr>
          </a:p>
        </p:txBody>
      </p:sp>
      <p:sp>
        <p:nvSpPr>
          <p:cNvPr id="99" name="Google Shape;99;p5"/>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Duas pessoas podem ter a mesma idade cronológica e padrões diferentes de metilação.</a:t>
            </a:r>
            <a:endParaRPr b="0" i="0" sz="1420" u="none" cap="none" strike="noStrike">
              <a:solidFill>
                <a:schemeClr val="dk1"/>
              </a:solidFill>
              <a:latin typeface="Inter"/>
              <a:ea typeface="Inter"/>
              <a:cs typeface="Inter"/>
              <a:sym typeface="Inter"/>
            </a:endParaRPr>
          </a:p>
        </p:txBody>
      </p:sp>
      <p:sp>
        <p:nvSpPr>
          <p:cNvPr id="100" name="Google Shape;100;p5"/>
          <p:cNvSpPr/>
          <p:nvPr/>
        </p:nvSpPr>
        <p:spPr>
          <a:xfrm>
            <a:off x="694944" y="2075688"/>
            <a:ext cx="5257800" cy="3346704"/>
          </a:xfrm>
          <a:prstGeom prst="roundRect">
            <a:avLst>
              <a:gd fmla="val 6011"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6236208" y="2075688"/>
            <a:ext cx="5257800" cy="3346704"/>
          </a:xfrm>
          <a:prstGeom prst="roundRect">
            <a:avLst>
              <a:gd fmla="val 6011"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960120" y="2395728"/>
            <a:ext cx="1371600" cy="338328"/>
          </a:xfrm>
          <a:prstGeom prst="roundRect">
            <a:avLst>
              <a:gd fmla="val 43243"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1051560" y="2427732"/>
            <a:ext cx="118872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F75"/>
              </a:buClr>
              <a:buSzPts val="1040"/>
              <a:buFont typeface="Inter"/>
              <a:buNone/>
            </a:pPr>
            <a:r>
              <a:rPr b="1" i="0" lang="en-US" sz="1040" u="none" cap="none" strike="noStrike">
                <a:solidFill>
                  <a:srgbClr val="067F75"/>
                </a:solidFill>
                <a:latin typeface="Inter"/>
                <a:ea typeface="Inter"/>
                <a:cs typeface="Inter"/>
                <a:sym typeface="Inter"/>
              </a:rPr>
              <a:t>PESSOA A</a:t>
            </a:r>
            <a:endParaRPr b="0" i="0" sz="1040" u="none" cap="none" strike="noStrike">
              <a:solidFill>
                <a:schemeClr val="dk1"/>
              </a:solidFill>
              <a:latin typeface="Inter"/>
              <a:ea typeface="Inter"/>
              <a:cs typeface="Inter"/>
              <a:sym typeface="Inter"/>
            </a:endParaRPr>
          </a:p>
        </p:txBody>
      </p:sp>
      <p:sp>
        <p:nvSpPr>
          <p:cNvPr id="104" name="Google Shape;104;p5"/>
          <p:cNvSpPr/>
          <p:nvPr/>
        </p:nvSpPr>
        <p:spPr>
          <a:xfrm>
            <a:off x="6510528" y="2395728"/>
            <a:ext cx="1371600" cy="338328"/>
          </a:xfrm>
          <a:prstGeom prst="roundRect">
            <a:avLst>
              <a:gd fmla="val 43243" name="adj"/>
            </a:avLst>
          </a:prstGeom>
          <a:solidFill>
            <a:srgbClr val="FDE9E5"/>
          </a:solidFill>
          <a:ln cap="flat" cmpd="sng" w="12700">
            <a:solidFill>
              <a:srgbClr val="FDE9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6601968" y="2427732"/>
            <a:ext cx="118872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6534A"/>
              </a:buClr>
              <a:buSzPts val="1040"/>
              <a:buFont typeface="Inter"/>
              <a:buNone/>
            </a:pPr>
            <a:r>
              <a:rPr b="1" i="0" lang="en-US" sz="1040" u="none" cap="none" strike="noStrike">
                <a:solidFill>
                  <a:srgbClr val="B6534A"/>
                </a:solidFill>
                <a:latin typeface="Inter"/>
                <a:ea typeface="Inter"/>
                <a:cs typeface="Inter"/>
                <a:sym typeface="Inter"/>
              </a:rPr>
              <a:t>PESSOA B</a:t>
            </a:r>
            <a:endParaRPr b="0" i="0" sz="1040" u="none" cap="none" strike="noStrike">
              <a:solidFill>
                <a:schemeClr val="dk1"/>
              </a:solidFill>
              <a:latin typeface="Inter"/>
              <a:ea typeface="Inter"/>
              <a:cs typeface="Inter"/>
              <a:sym typeface="Inter"/>
            </a:endParaRPr>
          </a:p>
        </p:txBody>
      </p:sp>
      <p:sp>
        <p:nvSpPr>
          <p:cNvPr id="106" name="Google Shape;106;p5"/>
          <p:cNvSpPr/>
          <p:nvPr/>
        </p:nvSpPr>
        <p:spPr>
          <a:xfrm>
            <a:off x="1014984" y="2852928"/>
            <a:ext cx="18288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6500"/>
              <a:buFont typeface="Inter"/>
              <a:buNone/>
            </a:pPr>
            <a:r>
              <a:rPr b="1" i="0" lang="en-US" sz="6500" u="none" cap="none" strike="noStrike">
                <a:solidFill>
                  <a:srgbClr val="102A39"/>
                </a:solidFill>
                <a:latin typeface="Inter"/>
                <a:ea typeface="Inter"/>
                <a:cs typeface="Inter"/>
                <a:sym typeface="Inter"/>
              </a:rPr>
              <a:t>40</a:t>
            </a:r>
            <a:endParaRPr b="0" i="0" sz="6500" u="none" cap="none" strike="noStrike">
              <a:solidFill>
                <a:schemeClr val="dk1"/>
              </a:solidFill>
              <a:latin typeface="Inter"/>
              <a:ea typeface="Inter"/>
              <a:cs typeface="Inter"/>
              <a:sym typeface="Inter"/>
            </a:endParaRPr>
          </a:p>
        </p:txBody>
      </p:sp>
      <p:sp>
        <p:nvSpPr>
          <p:cNvPr id="107" name="Google Shape;107;p5"/>
          <p:cNvSpPr/>
          <p:nvPr/>
        </p:nvSpPr>
        <p:spPr>
          <a:xfrm>
            <a:off x="6547104" y="2852928"/>
            <a:ext cx="18288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6500"/>
              <a:buFont typeface="Inter"/>
              <a:buNone/>
            </a:pPr>
            <a:r>
              <a:rPr b="1" i="0" lang="en-US" sz="6500" u="none" cap="none" strike="noStrike">
                <a:solidFill>
                  <a:srgbClr val="102A39"/>
                </a:solidFill>
                <a:latin typeface="Inter"/>
                <a:ea typeface="Inter"/>
                <a:cs typeface="Inter"/>
                <a:sym typeface="Inter"/>
              </a:rPr>
              <a:t>40</a:t>
            </a:r>
            <a:endParaRPr b="0" i="0" sz="6500" u="none" cap="none" strike="noStrike">
              <a:solidFill>
                <a:schemeClr val="dk1"/>
              </a:solidFill>
              <a:latin typeface="Inter"/>
              <a:ea typeface="Inter"/>
              <a:cs typeface="Inter"/>
              <a:sym typeface="Inter"/>
            </a:endParaRPr>
          </a:p>
        </p:txBody>
      </p:sp>
      <p:sp>
        <p:nvSpPr>
          <p:cNvPr id="108" name="Google Shape;108;p5"/>
          <p:cNvSpPr/>
          <p:nvPr/>
        </p:nvSpPr>
        <p:spPr>
          <a:xfrm>
            <a:off x="2862072" y="3273552"/>
            <a:ext cx="249631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700"/>
              <a:buFont typeface="Inter"/>
              <a:buNone/>
            </a:pPr>
            <a:r>
              <a:rPr b="0" i="0" lang="en-US" sz="1700" u="none" cap="none" strike="noStrike">
                <a:solidFill>
                  <a:srgbClr val="536979"/>
                </a:solidFill>
                <a:latin typeface="Inter"/>
                <a:ea typeface="Inter"/>
                <a:cs typeface="Inter"/>
                <a:sym typeface="Inter"/>
              </a:rPr>
              <a:t>anos no calendário</a:t>
            </a:r>
            <a:endParaRPr b="0" i="0" sz="1700" u="none" cap="none" strike="noStrike">
              <a:solidFill>
                <a:schemeClr val="dk1"/>
              </a:solidFill>
              <a:latin typeface="Inter"/>
              <a:ea typeface="Inter"/>
              <a:cs typeface="Inter"/>
              <a:sym typeface="Inter"/>
            </a:endParaRPr>
          </a:p>
        </p:txBody>
      </p:sp>
      <p:sp>
        <p:nvSpPr>
          <p:cNvPr id="109" name="Google Shape;109;p5"/>
          <p:cNvSpPr/>
          <p:nvPr/>
        </p:nvSpPr>
        <p:spPr>
          <a:xfrm>
            <a:off x="8357616" y="3273552"/>
            <a:ext cx="25328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700"/>
              <a:buFont typeface="Inter"/>
              <a:buNone/>
            </a:pPr>
            <a:r>
              <a:rPr b="0" i="0" lang="en-US" sz="1700" u="none" cap="none" strike="noStrike">
                <a:solidFill>
                  <a:srgbClr val="536979"/>
                </a:solidFill>
                <a:latin typeface="Inter"/>
                <a:ea typeface="Inter"/>
                <a:cs typeface="Inter"/>
                <a:sym typeface="Inter"/>
              </a:rPr>
              <a:t>anos no calendário</a:t>
            </a:r>
            <a:endParaRPr b="0" i="0" sz="1700" u="none" cap="none" strike="noStrike">
              <a:solidFill>
                <a:schemeClr val="dk1"/>
              </a:solidFill>
              <a:latin typeface="Inter"/>
              <a:ea typeface="Inter"/>
              <a:cs typeface="Inter"/>
              <a:sym typeface="Inter"/>
            </a:endParaRPr>
          </a:p>
        </p:txBody>
      </p:sp>
      <p:cxnSp>
        <p:nvCxnSpPr>
          <p:cNvPr id="110" name="Google Shape;110;p5"/>
          <p:cNvCxnSpPr/>
          <p:nvPr/>
        </p:nvCxnSpPr>
        <p:spPr>
          <a:xfrm>
            <a:off x="1024128" y="4133088"/>
            <a:ext cx="4572000" cy="0"/>
          </a:xfrm>
          <a:prstGeom prst="straightConnector1">
            <a:avLst/>
          </a:prstGeom>
          <a:noFill/>
          <a:ln cap="flat" cmpd="sng" w="12700">
            <a:solidFill>
              <a:srgbClr val="DCE5E4"/>
            </a:solidFill>
            <a:prstDash val="solid"/>
            <a:round/>
            <a:headEnd len="sm" w="sm" type="none"/>
            <a:tailEnd len="sm" w="sm" type="none"/>
          </a:ln>
        </p:spPr>
      </p:cxnSp>
      <p:cxnSp>
        <p:nvCxnSpPr>
          <p:cNvPr id="111" name="Google Shape;111;p5"/>
          <p:cNvCxnSpPr/>
          <p:nvPr/>
        </p:nvCxnSpPr>
        <p:spPr>
          <a:xfrm>
            <a:off x="6565392" y="4133088"/>
            <a:ext cx="4553712" cy="0"/>
          </a:xfrm>
          <a:prstGeom prst="straightConnector1">
            <a:avLst/>
          </a:prstGeom>
          <a:noFill/>
          <a:ln cap="flat" cmpd="sng" w="12700">
            <a:solidFill>
              <a:srgbClr val="DCE5E4"/>
            </a:solidFill>
            <a:prstDash val="solid"/>
            <a:round/>
            <a:headEnd len="sm" w="sm" type="none"/>
            <a:tailEnd len="sm" w="sm" type="none"/>
          </a:ln>
        </p:spPr>
      </p:cxnSp>
      <p:sp>
        <p:nvSpPr>
          <p:cNvPr id="112" name="Google Shape;112;p5"/>
          <p:cNvSpPr/>
          <p:nvPr/>
        </p:nvSpPr>
        <p:spPr>
          <a:xfrm>
            <a:off x="1024128" y="441655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50"/>
              <a:buFont typeface="Inter"/>
              <a:buNone/>
            </a:pPr>
            <a:r>
              <a:rPr b="0" i="0" lang="en-US" sz="1450" u="none" cap="none" strike="noStrike">
                <a:solidFill>
                  <a:srgbClr val="536979"/>
                </a:solidFill>
                <a:latin typeface="Inter"/>
                <a:ea typeface="Inter"/>
                <a:cs typeface="Inter"/>
                <a:sym typeface="Inter"/>
              </a:rPr>
              <a:t>Idade epigenética:</a:t>
            </a:r>
            <a:endParaRPr b="0" i="0" sz="1450" u="none" cap="none" strike="noStrike">
              <a:solidFill>
                <a:schemeClr val="dk1"/>
              </a:solidFill>
              <a:latin typeface="Inter"/>
              <a:ea typeface="Inter"/>
              <a:cs typeface="Inter"/>
              <a:sym typeface="Inter"/>
            </a:endParaRPr>
          </a:p>
        </p:txBody>
      </p:sp>
      <p:sp>
        <p:nvSpPr>
          <p:cNvPr id="113" name="Google Shape;113;p5"/>
          <p:cNvSpPr/>
          <p:nvPr/>
        </p:nvSpPr>
        <p:spPr>
          <a:xfrm>
            <a:off x="6556248" y="4416552"/>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50"/>
              <a:buFont typeface="Inter"/>
              <a:buNone/>
            </a:pPr>
            <a:r>
              <a:rPr b="0" i="0" lang="en-US" sz="1450" u="none" cap="none" strike="noStrike">
                <a:solidFill>
                  <a:srgbClr val="536979"/>
                </a:solidFill>
                <a:latin typeface="Inter"/>
                <a:ea typeface="Inter"/>
                <a:cs typeface="Inter"/>
                <a:sym typeface="Inter"/>
              </a:rPr>
              <a:t>Idade epigenética:</a:t>
            </a:r>
            <a:endParaRPr b="0" i="0" sz="1450" u="none" cap="none" strike="noStrike">
              <a:solidFill>
                <a:schemeClr val="dk1"/>
              </a:solidFill>
              <a:latin typeface="Inter"/>
              <a:ea typeface="Inter"/>
              <a:cs typeface="Inter"/>
              <a:sym typeface="Inter"/>
            </a:endParaRPr>
          </a:p>
        </p:txBody>
      </p:sp>
      <p:sp>
        <p:nvSpPr>
          <p:cNvPr id="114" name="Google Shape;114;p5"/>
          <p:cNvSpPr/>
          <p:nvPr/>
        </p:nvSpPr>
        <p:spPr>
          <a:xfrm>
            <a:off x="1024128" y="4736592"/>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2500"/>
              <a:buFont typeface="Inter"/>
              <a:buNone/>
            </a:pPr>
            <a:r>
              <a:rPr b="1" i="0" lang="en-US" sz="2500" u="none" cap="none" strike="noStrike">
                <a:solidFill>
                  <a:srgbClr val="067F75"/>
                </a:solidFill>
                <a:latin typeface="Inter"/>
                <a:ea typeface="Inter"/>
                <a:cs typeface="Inter"/>
                <a:sym typeface="Inter"/>
              </a:rPr>
              <a:t>37 anos</a:t>
            </a:r>
            <a:endParaRPr b="0" i="0" sz="2500" u="none" cap="none" strike="noStrike">
              <a:solidFill>
                <a:schemeClr val="dk1"/>
              </a:solidFill>
              <a:latin typeface="Inter"/>
              <a:ea typeface="Inter"/>
              <a:cs typeface="Inter"/>
              <a:sym typeface="Inter"/>
            </a:endParaRPr>
          </a:p>
        </p:txBody>
      </p:sp>
      <p:sp>
        <p:nvSpPr>
          <p:cNvPr id="115" name="Google Shape;115;p5"/>
          <p:cNvSpPr/>
          <p:nvPr/>
        </p:nvSpPr>
        <p:spPr>
          <a:xfrm>
            <a:off x="6556248" y="4736592"/>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6255"/>
              </a:buClr>
              <a:buSzPts val="2500"/>
              <a:buFont typeface="Inter"/>
              <a:buNone/>
            </a:pPr>
            <a:r>
              <a:rPr b="1" i="0" lang="en-US" sz="2500" u="none" cap="none" strike="noStrike">
                <a:solidFill>
                  <a:srgbClr val="C46255"/>
                </a:solidFill>
                <a:latin typeface="Inter"/>
                <a:ea typeface="Inter"/>
                <a:cs typeface="Inter"/>
                <a:sym typeface="Inter"/>
              </a:rPr>
              <a:t>46 anos</a:t>
            </a:r>
            <a:endParaRPr b="0" i="0" sz="2500" u="none" cap="none" strike="noStrike">
              <a:solidFill>
                <a:schemeClr val="dk1"/>
              </a:solidFill>
              <a:latin typeface="Inter"/>
              <a:ea typeface="Inter"/>
              <a:cs typeface="Inter"/>
              <a:sym typeface="Inter"/>
            </a:endParaRPr>
          </a:p>
        </p:txBody>
      </p:sp>
      <p:sp>
        <p:nvSpPr>
          <p:cNvPr id="116" name="Google Shape;116;p5"/>
          <p:cNvSpPr/>
          <p:nvPr/>
        </p:nvSpPr>
        <p:spPr>
          <a:xfrm>
            <a:off x="694944" y="5751576"/>
            <a:ext cx="10799064" cy="466344"/>
          </a:xfrm>
          <a:prstGeom prst="roundRect">
            <a:avLst>
              <a:gd fmla="val 23529"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914400" y="5833872"/>
            <a:ext cx="1037844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2633"/>
              </a:buClr>
              <a:buSzPts val="1200"/>
              <a:buFont typeface="Inter"/>
              <a:buNone/>
            </a:pPr>
            <a:r>
              <a:rPr b="0" i="0" lang="en-US" sz="1200" u="none" cap="none" strike="noStrike">
                <a:solidFill>
                  <a:srgbClr val="0C2633"/>
                </a:solidFill>
                <a:latin typeface="Inter"/>
                <a:ea typeface="Inter"/>
                <a:cs typeface="Inter"/>
                <a:sym typeface="Inter"/>
              </a:rPr>
              <a:t>EXEMPLO FICTÍCIO  •  A diferença não indica, sozinha, melhor ou pior saúde.</a:t>
            </a:r>
            <a:endParaRPr b="0" i="0" sz="1200" u="none" cap="none" strike="noStrike">
              <a:solidFill>
                <a:schemeClr val="dk1"/>
              </a:solidFill>
              <a:latin typeface="Inter"/>
              <a:ea typeface="Inter"/>
              <a:cs typeface="Inter"/>
              <a:sym typeface="Inter"/>
            </a:endParaRPr>
          </a:p>
        </p:txBody>
      </p:sp>
      <p:cxnSp>
        <p:nvCxnSpPr>
          <p:cNvPr id="118" name="Google Shape;118;p5"/>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119" name="Google Shape;119;p5"/>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120" name="Google Shape;120;p5"/>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02</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125" name="Shape 125"/>
        <p:cNvGrpSpPr/>
        <p:nvPr/>
      </p:nvGrpSpPr>
      <p:grpSpPr>
        <a:xfrm>
          <a:off x="0" y="0"/>
          <a:ext cx="0" cy="0"/>
          <a:chOff x="0" y="0"/>
          <a:chExt cx="0" cy="0"/>
        </a:xfrm>
      </p:grpSpPr>
      <p:sp>
        <p:nvSpPr>
          <p:cNvPr id="126" name="Google Shape;126;p6"/>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02 · SINAL BIOLÓGICO</a:t>
            </a:r>
            <a:endParaRPr b="0" i="0" sz="1050" u="none" cap="none" strike="noStrike">
              <a:solidFill>
                <a:schemeClr val="dk1"/>
              </a:solidFill>
              <a:latin typeface="Inter"/>
              <a:ea typeface="Inter"/>
              <a:cs typeface="Inter"/>
              <a:sym typeface="Inter"/>
            </a:endParaRPr>
          </a:p>
        </p:txBody>
      </p:sp>
      <p:sp>
        <p:nvSpPr>
          <p:cNvPr id="127" name="Google Shape;127;p6"/>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lang="en-US" sz="2950">
                <a:solidFill>
                  <a:srgbClr val="102A39"/>
                </a:solidFill>
                <a:latin typeface="Inter"/>
                <a:ea typeface="Inter"/>
                <a:cs typeface="Inter"/>
                <a:sym typeface="Inter"/>
              </a:rPr>
              <a:t>Leitura do desgaste celular por metilação</a:t>
            </a:r>
            <a:endParaRPr b="0" i="0" sz="2950" u="none" cap="none" strike="noStrike">
              <a:solidFill>
                <a:schemeClr val="dk1"/>
              </a:solidFill>
              <a:latin typeface="Inter"/>
              <a:ea typeface="Inter"/>
              <a:cs typeface="Inter"/>
              <a:sym typeface="Inter"/>
            </a:endParaRPr>
          </a:p>
        </p:txBody>
      </p:sp>
      <p:sp>
        <p:nvSpPr>
          <p:cNvPr id="128" name="Google Shape;128;p6"/>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Ela procura padrões de metilação em locais específicos chamados CpGs.</a:t>
            </a:r>
            <a:endParaRPr b="0" i="0" sz="1420" u="none" cap="none" strike="noStrike">
              <a:solidFill>
                <a:schemeClr val="dk1"/>
              </a:solidFill>
              <a:latin typeface="Inter"/>
              <a:ea typeface="Inter"/>
              <a:cs typeface="Inter"/>
              <a:sym typeface="Inter"/>
            </a:endParaRPr>
          </a:p>
        </p:txBody>
      </p:sp>
      <p:sp>
        <p:nvSpPr>
          <p:cNvPr id="129" name="Google Shape;129;p6"/>
          <p:cNvSpPr/>
          <p:nvPr/>
        </p:nvSpPr>
        <p:spPr>
          <a:xfrm>
            <a:off x="731520" y="2011680"/>
            <a:ext cx="6419088" cy="3749040"/>
          </a:xfrm>
          <a:prstGeom prst="roundRect">
            <a:avLst>
              <a:gd fmla="val 5610"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6"/>
          <p:cNvCxnSpPr/>
          <p:nvPr/>
        </p:nvCxnSpPr>
        <p:spPr>
          <a:xfrm>
            <a:off x="1234440" y="3835908"/>
            <a:ext cx="0" cy="0"/>
          </a:xfrm>
          <a:prstGeom prst="straightConnector1">
            <a:avLst/>
          </a:prstGeom>
          <a:noFill/>
          <a:ln cap="flat" cmpd="sng" w="19050">
            <a:solidFill>
              <a:srgbClr val="BFD7D1"/>
            </a:solidFill>
            <a:prstDash val="solid"/>
            <a:round/>
            <a:headEnd len="sm" w="sm" type="none"/>
            <a:tailEnd len="sm" w="sm" type="none"/>
          </a:ln>
        </p:spPr>
      </p:cxnSp>
      <p:cxnSp>
        <p:nvCxnSpPr>
          <p:cNvPr id="131" name="Google Shape;131;p6"/>
          <p:cNvCxnSpPr/>
          <p:nvPr/>
        </p:nvCxnSpPr>
        <p:spPr>
          <a:xfrm rot="10800000">
            <a:off x="1573340" y="3485654"/>
            <a:ext cx="0" cy="700507"/>
          </a:xfrm>
          <a:prstGeom prst="straightConnector1">
            <a:avLst/>
          </a:prstGeom>
          <a:noFill/>
          <a:ln cap="flat" cmpd="sng" w="19050">
            <a:solidFill>
              <a:srgbClr val="BFD7D1"/>
            </a:solidFill>
            <a:prstDash val="solid"/>
            <a:round/>
            <a:headEnd len="sm" w="sm" type="none"/>
            <a:tailEnd len="sm" w="sm" type="none"/>
          </a:ln>
        </p:spPr>
      </p:cxnSp>
      <p:cxnSp>
        <p:nvCxnSpPr>
          <p:cNvPr id="132" name="Google Shape;132;p6"/>
          <p:cNvCxnSpPr/>
          <p:nvPr/>
        </p:nvCxnSpPr>
        <p:spPr>
          <a:xfrm rot="10800000">
            <a:off x="1912239" y="3209817"/>
            <a:ext cx="0" cy="1252183"/>
          </a:xfrm>
          <a:prstGeom prst="straightConnector1">
            <a:avLst/>
          </a:prstGeom>
          <a:noFill/>
          <a:ln cap="flat" cmpd="sng" w="19050">
            <a:solidFill>
              <a:srgbClr val="BFD7D1"/>
            </a:solidFill>
            <a:prstDash val="solid"/>
            <a:round/>
            <a:headEnd len="sm" w="sm" type="none"/>
            <a:tailEnd len="sm" w="sm" type="none"/>
          </a:ln>
        </p:spPr>
      </p:cxnSp>
      <p:cxnSp>
        <p:nvCxnSpPr>
          <p:cNvPr id="133" name="Google Shape;133;p6"/>
          <p:cNvCxnSpPr/>
          <p:nvPr/>
        </p:nvCxnSpPr>
        <p:spPr>
          <a:xfrm rot="10800000">
            <a:off x="2251139" y="3066999"/>
            <a:ext cx="0" cy="1537819"/>
          </a:xfrm>
          <a:prstGeom prst="straightConnector1">
            <a:avLst/>
          </a:prstGeom>
          <a:noFill/>
          <a:ln cap="flat" cmpd="sng" w="19050">
            <a:solidFill>
              <a:srgbClr val="BFD7D1"/>
            </a:solidFill>
            <a:prstDash val="solid"/>
            <a:round/>
            <a:headEnd len="sm" w="sm" type="none"/>
            <a:tailEnd len="sm" w="sm" type="none"/>
          </a:ln>
        </p:spPr>
      </p:cxnSp>
      <p:cxnSp>
        <p:nvCxnSpPr>
          <p:cNvPr id="134" name="Google Shape;134;p6"/>
          <p:cNvCxnSpPr/>
          <p:nvPr/>
        </p:nvCxnSpPr>
        <p:spPr>
          <a:xfrm rot="10800000">
            <a:off x="2590038" y="3087543"/>
            <a:ext cx="0" cy="1496729"/>
          </a:xfrm>
          <a:prstGeom prst="straightConnector1">
            <a:avLst/>
          </a:prstGeom>
          <a:noFill/>
          <a:ln cap="flat" cmpd="sng" w="19050">
            <a:solidFill>
              <a:srgbClr val="BFD7D1"/>
            </a:solidFill>
            <a:prstDash val="solid"/>
            <a:round/>
            <a:headEnd len="sm" w="sm" type="none"/>
            <a:tailEnd len="sm" w="sm" type="none"/>
          </a:ln>
        </p:spPr>
      </p:cxnSp>
      <p:cxnSp>
        <p:nvCxnSpPr>
          <p:cNvPr id="135" name="Google Shape;135;p6"/>
          <p:cNvCxnSpPr/>
          <p:nvPr/>
        </p:nvCxnSpPr>
        <p:spPr>
          <a:xfrm rot="10800000">
            <a:off x="2928938" y="3267088"/>
            <a:ext cx="0" cy="1137641"/>
          </a:xfrm>
          <a:prstGeom prst="straightConnector1">
            <a:avLst/>
          </a:prstGeom>
          <a:noFill/>
          <a:ln cap="flat" cmpd="sng" w="19050">
            <a:solidFill>
              <a:srgbClr val="BFD7D1"/>
            </a:solidFill>
            <a:prstDash val="solid"/>
            <a:round/>
            <a:headEnd len="sm" w="sm" type="none"/>
            <a:tailEnd len="sm" w="sm" type="none"/>
          </a:ln>
        </p:spPr>
      </p:cxnSp>
      <p:cxnSp>
        <p:nvCxnSpPr>
          <p:cNvPr id="136" name="Google Shape;136;p6"/>
          <p:cNvCxnSpPr/>
          <p:nvPr/>
        </p:nvCxnSpPr>
        <p:spPr>
          <a:xfrm rot="10800000">
            <a:off x="3267837" y="3567483"/>
            <a:ext cx="0" cy="536849"/>
          </a:xfrm>
          <a:prstGeom prst="straightConnector1">
            <a:avLst/>
          </a:prstGeom>
          <a:noFill/>
          <a:ln cap="flat" cmpd="sng" w="19050">
            <a:solidFill>
              <a:srgbClr val="BFD7D1"/>
            </a:solidFill>
            <a:prstDash val="solid"/>
            <a:round/>
            <a:headEnd len="sm" w="sm" type="none"/>
            <a:tailEnd len="sm" w="sm" type="none"/>
          </a:ln>
        </p:spPr>
      </p:cxnSp>
      <p:cxnSp>
        <p:nvCxnSpPr>
          <p:cNvPr id="137" name="Google Shape;137;p6"/>
          <p:cNvCxnSpPr/>
          <p:nvPr/>
        </p:nvCxnSpPr>
        <p:spPr>
          <a:xfrm>
            <a:off x="3606737" y="3746907"/>
            <a:ext cx="0" cy="178003"/>
          </a:xfrm>
          <a:prstGeom prst="straightConnector1">
            <a:avLst/>
          </a:prstGeom>
          <a:noFill/>
          <a:ln cap="flat" cmpd="sng" w="19050">
            <a:solidFill>
              <a:srgbClr val="BFD7D1"/>
            </a:solidFill>
            <a:prstDash val="solid"/>
            <a:round/>
            <a:headEnd len="sm" w="sm" type="none"/>
            <a:tailEnd len="sm" w="sm" type="none"/>
          </a:ln>
        </p:spPr>
      </p:cxnSp>
      <p:cxnSp>
        <p:nvCxnSpPr>
          <p:cNvPr id="138" name="Google Shape;138;p6"/>
          <p:cNvCxnSpPr/>
          <p:nvPr/>
        </p:nvCxnSpPr>
        <p:spPr>
          <a:xfrm>
            <a:off x="3945636" y="3408390"/>
            <a:ext cx="0" cy="855036"/>
          </a:xfrm>
          <a:prstGeom prst="straightConnector1">
            <a:avLst/>
          </a:prstGeom>
          <a:noFill/>
          <a:ln cap="flat" cmpd="sng" w="19050">
            <a:solidFill>
              <a:srgbClr val="BFD7D1"/>
            </a:solidFill>
            <a:prstDash val="solid"/>
            <a:round/>
            <a:headEnd len="sm" w="sm" type="none"/>
            <a:tailEnd len="sm" w="sm" type="none"/>
          </a:ln>
        </p:spPr>
      </p:cxnSp>
      <p:cxnSp>
        <p:nvCxnSpPr>
          <p:cNvPr id="139" name="Google Shape;139;p6"/>
          <p:cNvCxnSpPr/>
          <p:nvPr/>
        </p:nvCxnSpPr>
        <p:spPr>
          <a:xfrm>
            <a:off x="4284536" y="3160705"/>
            <a:ext cx="0" cy="1350407"/>
          </a:xfrm>
          <a:prstGeom prst="straightConnector1">
            <a:avLst/>
          </a:prstGeom>
          <a:noFill/>
          <a:ln cap="flat" cmpd="sng" w="19050">
            <a:solidFill>
              <a:srgbClr val="BFD7D1"/>
            </a:solidFill>
            <a:prstDash val="solid"/>
            <a:round/>
            <a:headEnd len="sm" w="sm" type="none"/>
            <a:tailEnd len="sm" w="sm" type="none"/>
          </a:ln>
        </p:spPr>
      </p:cxnSp>
      <p:cxnSp>
        <p:nvCxnSpPr>
          <p:cNvPr id="140" name="Google Shape;140;p6"/>
          <p:cNvCxnSpPr/>
          <p:nvPr/>
        </p:nvCxnSpPr>
        <p:spPr>
          <a:xfrm>
            <a:off x="4623435" y="3056474"/>
            <a:ext cx="0" cy="1558869"/>
          </a:xfrm>
          <a:prstGeom prst="straightConnector1">
            <a:avLst/>
          </a:prstGeom>
          <a:noFill/>
          <a:ln cap="flat" cmpd="sng" w="19050">
            <a:solidFill>
              <a:srgbClr val="BFD7D1"/>
            </a:solidFill>
            <a:prstDash val="solid"/>
            <a:round/>
            <a:headEnd len="sm" w="sm" type="none"/>
            <a:tailEnd len="sm" w="sm" type="none"/>
          </a:ln>
        </p:spPr>
      </p:cxnSp>
      <p:cxnSp>
        <p:nvCxnSpPr>
          <p:cNvPr id="141" name="Google Shape;141;p6"/>
          <p:cNvCxnSpPr/>
          <p:nvPr/>
        </p:nvCxnSpPr>
        <p:spPr>
          <a:xfrm>
            <a:off x="4962334" y="3117842"/>
            <a:ext cx="0" cy="1436132"/>
          </a:xfrm>
          <a:prstGeom prst="straightConnector1">
            <a:avLst/>
          </a:prstGeom>
          <a:noFill/>
          <a:ln cap="flat" cmpd="sng" w="19050">
            <a:solidFill>
              <a:srgbClr val="BFD7D1"/>
            </a:solidFill>
            <a:prstDash val="solid"/>
            <a:round/>
            <a:headEnd len="sm" w="sm" type="none"/>
            <a:tailEnd len="sm" w="sm" type="none"/>
          </a:ln>
        </p:spPr>
      </p:cxnSp>
      <p:cxnSp>
        <p:nvCxnSpPr>
          <p:cNvPr id="142" name="Google Shape;142;p6"/>
          <p:cNvCxnSpPr/>
          <p:nvPr/>
        </p:nvCxnSpPr>
        <p:spPr>
          <a:xfrm>
            <a:off x="5301234" y="3331772"/>
            <a:ext cx="0" cy="1008273"/>
          </a:xfrm>
          <a:prstGeom prst="straightConnector1">
            <a:avLst/>
          </a:prstGeom>
          <a:noFill/>
          <a:ln cap="flat" cmpd="sng" w="19050">
            <a:solidFill>
              <a:srgbClr val="BFD7D1"/>
            </a:solidFill>
            <a:prstDash val="solid"/>
            <a:round/>
            <a:headEnd len="sm" w="sm" type="none"/>
            <a:tailEnd len="sm" w="sm" type="none"/>
          </a:ln>
        </p:spPr>
      </p:cxnSp>
      <p:cxnSp>
        <p:nvCxnSpPr>
          <p:cNvPr id="143" name="Google Shape;143;p6"/>
          <p:cNvCxnSpPr/>
          <p:nvPr/>
        </p:nvCxnSpPr>
        <p:spPr>
          <a:xfrm>
            <a:off x="5640134" y="3652811"/>
            <a:ext cx="0" cy="366195"/>
          </a:xfrm>
          <a:prstGeom prst="straightConnector1">
            <a:avLst/>
          </a:prstGeom>
          <a:noFill/>
          <a:ln cap="flat" cmpd="sng" w="19050">
            <a:solidFill>
              <a:srgbClr val="BFD7D1"/>
            </a:solidFill>
            <a:prstDash val="solid"/>
            <a:round/>
            <a:headEnd len="sm" w="sm" type="none"/>
            <a:tailEnd len="sm" w="sm" type="none"/>
          </a:ln>
        </p:spPr>
      </p:cxnSp>
      <p:cxnSp>
        <p:nvCxnSpPr>
          <p:cNvPr id="144" name="Google Shape;144;p6"/>
          <p:cNvCxnSpPr/>
          <p:nvPr/>
        </p:nvCxnSpPr>
        <p:spPr>
          <a:xfrm rot="10800000">
            <a:off x="5979033" y="3659066"/>
            <a:ext cx="0" cy="353685"/>
          </a:xfrm>
          <a:prstGeom prst="straightConnector1">
            <a:avLst/>
          </a:prstGeom>
          <a:noFill/>
          <a:ln cap="flat" cmpd="sng" w="19050">
            <a:solidFill>
              <a:srgbClr val="BFD7D1"/>
            </a:solidFill>
            <a:prstDash val="solid"/>
            <a:round/>
            <a:headEnd len="sm" w="sm" type="none"/>
            <a:tailEnd len="sm" w="sm" type="none"/>
          </a:ln>
        </p:spPr>
      </p:cxnSp>
      <p:cxnSp>
        <p:nvCxnSpPr>
          <p:cNvPr id="145" name="Google Shape;145;p6"/>
          <p:cNvCxnSpPr/>
          <p:nvPr/>
        </p:nvCxnSpPr>
        <p:spPr>
          <a:xfrm rot="10800000">
            <a:off x="6317932" y="3336698"/>
            <a:ext cx="0" cy="998421"/>
          </a:xfrm>
          <a:prstGeom prst="straightConnector1">
            <a:avLst/>
          </a:prstGeom>
          <a:noFill/>
          <a:ln cap="flat" cmpd="sng" w="19050">
            <a:solidFill>
              <a:srgbClr val="BFD7D1"/>
            </a:solidFill>
            <a:prstDash val="solid"/>
            <a:round/>
            <a:headEnd len="sm" w="sm" type="none"/>
            <a:tailEnd len="sm" w="sm" type="none"/>
          </a:ln>
        </p:spPr>
      </p:cxnSp>
      <p:cxnSp>
        <p:nvCxnSpPr>
          <p:cNvPr id="146" name="Google Shape;146;p6"/>
          <p:cNvCxnSpPr/>
          <p:nvPr/>
        </p:nvCxnSpPr>
        <p:spPr>
          <a:xfrm rot="10800000">
            <a:off x="6656832" y="3120393"/>
            <a:ext cx="0" cy="1431031"/>
          </a:xfrm>
          <a:prstGeom prst="straightConnector1">
            <a:avLst/>
          </a:prstGeom>
          <a:noFill/>
          <a:ln cap="flat" cmpd="sng" w="19050">
            <a:solidFill>
              <a:srgbClr val="BFD7D1"/>
            </a:solidFill>
            <a:prstDash val="solid"/>
            <a:round/>
            <a:headEnd len="sm" w="sm" type="none"/>
            <a:tailEnd len="sm" w="sm" type="none"/>
          </a:ln>
        </p:spPr>
      </p:cxnSp>
      <p:cxnSp>
        <p:nvCxnSpPr>
          <p:cNvPr id="147" name="Google Shape;147;p6"/>
          <p:cNvCxnSpPr/>
          <p:nvPr/>
        </p:nvCxnSpPr>
        <p:spPr>
          <a:xfrm>
            <a:off x="1234440" y="3835908"/>
            <a:ext cx="338900" cy="350253"/>
          </a:xfrm>
          <a:prstGeom prst="straightConnector1">
            <a:avLst/>
          </a:prstGeom>
          <a:noFill/>
          <a:ln cap="flat" cmpd="sng" w="44450">
            <a:solidFill>
              <a:srgbClr val="067F75"/>
            </a:solidFill>
            <a:prstDash val="solid"/>
            <a:round/>
            <a:headEnd len="sm" w="sm" type="none"/>
            <a:tailEnd len="sm" w="sm" type="none"/>
          </a:ln>
        </p:spPr>
      </p:cxnSp>
      <p:cxnSp>
        <p:nvCxnSpPr>
          <p:cNvPr id="148" name="Google Shape;148;p6"/>
          <p:cNvCxnSpPr/>
          <p:nvPr/>
        </p:nvCxnSpPr>
        <p:spPr>
          <a:xfrm flipH="1" rot="10800000">
            <a:off x="1234440" y="3485655"/>
            <a:ext cx="338900" cy="350253"/>
          </a:xfrm>
          <a:prstGeom prst="straightConnector1">
            <a:avLst/>
          </a:prstGeom>
          <a:noFill/>
          <a:ln cap="flat" cmpd="sng" w="44450">
            <a:solidFill>
              <a:srgbClr val="EFAA5C"/>
            </a:solidFill>
            <a:prstDash val="solid"/>
            <a:round/>
            <a:headEnd len="sm" w="sm" type="none"/>
            <a:tailEnd len="sm" w="sm" type="none"/>
          </a:ln>
        </p:spPr>
      </p:cxnSp>
      <p:cxnSp>
        <p:nvCxnSpPr>
          <p:cNvPr id="149" name="Google Shape;149;p6"/>
          <p:cNvCxnSpPr/>
          <p:nvPr/>
        </p:nvCxnSpPr>
        <p:spPr>
          <a:xfrm>
            <a:off x="1573340" y="4186161"/>
            <a:ext cx="338900" cy="275838"/>
          </a:xfrm>
          <a:prstGeom prst="straightConnector1">
            <a:avLst/>
          </a:prstGeom>
          <a:noFill/>
          <a:ln cap="flat" cmpd="sng" w="44450">
            <a:solidFill>
              <a:srgbClr val="067F75"/>
            </a:solidFill>
            <a:prstDash val="solid"/>
            <a:round/>
            <a:headEnd len="sm" w="sm" type="none"/>
            <a:tailEnd len="sm" w="sm" type="none"/>
          </a:ln>
        </p:spPr>
      </p:cxnSp>
      <p:cxnSp>
        <p:nvCxnSpPr>
          <p:cNvPr id="150" name="Google Shape;150;p6"/>
          <p:cNvCxnSpPr/>
          <p:nvPr/>
        </p:nvCxnSpPr>
        <p:spPr>
          <a:xfrm flipH="1" rot="10800000">
            <a:off x="1573340" y="3209817"/>
            <a:ext cx="338900" cy="275838"/>
          </a:xfrm>
          <a:prstGeom prst="straightConnector1">
            <a:avLst/>
          </a:prstGeom>
          <a:noFill/>
          <a:ln cap="flat" cmpd="sng" w="44450">
            <a:solidFill>
              <a:srgbClr val="EFAA5C"/>
            </a:solidFill>
            <a:prstDash val="solid"/>
            <a:round/>
            <a:headEnd len="sm" w="sm" type="none"/>
            <a:tailEnd len="sm" w="sm" type="none"/>
          </a:ln>
        </p:spPr>
      </p:cxnSp>
      <p:cxnSp>
        <p:nvCxnSpPr>
          <p:cNvPr id="151" name="Google Shape;151;p6"/>
          <p:cNvCxnSpPr/>
          <p:nvPr/>
        </p:nvCxnSpPr>
        <p:spPr>
          <a:xfrm>
            <a:off x="1912239" y="4462000"/>
            <a:ext cx="338900" cy="142818"/>
          </a:xfrm>
          <a:prstGeom prst="straightConnector1">
            <a:avLst/>
          </a:prstGeom>
          <a:noFill/>
          <a:ln cap="flat" cmpd="sng" w="44450">
            <a:solidFill>
              <a:srgbClr val="067F75"/>
            </a:solidFill>
            <a:prstDash val="solid"/>
            <a:round/>
            <a:headEnd len="sm" w="sm" type="none"/>
            <a:tailEnd len="sm" w="sm" type="none"/>
          </a:ln>
        </p:spPr>
      </p:cxnSp>
      <p:cxnSp>
        <p:nvCxnSpPr>
          <p:cNvPr id="152" name="Google Shape;152;p6"/>
          <p:cNvCxnSpPr/>
          <p:nvPr/>
        </p:nvCxnSpPr>
        <p:spPr>
          <a:xfrm flipH="1" rot="10800000">
            <a:off x="1912239" y="3066998"/>
            <a:ext cx="338900" cy="142818"/>
          </a:xfrm>
          <a:prstGeom prst="straightConnector1">
            <a:avLst/>
          </a:prstGeom>
          <a:noFill/>
          <a:ln cap="flat" cmpd="sng" w="44450">
            <a:solidFill>
              <a:srgbClr val="EFAA5C"/>
            </a:solidFill>
            <a:prstDash val="solid"/>
            <a:round/>
            <a:headEnd len="sm" w="sm" type="none"/>
            <a:tailEnd len="sm" w="sm" type="none"/>
          </a:ln>
        </p:spPr>
      </p:cxnSp>
      <p:cxnSp>
        <p:nvCxnSpPr>
          <p:cNvPr id="153" name="Google Shape;153;p6"/>
          <p:cNvCxnSpPr/>
          <p:nvPr/>
        </p:nvCxnSpPr>
        <p:spPr>
          <a:xfrm flipH="1" rot="10800000">
            <a:off x="2251139" y="4584273"/>
            <a:ext cx="338900" cy="20545"/>
          </a:xfrm>
          <a:prstGeom prst="straightConnector1">
            <a:avLst/>
          </a:prstGeom>
          <a:noFill/>
          <a:ln cap="flat" cmpd="sng" w="44450">
            <a:solidFill>
              <a:srgbClr val="067F75"/>
            </a:solidFill>
            <a:prstDash val="solid"/>
            <a:round/>
            <a:headEnd len="sm" w="sm" type="none"/>
            <a:tailEnd len="sm" w="sm" type="none"/>
          </a:ln>
        </p:spPr>
      </p:cxnSp>
      <p:cxnSp>
        <p:nvCxnSpPr>
          <p:cNvPr id="154" name="Google Shape;154;p6"/>
          <p:cNvCxnSpPr/>
          <p:nvPr/>
        </p:nvCxnSpPr>
        <p:spPr>
          <a:xfrm>
            <a:off x="2251139" y="3066998"/>
            <a:ext cx="338900" cy="20545"/>
          </a:xfrm>
          <a:prstGeom prst="straightConnector1">
            <a:avLst/>
          </a:prstGeom>
          <a:noFill/>
          <a:ln cap="flat" cmpd="sng" w="44450">
            <a:solidFill>
              <a:srgbClr val="EFAA5C"/>
            </a:solidFill>
            <a:prstDash val="solid"/>
            <a:round/>
            <a:headEnd len="sm" w="sm" type="none"/>
            <a:tailEnd len="sm" w="sm" type="none"/>
          </a:ln>
        </p:spPr>
      </p:cxnSp>
      <p:cxnSp>
        <p:nvCxnSpPr>
          <p:cNvPr id="155" name="Google Shape;155;p6"/>
          <p:cNvCxnSpPr/>
          <p:nvPr/>
        </p:nvCxnSpPr>
        <p:spPr>
          <a:xfrm flipH="1" rot="10800000">
            <a:off x="2590038" y="4404728"/>
            <a:ext cx="338900" cy="179544"/>
          </a:xfrm>
          <a:prstGeom prst="straightConnector1">
            <a:avLst/>
          </a:prstGeom>
          <a:noFill/>
          <a:ln cap="flat" cmpd="sng" w="44450">
            <a:solidFill>
              <a:srgbClr val="067F75"/>
            </a:solidFill>
            <a:prstDash val="solid"/>
            <a:round/>
            <a:headEnd len="sm" w="sm" type="none"/>
            <a:tailEnd len="sm" w="sm" type="none"/>
          </a:ln>
        </p:spPr>
      </p:cxnSp>
      <p:cxnSp>
        <p:nvCxnSpPr>
          <p:cNvPr id="156" name="Google Shape;156;p6"/>
          <p:cNvCxnSpPr/>
          <p:nvPr/>
        </p:nvCxnSpPr>
        <p:spPr>
          <a:xfrm>
            <a:off x="2590038" y="3087544"/>
            <a:ext cx="338900" cy="179544"/>
          </a:xfrm>
          <a:prstGeom prst="straightConnector1">
            <a:avLst/>
          </a:prstGeom>
          <a:noFill/>
          <a:ln cap="flat" cmpd="sng" w="44450">
            <a:solidFill>
              <a:srgbClr val="EFAA5C"/>
            </a:solidFill>
            <a:prstDash val="solid"/>
            <a:round/>
            <a:headEnd len="sm" w="sm" type="none"/>
            <a:tailEnd len="sm" w="sm" type="none"/>
          </a:ln>
        </p:spPr>
      </p:cxnSp>
      <p:cxnSp>
        <p:nvCxnSpPr>
          <p:cNvPr id="157" name="Google Shape;157;p6"/>
          <p:cNvCxnSpPr/>
          <p:nvPr/>
        </p:nvCxnSpPr>
        <p:spPr>
          <a:xfrm flipH="1" rot="10800000">
            <a:off x="2928938" y="4104333"/>
            <a:ext cx="338900" cy="300396"/>
          </a:xfrm>
          <a:prstGeom prst="straightConnector1">
            <a:avLst/>
          </a:prstGeom>
          <a:noFill/>
          <a:ln cap="flat" cmpd="sng" w="44450">
            <a:solidFill>
              <a:srgbClr val="067F75"/>
            </a:solidFill>
            <a:prstDash val="solid"/>
            <a:round/>
            <a:headEnd len="sm" w="sm" type="none"/>
            <a:tailEnd len="sm" w="sm" type="none"/>
          </a:ln>
        </p:spPr>
      </p:cxnSp>
      <p:cxnSp>
        <p:nvCxnSpPr>
          <p:cNvPr id="158" name="Google Shape;158;p6"/>
          <p:cNvCxnSpPr/>
          <p:nvPr/>
        </p:nvCxnSpPr>
        <p:spPr>
          <a:xfrm>
            <a:off x="2928938" y="3267087"/>
            <a:ext cx="338900" cy="300396"/>
          </a:xfrm>
          <a:prstGeom prst="straightConnector1">
            <a:avLst/>
          </a:prstGeom>
          <a:noFill/>
          <a:ln cap="flat" cmpd="sng" w="44450">
            <a:solidFill>
              <a:srgbClr val="EFAA5C"/>
            </a:solidFill>
            <a:prstDash val="solid"/>
            <a:round/>
            <a:headEnd len="sm" w="sm" type="none"/>
            <a:tailEnd len="sm" w="sm" type="none"/>
          </a:ln>
        </p:spPr>
      </p:cxnSp>
      <p:cxnSp>
        <p:nvCxnSpPr>
          <p:cNvPr id="159" name="Google Shape;159;p6"/>
          <p:cNvCxnSpPr/>
          <p:nvPr/>
        </p:nvCxnSpPr>
        <p:spPr>
          <a:xfrm flipH="1" rot="10800000">
            <a:off x="3267837" y="3746906"/>
            <a:ext cx="338900" cy="357426"/>
          </a:xfrm>
          <a:prstGeom prst="straightConnector1">
            <a:avLst/>
          </a:prstGeom>
          <a:noFill/>
          <a:ln cap="flat" cmpd="sng" w="44450">
            <a:solidFill>
              <a:srgbClr val="067F75"/>
            </a:solidFill>
            <a:prstDash val="solid"/>
            <a:round/>
            <a:headEnd len="sm" w="sm" type="none"/>
            <a:tailEnd len="sm" w="sm" type="none"/>
          </a:ln>
        </p:spPr>
      </p:cxnSp>
      <p:cxnSp>
        <p:nvCxnSpPr>
          <p:cNvPr id="160" name="Google Shape;160;p6"/>
          <p:cNvCxnSpPr/>
          <p:nvPr/>
        </p:nvCxnSpPr>
        <p:spPr>
          <a:xfrm>
            <a:off x="3267837" y="3567484"/>
            <a:ext cx="338900" cy="357426"/>
          </a:xfrm>
          <a:prstGeom prst="straightConnector1">
            <a:avLst/>
          </a:prstGeom>
          <a:noFill/>
          <a:ln cap="flat" cmpd="sng" w="44450">
            <a:solidFill>
              <a:srgbClr val="EFAA5C"/>
            </a:solidFill>
            <a:prstDash val="solid"/>
            <a:round/>
            <a:headEnd len="sm" w="sm" type="none"/>
            <a:tailEnd len="sm" w="sm" type="none"/>
          </a:ln>
        </p:spPr>
      </p:cxnSp>
      <p:cxnSp>
        <p:nvCxnSpPr>
          <p:cNvPr id="161" name="Google Shape;161;p6"/>
          <p:cNvCxnSpPr/>
          <p:nvPr/>
        </p:nvCxnSpPr>
        <p:spPr>
          <a:xfrm flipH="1" rot="10800000">
            <a:off x="3606737" y="3408391"/>
            <a:ext cx="338899" cy="338516"/>
          </a:xfrm>
          <a:prstGeom prst="straightConnector1">
            <a:avLst/>
          </a:prstGeom>
          <a:noFill/>
          <a:ln cap="flat" cmpd="sng" w="44450">
            <a:solidFill>
              <a:srgbClr val="067F75"/>
            </a:solidFill>
            <a:prstDash val="solid"/>
            <a:round/>
            <a:headEnd len="sm" w="sm" type="none"/>
            <a:tailEnd len="sm" w="sm" type="none"/>
          </a:ln>
        </p:spPr>
      </p:cxnSp>
      <p:cxnSp>
        <p:nvCxnSpPr>
          <p:cNvPr id="162" name="Google Shape;162;p6"/>
          <p:cNvCxnSpPr/>
          <p:nvPr/>
        </p:nvCxnSpPr>
        <p:spPr>
          <a:xfrm>
            <a:off x="3606737" y="3924909"/>
            <a:ext cx="338899" cy="338516"/>
          </a:xfrm>
          <a:prstGeom prst="straightConnector1">
            <a:avLst/>
          </a:prstGeom>
          <a:noFill/>
          <a:ln cap="flat" cmpd="sng" w="44450">
            <a:solidFill>
              <a:srgbClr val="EFAA5C"/>
            </a:solidFill>
            <a:prstDash val="solid"/>
            <a:round/>
            <a:headEnd len="sm" w="sm" type="none"/>
            <a:tailEnd len="sm" w="sm" type="none"/>
          </a:ln>
        </p:spPr>
      </p:cxnSp>
      <p:cxnSp>
        <p:nvCxnSpPr>
          <p:cNvPr id="163" name="Google Shape;163;p6"/>
          <p:cNvCxnSpPr/>
          <p:nvPr/>
        </p:nvCxnSpPr>
        <p:spPr>
          <a:xfrm flipH="1" rot="10800000">
            <a:off x="3945636" y="3160704"/>
            <a:ext cx="338900" cy="247686"/>
          </a:xfrm>
          <a:prstGeom prst="straightConnector1">
            <a:avLst/>
          </a:prstGeom>
          <a:noFill/>
          <a:ln cap="flat" cmpd="sng" w="44450">
            <a:solidFill>
              <a:srgbClr val="067F75"/>
            </a:solidFill>
            <a:prstDash val="solid"/>
            <a:round/>
            <a:headEnd len="sm" w="sm" type="none"/>
            <a:tailEnd len="sm" w="sm" type="none"/>
          </a:ln>
        </p:spPr>
      </p:cxnSp>
      <p:cxnSp>
        <p:nvCxnSpPr>
          <p:cNvPr id="164" name="Google Shape;164;p6"/>
          <p:cNvCxnSpPr/>
          <p:nvPr/>
        </p:nvCxnSpPr>
        <p:spPr>
          <a:xfrm>
            <a:off x="3945636" y="4263426"/>
            <a:ext cx="338900" cy="247686"/>
          </a:xfrm>
          <a:prstGeom prst="straightConnector1">
            <a:avLst/>
          </a:prstGeom>
          <a:noFill/>
          <a:ln cap="flat" cmpd="sng" w="44450">
            <a:solidFill>
              <a:srgbClr val="EFAA5C"/>
            </a:solidFill>
            <a:prstDash val="solid"/>
            <a:round/>
            <a:headEnd len="sm" w="sm" type="none"/>
            <a:tailEnd len="sm" w="sm" type="none"/>
          </a:ln>
        </p:spPr>
      </p:cxnSp>
      <p:cxnSp>
        <p:nvCxnSpPr>
          <p:cNvPr id="165" name="Google Shape;165;p6"/>
          <p:cNvCxnSpPr/>
          <p:nvPr/>
        </p:nvCxnSpPr>
        <p:spPr>
          <a:xfrm flipH="1" rot="10800000">
            <a:off x="4284536" y="3056474"/>
            <a:ext cx="338900" cy="104231"/>
          </a:xfrm>
          <a:prstGeom prst="straightConnector1">
            <a:avLst/>
          </a:prstGeom>
          <a:noFill/>
          <a:ln cap="flat" cmpd="sng" w="44450">
            <a:solidFill>
              <a:srgbClr val="067F75"/>
            </a:solidFill>
            <a:prstDash val="solid"/>
            <a:round/>
            <a:headEnd len="sm" w="sm" type="none"/>
            <a:tailEnd len="sm" w="sm" type="none"/>
          </a:ln>
        </p:spPr>
      </p:cxnSp>
      <p:cxnSp>
        <p:nvCxnSpPr>
          <p:cNvPr id="166" name="Google Shape;166;p6"/>
          <p:cNvCxnSpPr/>
          <p:nvPr/>
        </p:nvCxnSpPr>
        <p:spPr>
          <a:xfrm>
            <a:off x="4284536" y="4511111"/>
            <a:ext cx="338900" cy="104231"/>
          </a:xfrm>
          <a:prstGeom prst="straightConnector1">
            <a:avLst/>
          </a:prstGeom>
          <a:noFill/>
          <a:ln cap="flat" cmpd="sng" w="44450">
            <a:solidFill>
              <a:srgbClr val="EFAA5C"/>
            </a:solidFill>
            <a:prstDash val="solid"/>
            <a:round/>
            <a:headEnd len="sm" w="sm" type="none"/>
            <a:tailEnd len="sm" w="sm" type="none"/>
          </a:ln>
        </p:spPr>
      </p:cxnSp>
      <p:cxnSp>
        <p:nvCxnSpPr>
          <p:cNvPr id="167" name="Google Shape;167;p6"/>
          <p:cNvCxnSpPr/>
          <p:nvPr/>
        </p:nvCxnSpPr>
        <p:spPr>
          <a:xfrm>
            <a:off x="4623435" y="3056474"/>
            <a:ext cx="338899" cy="61368"/>
          </a:xfrm>
          <a:prstGeom prst="straightConnector1">
            <a:avLst/>
          </a:prstGeom>
          <a:noFill/>
          <a:ln cap="flat" cmpd="sng" w="44450">
            <a:solidFill>
              <a:srgbClr val="067F75"/>
            </a:solidFill>
            <a:prstDash val="solid"/>
            <a:round/>
            <a:headEnd len="sm" w="sm" type="none"/>
            <a:tailEnd len="sm" w="sm" type="none"/>
          </a:ln>
        </p:spPr>
      </p:cxnSp>
      <p:cxnSp>
        <p:nvCxnSpPr>
          <p:cNvPr id="168" name="Google Shape;168;p6"/>
          <p:cNvCxnSpPr/>
          <p:nvPr/>
        </p:nvCxnSpPr>
        <p:spPr>
          <a:xfrm flipH="1" rot="10800000">
            <a:off x="4623435" y="4553974"/>
            <a:ext cx="338899" cy="61368"/>
          </a:xfrm>
          <a:prstGeom prst="straightConnector1">
            <a:avLst/>
          </a:prstGeom>
          <a:noFill/>
          <a:ln cap="flat" cmpd="sng" w="44450">
            <a:solidFill>
              <a:srgbClr val="EFAA5C"/>
            </a:solidFill>
            <a:prstDash val="solid"/>
            <a:round/>
            <a:headEnd len="sm" w="sm" type="none"/>
            <a:tailEnd len="sm" w="sm" type="none"/>
          </a:ln>
        </p:spPr>
      </p:cxnSp>
      <p:cxnSp>
        <p:nvCxnSpPr>
          <p:cNvPr id="169" name="Google Shape;169;p6"/>
          <p:cNvCxnSpPr/>
          <p:nvPr/>
        </p:nvCxnSpPr>
        <p:spPr>
          <a:xfrm>
            <a:off x="4962334" y="3117842"/>
            <a:ext cx="338900" cy="213930"/>
          </a:xfrm>
          <a:prstGeom prst="straightConnector1">
            <a:avLst/>
          </a:prstGeom>
          <a:noFill/>
          <a:ln cap="flat" cmpd="sng" w="44450">
            <a:solidFill>
              <a:srgbClr val="067F75"/>
            </a:solidFill>
            <a:prstDash val="solid"/>
            <a:round/>
            <a:headEnd len="sm" w="sm" type="none"/>
            <a:tailEnd len="sm" w="sm" type="none"/>
          </a:ln>
        </p:spPr>
      </p:cxnSp>
      <p:cxnSp>
        <p:nvCxnSpPr>
          <p:cNvPr id="170" name="Google Shape;170;p6"/>
          <p:cNvCxnSpPr/>
          <p:nvPr/>
        </p:nvCxnSpPr>
        <p:spPr>
          <a:xfrm flipH="1" rot="10800000">
            <a:off x="4962334" y="4340044"/>
            <a:ext cx="338900" cy="213930"/>
          </a:xfrm>
          <a:prstGeom prst="straightConnector1">
            <a:avLst/>
          </a:prstGeom>
          <a:noFill/>
          <a:ln cap="flat" cmpd="sng" w="44450">
            <a:solidFill>
              <a:srgbClr val="EFAA5C"/>
            </a:solidFill>
            <a:prstDash val="solid"/>
            <a:round/>
            <a:headEnd len="sm" w="sm" type="none"/>
            <a:tailEnd len="sm" w="sm" type="none"/>
          </a:ln>
        </p:spPr>
      </p:cxnSp>
      <p:cxnSp>
        <p:nvCxnSpPr>
          <p:cNvPr id="171" name="Google Shape;171;p6"/>
          <p:cNvCxnSpPr/>
          <p:nvPr/>
        </p:nvCxnSpPr>
        <p:spPr>
          <a:xfrm>
            <a:off x="5301234" y="3331772"/>
            <a:ext cx="338900" cy="321039"/>
          </a:xfrm>
          <a:prstGeom prst="straightConnector1">
            <a:avLst/>
          </a:prstGeom>
          <a:noFill/>
          <a:ln cap="flat" cmpd="sng" w="44450">
            <a:solidFill>
              <a:srgbClr val="067F75"/>
            </a:solidFill>
            <a:prstDash val="solid"/>
            <a:round/>
            <a:headEnd len="sm" w="sm" type="none"/>
            <a:tailEnd len="sm" w="sm" type="none"/>
          </a:ln>
        </p:spPr>
      </p:cxnSp>
      <p:cxnSp>
        <p:nvCxnSpPr>
          <p:cNvPr id="172" name="Google Shape;172;p6"/>
          <p:cNvCxnSpPr/>
          <p:nvPr/>
        </p:nvCxnSpPr>
        <p:spPr>
          <a:xfrm flipH="1" rot="10800000">
            <a:off x="5301234" y="4019005"/>
            <a:ext cx="338900" cy="321039"/>
          </a:xfrm>
          <a:prstGeom prst="straightConnector1">
            <a:avLst/>
          </a:prstGeom>
          <a:noFill/>
          <a:ln cap="flat" cmpd="sng" w="44450">
            <a:solidFill>
              <a:srgbClr val="EFAA5C"/>
            </a:solidFill>
            <a:prstDash val="solid"/>
            <a:round/>
            <a:headEnd len="sm" w="sm" type="none"/>
            <a:tailEnd len="sm" w="sm" type="none"/>
          </a:ln>
        </p:spPr>
      </p:cxnSp>
      <p:cxnSp>
        <p:nvCxnSpPr>
          <p:cNvPr id="173" name="Google Shape;173;p6"/>
          <p:cNvCxnSpPr/>
          <p:nvPr/>
        </p:nvCxnSpPr>
        <p:spPr>
          <a:xfrm>
            <a:off x="5640134" y="3652811"/>
            <a:ext cx="338900" cy="359940"/>
          </a:xfrm>
          <a:prstGeom prst="straightConnector1">
            <a:avLst/>
          </a:prstGeom>
          <a:noFill/>
          <a:ln cap="flat" cmpd="sng" w="44450">
            <a:solidFill>
              <a:srgbClr val="067F75"/>
            </a:solidFill>
            <a:prstDash val="solid"/>
            <a:round/>
            <a:headEnd len="sm" w="sm" type="none"/>
            <a:tailEnd len="sm" w="sm" type="none"/>
          </a:ln>
        </p:spPr>
      </p:cxnSp>
      <p:cxnSp>
        <p:nvCxnSpPr>
          <p:cNvPr id="174" name="Google Shape;174;p6"/>
          <p:cNvCxnSpPr/>
          <p:nvPr/>
        </p:nvCxnSpPr>
        <p:spPr>
          <a:xfrm flipH="1" rot="10800000">
            <a:off x="5640134" y="3659065"/>
            <a:ext cx="338900" cy="359940"/>
          </a:xfrm>
          <a:prstGeom prst="straightConnector1">
            <a:avLst/>
          </a:prstGeom>
          <a:noFill/>
          <a:ln cap="flat" cmpd="sng" w="44450">
            <a:solidFill>
              <a:srgbClr val="EFAA5C"/>
            </a:solidFill>
            <a:prstDash val="solid"/>
            <a:round/>
            <a:headEnd len="sm" w="sm" type="none"/>
            <a:tailEnd len="sm" w="sm" type="none"/>
          </a:ln>
        </p:spPr>
      </p:cxnSp>
      <p:cxnSp>
        <p:nvCxnSpPr>
          <p:cNvPr id="175" name="Google Shape;175;p6"/>
          <p:cNvCxnSpPr/>
          <p:nvPr/>
        </p:nvCxnSpPr>
        <p:spPr>
          <a:xfrm>
            <a:off x="5979033" y="4012751"/>
            <a:ext cx="338899" cy="322368"/>
          </a:xfrm>
          <a:prstGeom prst="straightConnector1">
            <a:avLst/>
          </a:prstGeom>
          <a:noFill/>
          <a:ln cap="flat" cmpd="sng" w="44450">
            <a:solidFill>
              <a:srgbClr val="067F75"/>
            </a:solidFill>
            <a:prstDash val="solid"/>
            <a:round/>
            <a:headEnd len="sm" w="sm" type="none"/>
            <a:tailEnd len="sm" w="sm" type="none"/>
          </a:ln>
        </p:spPr>
      </p:cxnSp>
      <p:cxnSp>
        <p:nvCxnSpPr>
          <p:cNvPr id="176" name="Google Shape;176;p6"/>
          <p:cNvCxnSpPr/>
          <p:nvPr/>
        </p:nvCxnSpPr>
        <p:spPr>
          <a:xfrm flipH="1" rot="10800000">
            <a:off x="5979033" y="3336697"/>
            <a:ext cx="338899" cy="322368"/>
          </a:xfrm>
          <a:prstGeom prst="straightConnector1">
            <a:avLst/>
          </a:prstGeom>
          <a:noFill/>
          <a:ln cap="flat" cmpd="sng" w="44450">
            <a:solidFill>
              <a:srgbClr val="EFAA5C"/>
            </a:solidFill>
            <a:prstDash val="solid"/>
            <a:round/>
            <a:headEnd len="sm" w="sm" type="none"/>
            <a:tailEnd len="sm" w="sm" type="none"/>
          </a:ln>
        </p:spPr>
      </p:cxnSp>
      <p:cxnSp>
        <p:nvCxnSpPr>
          <p:cNvPr id="177" name="Google Shape;177;p6"/>
          <p:cNvCxnSpPr/>
          <p:nvPr/>
        </p:nvCxnSpPr>
        <p:spPr>
          <a:xfrm>
            <a:off x="6317932" y="4335119"/>
            <a:ext cx="338900" cy="216305"/>
          </a:xfrm>
          <a:prstGeom prst="straightConnector1">
            <a:avLst/>
          </a:prstGeom>
          <a:noFill/>
          <a:ln cap="flat" cmpd="sng" w="44450">
            <a:solidFill>
              <a:srgbClr val="067F75"/>
            </a:solidFill>
            <a:prstDash val="solid"/>
            <a:round/>
            <a:headEnd len="sm" w="sm" type="none"/>
            <a:tailEnd len="sm" w="sm" type="none"/>
          </a:ln>
        </p:spPr>
      </p:cxnSp>
      <p:cxnSp>
        <p:nvCxnSpPr>
          <p:cNvPr id="178" name="Google Shape;178;p6"/>
          <p:cNvCxnSpPr/>
          <p:nvPr/>
        </p:nvCxnSpPr>
        <p:spPr>
          <a:xfrm flipH="1" rot="10800000">
            <a:off x="6317932" y="3120392"/>
            <a:ext cx="338900" cy="216305"/>
          </a:xfrm>
          <a:prstGeom prst="straightConnector1">
            <a:avLst/>
          </a:prstGeom>
          <a:noFill/>
          <a:ln cap="flat" cmpd="sng" w="44450">
            <a:solidFill>
              <a:srgbClr val="EFAA5C"/>
            </a:solidFill>
            <a:prstDash val="solid"/>
            <a:round/>
            <a:headEnd len="sm" w="sm" type="none"/>
            <a:tailEnd len="sm" w="sm" type="none"/>
          </a:ln>
        </p:spPr>
      </p:cxnSp>
      <p:sp>
        <p:nvSpPr>
          <p:cNvPr id="179" name="Google Shape;179;p6"/>
          <p:cNvSpPr/>
          <p:nvPr/>
        </p:nvSpPr>
        <p:spPr>
          <a:xfrm>
            <a:off x="1188720" y="3790188"/>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1188720" y="3790188"/>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1866519" y="4416280"/>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1866519" y="3164096"/>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2544318" y="4538552"/>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2544318" y="3041824"/>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3222117" y="4058612"/>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3222117" y="3521764"/>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3899916" y="3362670"/>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3899916" y="4217706"/>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577715" y="3010754"/>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4577715" y="4569622"/>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5255514" y="3286052"/>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5255514" y="4294324"/>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5933313" y="3967031"/>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5933313" y="3613345"/>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6611112" y="4505704"/>
            <a:ext cx="91440" cy="9144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6611112" y="3074672"/>
            <a:ext cx="91440" cy="91440"/>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2752344" y="2468880"/>
            <a:ext cx="237744" cy="237744"/>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4096512" y="4407408"/>
            <a:ext cx="237744" cy="237744"/>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5715000" y="3200400"/>
            <a:ext cx="237744" cy="237744"/>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4462272" y="2167128"/>
            <a:ext cx="20574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300"/>
              <a:buFont typeface="Inter"/>
              <a:buNone/>
            </a:pPr>
            <a:r>
              <a:rPr b="1" i="0" lang="en-US" sz="1300" u="none" cap="none" strike="noStrike">
                <a:solidFill>
                  <a:srgbClr val="067F75"/>
                </a:solidFill>
                <a:latin typeface="Inter"/>
                <a:ea typeface="Inter"/>
                <a:cs typeface="Inter"/>
                <a:sym typeface="Inter"/>
              </a:rPr>
              <a:t>metilação</a:t>
            </a:r>
            <a:endParaRPr b="0" i="0" sz="1300" u="none" cap="none" strike="noStrike">
              <a:solidFill>
                <a:schemeClr val="dk1"/>
              </a:solidFill>
              <a:latin typeface="Inter"/>
              <a:ea typeface="Inter"/>
              <a:cs typeface="Inter"/>
              <a:sym typeface="Inter"/>
            </a:endParaRPr>
          </a:p>
        </p:txBody>
      </p:sp>
      <p:cxnSp>
        <p:nvCxnSpPr>
          <p:cNvPr id="201" name="Google Shape;201;p6"/>
          <p:cNvCxnSpPr/>
          <p:nvPr/>
        </p:nvCxnSpPr>
        <p:spPr>
          <a:xfrm>
            <a:off x="4937760" y="2514600"/>
            <a:ext cx="548640" cy="694944"/>
          </a:xfrm>
          <a:prstGeom prst="straightConnector1">
            <a:avLst/>
          </a:prstGeom>
          <a:noFill/>
          <a:ln cap="flat" cmpd="sng" w="19050">
            <a:solidFill>
              <a:srgbClr val="067F75"/>
            </a:solidFill>
            <a:prstDash val="solid"/>
            <a:round/>
            <a:headEnd len="sm" w="sm" type="none"/>
            <a:tailEnd len="med" w="med" type="triangle"/>
          </a:ln>
        </p:spPr>
      </p:cxnSp>
      <p:sp>
        <p:nvSpPr>
          <p:cNvPr id="202" name="Google Shape;202;p6"/>
          <p:cNvSpPr/>
          <p:nvPr/>
        </p:nvSpPr>
        <p:spPr>
          <a:xfrm>
            <a:off x="7424928" y="2240280"/>
            <a:ext cx="4023360" cy="1097280"/>
          </a:xfrm>
          <a:prstGeom prst="roundRect">
            <a:avLst>
              <a:gd fmla="val 16667"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7699248" y="2459736"/>
            <a:ext cx="1051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2400"/>
              <a:buFont typeface="Inter"/>
              <a:buNone/>
            </a:pPr>
            <a:r>
              <a:rPr b="1" i="0" lang="en-US" sz="2400" u="none" cap="none" strike="noStrike">
                <a:solidFill>
                  <a:srgbClr val="067F75"/>
                </a:solidFill>
                <a:latin typeface="Inter"/>
                <a:ea typeface="Inter"/>
                <a:cs typeface="Inter"/>
                <a:sym typeface="Inter"/>
              </a:rPr>
              <a:t>CpG</a:t>
            </a:r>
            <a:endParaRPr b="0" i="0" sz="2400" u="none" cap="none" strike="noStrike">
              <a:solidFill>
                <a:schemeClr val="dk1"/>
              </a:solidFill>
              <a:latin typeface="Inter"/>
              <a:ea typeface="Inter"/>
              <a:cs typeface="Inter"/>
              <a:sym typeface="Inter"/>
            </a:endParaRPr>
          </a:p>
        </p:txBody>
      </p:sp>
      <p:sp>
        <p:nvSpPr>
          <p:cNvPr id="204" name="Google Shape;204;p6"/>
          <p:cNvSpPr/>
          <p:nvPr/>
        </p:nvSpPr>
        <p:spPr>
          <a:xfrm>
            <a:off x="8466200" y="2354850"/>
            <a:ext cx="2899200" cy="8550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102A39"/>
              </a:buClr>
              <a:buSzPts val="1500"/>
              <a:buFont typeface="Inter"/>
              <a:buNone/>
            </a:pPr>
            <a:r>
              <a:rPr lang="en-US" sz="1300">
                <a:solidFill>
                  <a:srgbClr val="102A39"/>
                </a:solidFill>
                <a:latin typeface="Inter"/>
                <a:ea typeface="Inter"/>
                <a:cs typeface="Inter"/>
                <a:sym typeface="Inter"/>
              </a:rPr>
              <a:t>Região na sequência do DNA onde um nucleotídeo de citosina (C) vem logo antes de um nucleotídeo de guanina (G), na direção 5' → 3'</a:t>
            </a:r>
            <a:endParaRPr b="0" i="0" sz="1300" u="none" cap="none" strike="noStrike">
              <a:solidFill>
                <a:schemeClr val="dk1"/>
              </a:solidFill>
              <a:latin typeface="Inter"/>
              <a:ea typeface="Inter"/>
              <a:cs typeface="Inter"/>
              <a:sym typeface="Inter"/>
            </a:endParaRPr>
          </a:p>
        </p:txBody>
      </p:sp>
      <p:sp>
        <p:nvSpPr>
          <p:cNvPr id="205" name="Google Shape;205;p6"/>
          <p:cNvSpPr/>
          <p:nvPr/>
        </p:nvSpPr>
        <p:spPr>
          <a:xfrm>
            <a:off x="7424925" y="3566146"/>
            <a:ext cx="4023300" cy="1787100"/>
          </a:xfrm>
          <a:prstGeom prst="roundRect">
            <a:avLst>
              <a:gd fmla="val 14085"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7699248" y="3794760"/>
            <a:ext cx="3090672"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C2633"/>
              </a:buClr>
              <a:buSzPts val="2200"/>
              <a:buFont typeface="Inter"/>
              <a:buNone/>
            </a:pPr>
            <a:r>
              <a:rPr b="1" i="0" lang="en-US" sz="2200" u="none" cap="none" strike="noStrike">
                <a:solidFill>
                  <a:srgbClr val="0C2633"/>
                </a:solidFill>
                <a:latin typeface="Inter"/>
                <a:ea typeface="Inter"/>
                <a:cs typeface="Inter"/>
                <a:sym typeface="Inter"/>
              </a:rPr>
              <a:t>Metilação</a:t>
            </a:r>
            <a:endParaRPr b="0" i="0" sz="2200" u="none" cap="none" strike="noStrike">
              <a:solidFill>
                <a:schemeClr val="dk1"/>
              </a:solidFill>
              <a:latin typeface="Inter"/>
              <a:ea typeface="Inter"/>
              <a:cs typeface="Inter"/>
              <a:sym typeface="Inter"/>
            </a:endParaRPr>
          </a:p>
        </p:txBody>
      </p:sp>
      <p:sp>
        <p:nvSpPr>
          <p:cNvPr id="207" name="Google Shape;207;p6"/>
          <p:cNvSpPr/>
          <p:nvPr/>
        </p:nvSpPr>
        <p:spPr>
          <a:xfrm>
            <a:off x="7699250" y="4261092"/>
            <a:ext cx="3401700" cy="85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60"/>
              <a:buFont typeface="Inter"/>
              <a:buNone/>
            </a:pPr>
            <a:r>
              <a:rPr lang="en-US" sz="1300">
                <a:solidFill>
                  <a:srgbClr val="536979"/>
                </a:solidFill>
                <a:latin typeface="Inter"/>
                <a:ea typeface="Inter"/>
                <a:cs typeface="Inter"/>
                <a:sym typeface="Inter"/>
              </a:rPr>
              <a:t>Mecanismo epigenético que adiciona um grupo metil (CH₃) a uma base nitrogenada (geralmente citosina, em regiões de ilhas CpG), sem alterar a sequência original do código genético</a:t>
            </a:r>
            <a:endParaRPr b="0" i="0" sz="1300" u="none" cap="none" strike="noStrike">
              <a:solidFill>
                <a:schemeClr val="dk1"/>
              </a:solidFill>
              <a:latin typeface="Inter"/>
              <a:ea typeface="Inter"/>
              <a:cs typeface="Inter"/>
              <a:sym typeface="Inter"/>
            </a:endParaRPr>
          </a:p>
        </p:txBody>
      </p:sp>
      <p:sp>
        <p:nvSpPr>
          <p:cNvPr id="208" name="Google Shape;208;p6"/>
          <p:cNvSpPr/>
          <p:nvPr/>
        </p:nvSpPr>
        <p:spPr>
          <a:xfrm>
            <a:off x="804672" y="5998464"/>
            <a:ext cx="1069848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00"/>
              <a:buFont typeface="Inter"/>
              <a:buNone/>
            </a:pPr>
            <a:r>
              <a:rPr b="0" i="0" lang="en-US" sz="1500" u="none" cap="none" strike="noStrike">
                <a:solidFill>
                  <a:srgbClr val="536979"/>
                </a:solidFill>
                <a:latin typeface="Inter"/>
                <a:ea typeface="Inter"/>
                <a:cs typeface="Inter"/>
                <a:sym typeface="Inter"/>
              </a:rPr>
              <a:t>Com o passar dos anos, certos CpGs tendem a mudar seus níveis de metilação.</a:t>
            </a:r>
            <a:endParaRPr b="0" i="0" sz="1500" u="none" cap="none" strike="noStrike">
              <a:solidFill>
                <a:schemeClr val="dk1"/>
              </a:solidFill>
              <a:latin typeface="Inter"/>
              <a:ea typeface="Inter"/>
              <a:cs typeface="Inter"/>
              <a:sym typeface="Inter"/>
            </a:endParaRPr>
          </a:p>
        </p:txBody>
      </p:sp>
      <p:cxnSp>
        <p:nvCxnSpPr>
          <p:cNvPr id="209" name="Google Shape;209;p6"/>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210" name="Google Shape;210;p6"/>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211" name="Google Shape;211;p6"/>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03</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216" name="Shape 216"/>
        <p:cNvGrpSpPr/>
        <p:nvPr/>
      </p:nvGrpSpPr>
      <p:grpSpPr>
        <a:xfrm>
          <a:off x="0" y="0"/>
          <a:ext cx="0" cy="0"/>
          <a:chOff x="0" y="0"/>
          <a:chExt cx="0" cy="0"/>
        </a:xfrm>
      </p:grpSpPr>
      <p:sp>
        <p:nvSpPr>
          <p:cNvPr id="217" name="Google Shape;217;p7"/>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03 · </a:t>
            </a:r>
            <a:r>
              <a:rPr b="1" lang="en-US" sz="1050">
                <a:solidFill>
                  <a:srgbClr val="067F75"/>
                </a:solidFill>
                <a:latin typeface="Inter"/>
                <a:ea typeface="Inter"/>
                <a:cs typeface="Inter"/>
                <a:sym typeface="Inter"/>
              </a:rPr>
              <a:t>DADOS</a:t>
            </a:r>
            <a:endParaRPr b="0" i="0" sz="1050" u="none" cap="none" strike="noStrike">
              <a:solidFill>
                <a:schemeClr val="dk1"/>
              </a:solidFill>
              <a:latin typeface="Inter"/>
              <a:ea typeface="Inter"/>
              <a:cs typeface="Inter"/>
              <a:sym typeface="Inter"/>
            </a:endParaRPr>
          </a:p>
        </p:txBody>
      </p:sp>
      <p:sp>
        <p:nvSpPr>
          <p:cNvPr id="218" name="Google Shape;218;p7"/>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Cada CpG recebe um número entre 0 e 1</a:t>
            </a:r>
            <a:endParaRPr b="0" i="0" sz="2950" u="none" cap="none" strike="noStrike">
              <a:solidFill>
                <a:schemeClr val="dk1"/>
              </a:solidFill>
              <a:latin typeface="Inter"/>
              <a:ea typeface="Inter"/>
              <a:cs typeface="Inter"/>
              <a:sym typeface="Inter"/>
            </a:endParaRPr>
          </a:p>
        </p:txBody>
      </p:sp>
      <p:sp>
        <p:nvSpPr>
          <p:cNvPr id="219" name="Google Shape;219;p7"/>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Esse número é chamado de β-value e representa a metilação relativa da posição.</a:t>
            </a:r>
            <a:endParaRPr b="0" i="0" sz="1420" u="none" cap="none" strike="noStrike">
              <a:solidFill>
                <a:schemeClr val="dk1"/>
              </a:solidFill>
              <a:latin typeface="Inter"/>
              <a:ea typeface="Inter"/>
              <a:cs typeface="Inter"/>
              <a:sym typeface="Inter"/>
            </a:endParaRPr>
          </a:p>
        </p:txBody>
      </p:sp>
      <p:sp>
        <p:nvSpPr>
          <p:cNvPr id="220" name="Google Shape;220;p7"/>
          <p:cNvSpPr/>
          <p:nvPr/>
        </p:nvSpPr>
        <p:spPr>
          <a:xfrm>
            <a:off x="822960" y="2212848"/>
            <a:ext cx="3337560" cy="3355848"/>
          </a:xfrm>
          <a:prstGeom prst="roundRect">
            <a:avLst>
              <a:gd fmla="val 6575"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1051560" y="244144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829"/>
              <a:buFont typeface="Inter"/>
              <a:buNone/>
            </a:pPr>
            <a:r>
              <a:rPr b="1" i="0" lang="en-US" sz="1830" u="none" cap="none" strike="noStrike">
                <a:solidFill>
                  <a:srgbClr val="102A39"/>
                </a:solidFill>
                <a:latin typeface="Inter"/>
                <a:ea typeface="Inter"/>
                <a:cs typeface="Inter"/>
                <a:sym typeface="Inter"/>
              </a:rPr>
              <a:t>CpG A</a:t>
            </a:r>
            <a:endParaRPr b="0" i="0" sz="1830" u="none" cap="none" strike="noStrike">
              <a:solidFill>
                <a:schemeClr val="dk1"/>
              </a:solidFill>
              <a:latin typeface="Inter"/>
              <a:ea typeface="Inter"/>
              <a:cs typeface="Inter"/>
              <a:sym typeface="Inter"/>
            </a:endParaRPr>
          </a:p>
        </p:txBody>
      </p:sp>
      <p:sp>
        <p:nvSpPr>
          <p:cNvPr id="222" name="Google Shape;222;p7"/>
          <p:cNvSpPr/>
          <p:nvPr/>
        </p:nvSpPr>
        <p:spPr>
          <a:xfrm>
            <a:off x="1051560" y="2990088"/>
            <a:ext cx="285292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3900"/>
              <a:buFont typeface="Inter"/>
              <a:buNone/>
            </a:pPr>
            <a:r>
              <a:rPr b="1" i="0" lang="en-US" sz="3900" u="none" cap="none" strike="noStrike">
                <a:solidFill>
                  <a:srgbClr val="067F75"/>
                </a:solidFill>
                <a:latin typeface="Inter"/>
                <a:ea typeface="Inter"/>
                <a:cs typeface="Inter"/>
                <a:sym typeface="Inter"/>
              </a:rPr>
              <a:t>0,20</a:t>
            </a:r>
            <a:endParaRPr b="0" i="0" sz="3900" u="none" cap="none" strike="noStrike">
              <a:solidFill>
                <a:schemeClr val="dk1"/>
              </a:solidFill>
              <a:latin typeface="Inter"/>
              <a:ea typeface="Inter"/>
              <a:cs typeface="Inter"/>
              <a:sym typeface="Inter"/>
            </a:endParaRPr>
          </a:p>
        </p:txBody>
      </p:sp>
      <p:sp>
        <p:nvSpPr>
          <p:cNvPr id="223" name="Google Shape;223;p7"/>
          <p:cNvSpPr/>
          <p:nvPr/>
        </p:nvSpPr>
        <p:spPr>
          <a:xfrm>
            <a:off x="1051560" y="3904488"/>
            <a:ext cx="2834640" cy="301752"/>
          </a:xfrm>
          <a:prstGeom prst="roundRect">
            <a:avLst>
              <a:gd fmla="val 33333" name="adj"/>
            </a:avLst>
          </a:prstGeom>
          <a:solidFill>
            <a:srgbClr val="E7EEED"/>
          </a:solidFill>
          <a:ln cap="flat" cmpd="sng" w="12700">
            <a:solidFill>
              <a:srgbClr val="E7EE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7"/>
          <p:cNvSpPr/>
          <p:nvPr/>
        </p:nvSpPr>
        <p:spPr>
          <a:xfrm>
            <a:off x="1051560" y="3904488"/>
            <a:ext cx="566928" cy="301752"/>
          </a:xfrm>
          <a:prstGeom prst="roundRect">
            <a:avLst>
              <a:gd fmla="val 33333" name="adj"/>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
          <p:cNvSpPr/>
          <p:nvPr/>
        </p:nvSpPr>
        <p:spPr>
          <a:xfrm>
            <a:off x="1051560" y="4480560"/>
            <a:ext cx="2880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00"/>
              <a:buFont typeface="Inter"/>
              <a:buNone/>
            </a:pPr>
            <a:r>
              <a:rPr b="0" i="0" lang="en-US" sz="1500" u="none" cap="none" strike="noStrike">
                <a:solidFill>
                  <a:srgbClr val="536979"/>
                </a:solidFill>
                <a:latin typeface="Inter"/>
                <a:ea typeface="Inter"/>
                <a:cs typeface="Inter"/>
                <a:sym typeface="Inter"/>
              </a:rPr>
              <a:t>20%  de metilação relativa</a:t>
            </a:r>
            <a:endParaRPr b="0" i="0" sz="1500" u="none" cap="none" strike="noStrike">
              <a:solidFill>
                <a:schemeClr val="dk1"/>
              </a:solidFill>
              <a:latin typeface="Inter"/>
              <a:ea typeface="Inter"/>
              <a:cs typeface="Inter"/>
              <a:sym typeface="Inter"/>
            </a:endParaRPr>
          </a:p>
        </p:txBody>
      </p:sp>
      <p:sp>
        <p:nvSpPr>
          <p:cNvPr id="226" name="Google Shape;226;p7"/>
          <p:cNvSpPr/>
          <p:nvPr/>
        </p:nvSpPr>
        <p:spPr>
          <a:xfrm>
            <a:off x="4590288" y="2212848"/>
            <a:ext cx="3337560" cy="3355848"/>
          </a:xfrm>
          <a:prstGeom prst="roundRect">
            <a:avLst>
              <a:gd fmla="val 6575"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4818888" y="244144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829"/>
              <a:buFont typeface="Inter"/>
              <a:buNone/>
            </a:pPr>
            <a:r>
              <a:rPr b="1" i="0" lang="en-US" sz="1830" u="none" cap="none" strike="noStrike">
                <a:solidFill>
                  <a:srgbClr val="102A39"/>
                </a:solidFill>
                <a:latin typeface="Inter"/>
                <a:ea typeface="Inter"/>
                <a:cs typeface="Inter"/>
                <a:sym typeface="Inter"/>
              </a:rPr>
              <a:t>CpG B</a:t>
            </a:r>
            <a:endParaRPr b="0" i="0" sz="1830" u="none" cap="none" strike="noStrike">
              <a:solidFill>
                <a:schemeClr val="dk1"/>
              </a:solidFill>
              <a:latin typeface="Inter"/>
              <a:ea typeface="Inter"/>
              <a:cs typeface="Inter"/>
              <a:sym typeface="Inter"/>
            </a:endParaRPr>
          </a:p>
        </p:txBody>
      </p:sp>
      <p:sp>
        <p:nvSpPr>
          <p:cNvPr id="228" name="Google Shape;228;p7"/>
          <p:cNvSpPr/>
          <p:nvPr/>
        </p:nvSpPr>
        <p:spPr>
          <a:xfrm>
            <a:off x="4818888" y="2990088"/>
            <a:ext cx="285292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3900"/>
              <a:buFont typeface="Inter"/>
              <a:buNone/>
            </a:pPr>
            <a:r>
              <a:rPr b="1" i="0" lang="en-US" sz="3900" u="none" cap="none" strike="noStrike">
                <a:solidFill>
                  <a:srgbClr val="067F75"/>
                </a:solidFill>
                <a:latin typeface="Inter"/>
                <a:ea typeface="Inter"/>
                <a:cs typeface="Inter"/>
                <a:sym typeface="Inter"/>
              </a:rPr>
              <a:t>0,60</a:t>
            </a:r>
            <a:endParaRPr b="0" i="0" sz="3900" u="none" cap="none" strike="noStrike">
              <a:solidFill>
                <a:schemeClr val="dk1"/>
              </a:solidFill>
              <a:latin typeface="Inter"/>
              <a:ea typeface="Inter"/>
              <a:cs typeface="Inter"/>
              <a:sym typeface="Inter"/>
            </a:endParaRPr>
          </a:p>
        </p:txBody>
      </p:sp>
      <p:sp>
        <p:nvSpPr>
          <p:cNvPr id="229" name="Google Shape;229;p7"/>
          <p:cNvSpPr/>
          <p:nvPr/>
        </p:nvSpPr>
        <p:spPr>
          <a:xfrm>
            <a:off x="4818888" y="3904488"/>
            <a:ext cx="2834640" cy="301752"/>
          </a:xfrm>
          <a:prstGeom prst="roundRect">
            <a:avLst>
              <a:gd fmla="val 33333" name="adj"/>
            </a:avLst>
          </a:prstGeom>
          <a:solidFill>
            <a:srgbClr val="E7EEED"/>
          </a:solidFill>
          <a:ln cap="flat" cmpd="sng" w="12700">
            <a:solidFill>
              <a:srgbClr val="E7EE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p:nvPr/>
        </p:nvSpPr>
        <p:spPr>
          <a:xfrm>
            <a:off x="4818888" y="3904488"/>
            <a:ext cx="1700784" cy="301752"/>
          </a:xfrm>
          <a:prstGeom prst="roundRect">
            <a:avLst>
              <a:gd fmla="val 33333" name="adj"/>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7"/>
          <p:cNvSpPr/>
          <p:nvPr/>
        </p:nvSpPr>
        <p:spPr>
          <a:xfrm>
            <a:off x="4818888" y="4480560"/>
            <a:ext cx="2880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00"/>
              <a:buFont typeface="Inter"/>
              <a:buNone/>
            </a:pPr>
            <a:r>
              <a:rPr b="0" i="0" lang="en-US" sz="1500" u="none" cap="none" strike="noStrike">
                <a:solidFill>
                  <a:srgbClr val="536979"/>
                </a:solidFill>
                <a:latin typeface="Inter"/>
                <a:ea typeface="Inter"/>
                <a:cs typeface="Inter"/>
                <a:sym typeface="Inter"/>
              </a:rPr>
              <a:t>60%  de metilação relativa</a:t>
            </a:r>
            <a:endParaRPr b="0" i="0" sz="1500" u="none" cap="none" strike="noStrike">
              <a:solidFill>
                <a:schemeClr val="dk1"/>
              </a:solidFill>
              <a:latin typeface="Inter"/>
              <a:ea typeface="Inter"/>
              <a:cs typeface="Inter"/>
              <a:sym typeface="Inter"/>
            </a:endParaRPr>
          </a:p>
        </p:txBody>
      </p:sp>
      <p:sp>
        <p:nvSpPr>
          <p:cNvPr id="232" name="Google Shape;232;p7"/>
          <p:cNvSpPr/>
          <p:nvPr/>
        </p:nvSpPr>
        <p:spPr>
          <a:xfrm>
            <a:off x="8357616" y="2212848"/>
            <a:ext cx="3337560" cy="3355848"/>
          </a:xfrm>
          <a:prstGeom prst="roundRect">
            <a:avLst>
              <a:gd fmla="val 6575"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8586216" y="2441448"/>
            <a:ext cx="2880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829"/>
              <a:buFont typeface="Inter"/>
              <a:buNone/>
            </a:pPr>
            <a:r>
              <a:rPr b="1" i="0" lang="en-US" sz="1830" u="none" cap="none" strike="noStrike">
                <a:solidFill>
                  <a:srgbClr val="102A39"/>
                </a:solidFill>
                <a:latin typeface="Inter"/>
                <a:ea typeface="Inter"/>
                <a:cs typeface="Inter"/>
                <a:sym typeface="Inter"/>
              </a:rPr>
              <a:t>CpG C</a:t>
            </a:r>
            <a:endParaRPr b="0" i="0" sz="1830" u="none" cap="none" strike="noStrike">
              <a:solidFill>
                <a:schemeClr val="dk1"/>
              </a:solidFill>
              <a:latin typeface="Inter"/>
              <a:ea typeface="Inter"/>
              <a:cs typeface="Inter"/>
              <a:sym typeface="Inter"/>
            </a:endParaRPr>
          </a:p>
        </p:txBody>
      </p:sp>
      <p:sp>
        <p:nvSpPr>
          <p:cNvPr id="234" name="Google Shape;234;p7"/>
          <p:cNvSpPr/>
          <p:nvPr/>
        </p:nvSpPr>
        <p:spPr>
          <a:xfrm>
            <a:off x="8586216" y="2990088"/>
            <a:ext cx="2852928"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3900"/>
              <a:buFont typeface="Inter"/>
              <a:buNone/>
            </a:pPr>
            <a:r>
              <a:rPr b="1" i="0" lang="en-US" sz="3900" u="none" cap="none" strike="noStrike">
                <a:solidFill>
                  <a:srgbClr val="067F75"/>
                </a:solidFill>
                <a:latin typeface="Inter"/>
                <a:ea typeface="Inter"/>
                <a:cs typeface="Inter"/>
                <a:sym typeface="Inter"/>
              </a:rPr>
              <a:t>0,90</a:t>
            </a:r>
            <a:endParaRPr b="0" i="0" sz="3900" u="none" cap="none" strike="noStrike">
              <a:solidFill>
                <a:schemeClr val="dk1"/>
              </a:solidFill>
              <a:latin typeface="Inter"/>
              <a:ea typeface="Inter"/>
              <a:cs typeface="Inter"/>
              <a:sym typeface="Inter"/>
            </a:endParaRPr>
          </a:p>
        </p:txBody>
      </p:sp>
      <p:sp>
        <p:nvSpPr>
          <p:cNvPr id="235" name="Google Shape;235;p7"/>
          <p:cNvSpPr/>
          <p:nvPr/>
        </p:nvSpPr>
        <p:spPr>
          <a:xfrm>
            <a:off x="8586216" y="3904488"/>
            <a:ext cx="2834640" cy="301752"/>
          </a:xfrm>
          <a:prstGeom prst="roundRect">
            <a:avLst>
              <a:gd fmla="val 33333" name="adj"/>
            </a:avLst>
          </a:prstGeom>
          <a:solidFill>
            <a:srgbClr val="E7EEED"/>
          </a:solidFill>
          <a:ln cap="flat" cmpd="sng" w="12700">
            <a:solidFill>
              <a:srgbClr val="E7EE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p:nvPr/>
        </p:nvSpPr>
        <p:spPr>
          <a:xfrm>
            <a:off x="8586216" y="3904488"/>
            <a:ext cx="2551176" cy="301752"/>
          </a:xfrm>
          <a:prstGeom prst="roundRect">
            <a:avLst>
              <a:gd fmla="val 33333" name="adj"/>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7"/>
          <p:cNvSpPr/>
          <p:nvPr/>
        </p:nvSpPr>
        <p:spPr>
          <a:xfrm>
            <a:off x="8586216" y="4480560"/>
            <a:ext cx="28803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00"/>
              <a:buFont typeface="Inter"/>
              <a:buNone/>
            </a:pPr>
            <a:r>
              <a:rPr b="0" i="0" lang="en-US" sz="1500" u="none" cap="none" strike="noStrike">
                <a:solidFill>
                  <a:srgbClr val="536979"/>
                </a:solidFill>
                <a:latin typeface="Inter"/>
                <a:ea typeface="Inter"/>
                <a:cs typeface="Inter"/>
                <a:sym typeface="Inter"/>
              </a:rPr>
              <a:t>90%  de metilação relativa</a:t>
            </a:r>
            <a:endParaRPr b="0" i="0" sz="1500" u="none" cap="none" strike="noStrike">
              <a:solidFill>
                <a:schemeClr val="dk1"/>
              </a:solidFill>
              <a:latin typeface="Inter"/>
              <a:ea typeface="Inter"/>
              <a:cs typeface="Inter"/>
              <a:sym typeface="Inter"/>
            </a:endParaRPr>
          </a:p>
        </p:txBody>
      </p:sp>
      <p:sp>
        <p:nvSpPr>
          <p:cNvPr id="238" name="Google Shape;238;p7"/>
          <p:cNvSpPr/>
          <p:nvPr/>
        </p:nvSpPr>
        <p:spPr>
          <a:xfrm>
            <a:off x="841248" y="58521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00"/>
              <a:buFont typeface="Inter"/>
              <a:buNone/>
            </a:pPr>
            <a:r>
              <a:rPr b="1" i="0" lang="en-US" sz="1600" u="none" cap="none" strike="noStrike">
                <a:solidFill>
                  <a:srgbClr val="102A39"/>
                </a:solidFill>
                <a:latin typeface="Inter"/>
                <a:ea typeface="Inter"/>
                <a:cs typeface="Inter"/>
                <a:sym typeface="Inter"/>
              </a:rPr>
              <a:t>Importante: 0,90 não significa “90 anos”. É apenas a medida de um CpG.</a:t>
            </a:r>
            <a:endParaRPr b="0" i="0" sz="1600" u="none" cap="none" strike="noStrike">
              <a:solidFill>
                <a:schemeClr val="dk1"/>
              </a:solidFill>
              <a:latin typeface="Inter"/>
              <a:ea typeface="Inter"/>
              <a:cs typeface="Inter"/>
              <a:sym typeface="Inter"/>
            </a:endParaRPr>
          </a:p>
        </p:txBody>
      </p:sp>
      <p:cxnSp>
        <p:nvCxnSpPr>
          <p:cNvPr id="239" name="Google Shape;239;p7"/>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240" name="Google Shape;240;p7"/>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241" name="Google Shape;241;p7"/>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04</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246" name="Shape 246"/>
        <p:cNvGrpSpPr/>
        <p:nvPr/>
      </p:nvGrpSpPr>
      <p:grpSpPr>
        <a:xfrm>
          <a:off x="0" y="0"/>
          <a:ext cx="0" cy="0"/>
          <a:chOff x="0" y="0"/>
          <a:chExt cx="0" cy="0"/>
        </a:xfrm>
      </p:grpSpPr>
      <p:sp>
        <p:nvSpPr>
          <p:cNvPr id="247" name="Google Shape;247;p8"/>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04 · </a:t>
            </a:r>
            <a:r>
              <a:rPr b="1" lang="en-US" sz="1050">
                <a:solidFill>
                  <a:srgbClr val="067F75"/>
                </a:solidFill>
                <a:latin typeface="Inter"/>
                <a:ea typeface="Inter"/>
                <a:cs typeface="Inter"/>
                <a:sym typeface="Inter"/>
              </a:rPr>
              <a:t>PROBLEMA INICIAL</a:t>
            </a:r>
            <a:endParaRPr b="0" i="0" sz="1050" u="none" cap="none" strike="noStrike">
              <a:solidFill>
                <a:schemeClr val="dk1"/>
              </a:solidFill>
              <a:latin typeface="Inter"/>
              <a:ea typeface="Inter"/>
              <a:cs typeface="Inter"/>
              <a:sym typeface="Inter"/>
            </a:endParaRPr>
          </a:p>
        </p:txBody>
      </p:sp>
      <p:sp>
        <p:nvSpPr>
          <p:cNvPr id="248" name="Google Shape;248;p8"/>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lang="en-US" sz="2950">
                <a:solidFill>
                  <a:srgbClr val="102A39"/>
                </a:solidFill>
                <a:latin typeface="Inter"/>
                <a:ea typeface="Inter"/>
                <a:cs typeface="Inter"/>
                <a:sym typeface="Inter"/>
              </a:rPr>
              <a:t>O que difere Garma de outros relógios biológicos?</a:t>
            </a:r>
            <a:endParaRPr b="0" i="0" sz="2950" u="none" cap="none" strike="noStrike">
              <a:solidFill>
                <a:schemeClr val="dk1"/>
              </a:solidFill>
              <a:latin typeface="Inter"/>
              <a:ea typeface="Inter"/>
              <a:cs typeface="Inter"/>
              <a:sym typeface="Inter"/>
            </a:endParaRPr>
          </a:p>
        </p:txBody>
      </p:sp>
      <p:sp>
        <p:nvSpPr>
          <p:cNvPr id="249" name="Google Shape;249;p8"/>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As gerações de chips da Illumina não medem exatamente os mesmos CpGs.</a:t>
            </a:r>
            <a:endParaRPr b="0" i="0" sz="1420" u="none" cap="none" strike="noStrike">
              <a:solidFill>
                <a:schemeClr val="dk1"/>
              </a:solidFill>
              <a:latin typeface="Inter"/>
              <a:ea typeface="Inter"/>
              <a:cs typeface="Inter"/>
              <a:sym typeface="Inter"/>
            </a:endParaRPr>
          </a:p>
        </p:txBody>
      </p:sp>
      <p:sp>
        <p:nvSpPr>
          <p:cNvPr id="250" name="Google Shape;250;p8"/>
          <p:cNvSpPr/>
          <p:nvPr/>
        </p:nvSpPr>
        <p:spPr>
          <a:xfrm>
            <a:off x="786384" y="2121408"/>
            <a:ext cx="3364992" cy="2231136"/>
          </a:xfrm>
          <a:prstGeom prst="roundRect">
            <a:avLst>
              <a:gd fmla="val 9426"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969264" y="2377440"/>
            <a:ext cx="2898648"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450K</a:t>
            </a:r>
            <a:endParaRPr b="0" i="0" sz="2200" u="none" cap="none" strike="noStrike">
              <a:solidFill>
                <a:schemeClr val="dk1"/>
              </a:solidFill>
              <a:latin typeface="Inter"/>
              <a:ea typeface="Inter"/>
              <a:cs typeface="Inter"/>
              <a:sym typeface="Inter"/>
            </a:endParaRPr>
          </a:p>
        </p:txBody>
      </p:sp>
      <p:sp>
        <p:nvSpPr>
          <p:cNvPr id="252" name="Google Shape;252;p8"/>
          <p:cNvSpPr/>
          <p:nvPr/>
        </p:nvSpPr>
        <p:spPr>
          <a:xfrm>
            <a:off x="1060704"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1536192"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2011680"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2487168"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2962656"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3438144"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1060704"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1536192"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2011680"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2487168"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2962656"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8"/>
          <p:cNvSpPr/>
          <p:nvPr/>
        </p:nvSpPr>
        <p:spPr>
          <a:xfrm>
            <a:off x="3438144"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4553712" y="2121408"/>
            <a:ext cx="3364992" cy="2231136"/>
          </a:xfrm>
          <a:prstGeom prst="roundRect">
            <a:avLst>
              <a:gd fmla="val 9426"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736592" y="2377440"/>
            <a:ext cx="2898648"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EPIC v1</a:t>
            </a:r>
            <a:endParaRPr b="0" i="0" sz="2200" u="none" cap="none" strike="noStrike">
              <a:solidFill>
                <a:schemeClr val="dk1"/>
              </a:solidFill>
              <a:latin typeface="Inter"/>
              <a:ea typeface="Inter"/>
              <a:cs typeface="Inter"/>
              <a:sym typeface="Inter"/>
            </a:endParaRPr>
          </a:p>
        </p:txBody>
      </p:sp>
      <p:sp>
        <p:nvSpPr>
          <p:cNvPr id="266" name="Google Shape;266;p8"/>
          <p:cNvSpPr/>
          <p:nvPr/>
        </p:nvSpPr>
        <p:spPr>
          <a:xfrm>
            <a:off x="4828032"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8"/>
          <p:cNvSpPr/>
          <p:nvPr/>
        </p:nvSpPr>
        <p:spPr>
          <a:xfrm>
            <a:off x="5303520"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5779008"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
          <p:cNvSpPr/>
          <p:nvPr/>
        </p:nvSpPr>
        <p:spPr>
          <a:xfrm>
            <a:off x="6254496"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6729984"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7205472"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4828032"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8"/>
          <p:cNvSpPr/>
          <p:nvPr/>
        </p:nvSpPr>
        <p:spPr>
          <a:xfrm>
            <a:off x="5303520"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5779008"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8"/>
          <p:cNvSpPr/>
          <p:nvPr/>
        </p:nvSpPr>
        <p:spPr>
          <a:xfrm>
            <a:off x="6254496"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6729984"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
          <p:cNvSpPr/>
          <p:nvPr/>
        </p:nvSpPr>
        <p:spPr>
          <a:xfrm>
            <a:off x="7205472"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8321040" y="2121408"/>
            <a:ext cx="3364992" cy="2231136"/>
          </a:xfrm>
          <a:prstGeom prst="roundRect">
            <a:avLst>
              <a:gd fmla="val 9426"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8"/>
          <p:cNvSpPr/>
          <p:nvPr/>
        </p:nvSpPr>
        <p:spPr>
          <a:xfrm>
            <a:off x="8503920" y="2377440"/>
            <a:ext cx="2898648"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EPIC v2</a:t>
            </a:r>
            <a:endParaRPr b="0" i="0" sz="2200" u="none" cap="none" strike="noStrike">
              <a:solidFill>
                <a:schemeClr val="dk1"/>
              </a:solidFill>
              <a:latin typeface="Inter"/>
              <a:ea typeface="Inter"/>
              <a:cs typeface="Inter"/>
              <a:sym typeface="Inter"/>
            </a:endParaRPr>
          </a:p>
        </p:txBody>
      </p:sp>
      <p:sp>
        <p:nvSpPr>
          <p:cNvPr id="280" name="Google Shape;280;p8"/>
          <p:cNvSpPr/>
          <p:nvPr/>
        </p:nvSpPr>
        <p:spPr>
          <a:xfrm>
            <a:off x="8595360"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8"/>
          <p:cNvSpPr/>
          <p:nvPr/>
        </p:nvSpPr>
        <p:spPr>
          <a:xfrm>
            <a:off x="9070848"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8"/>
          <p:cNvSpPr/>
          <p:nvPr/>
        </p:nvSpPr>
        <p:spPr>
          <a:xfrm>
            <a:off x="9546336"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8"/>
          <p:cNvSpPr/>
          <p:nvPr/>
        </p:nvSpPr>
        <p:spPr>
          <a:xfrm>
            <a:off x="10021824"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10497312"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8"/>
          <p:cNvSpPr/>
          <p:nvPr/>
        </p:nvSpPr>
        <p:spPr>
          <a:xfrm>
            <a:off x="10972800" y="3063240"/>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8"/>
          <p:cNvSpPr/>
          <p:nvPr/>
        </p:nvSpPr>
        <p:spPr>
          <a:xfrm>
            <a:off x="8595360"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9070848"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8"/>
          <p:cNvSpPr/>
          <p:nvPr/>
        </p:nvSpPr>
        <p:spPr>
          <a:xfrm>
            <a:off x="9546336"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8"/>
          <p:cNvSpPr/>
          <p:nvPr/>
        </p:nvSpPr>
        <p:spPr>
          <a:xfrm>
            <a:off x="10021824"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8"/>
          <p:cNvSpPr/>
          <p:nvPr/>
        </p:nvSpPr>
        <p:spPr>
          <a:xfrm>
            <a:off x="10497312" y="3602736"/>
            <a:ext cx="219456" cy="219456"/>
          </a:xfrm>
          <a:prstGeom prst="ellipse">
            <a:avLst/>
          </a:prstGeom>
          <a:solidFill>
            <a:srgbClr val="E3BCAA"/>
          </a:solidFill>
          <a:ln cap="flat" cmpd="sng" w="12700">
            <a:solidFill>
              <a:srgbClr val="E3BC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8"/>
          <p:cNvSpPr/>
          <p:nvPr/>
        </p:nvSpPr>
        <p:spPr>
          <a:xfrm>
            <a:off x="10972800" y="3602736"/>
            <a:ext cx="219456" cy="21945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8"/>
          <p:cNvSpPr/>
          <p:nvPr/>
        </p:nvSpPr>
        <p:spPr>
          <a:xfrm>
            <a:off x="777240" y="4654296"/>
            <a:ext cx="10735056" cy="1225296"/>
          </a:xfrm>
          <a:prstGeom prst="roundRect">
            <a:avLst>
              <a:gd fmla="val 18657"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
          <p:cNvSpPr/>
          <p:nvPr/>
        </p:nvSpPr>
        <p:spPr>
          <a:xfrm>
            <a:off x="1024128" y="4882896"/>
            <a:ext cx="521208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EB9B"/>
              </a:buClr>
              <a:buSzPts val="1650"/>
              <a:buFont typeface="Inter"/>
              <a:buNone/>
            </a:pPr>
            <a:r>
              <a:rPr b="1" i="0" lang="en-US" sz="1650" u="none" cap="none" strike="noStrike">
                <a:solidFill>
                  <a:srgbClr val="BEEB9B"/>
                </a:solidFill>
                <a:latin typeface="Inter"/>
                <a:ea typeface="Inter"/>
                <a:cs typeface="Inter"/>
                <a:sym typeface="Inter"/>
              </a:rPr>
              <a:t>Solução do artigo de 2024</a:t>
            </a:r>
            <a:endParaRPr b="0" i="0" sz="1650" u="none" cap="none" strike="noStrike">
              <a:solidFill>
                <a:schemeClr val="dk1"/>
              </a:solidFill>
              <a:latin typeface="Inter"/>
              <a:ea typeface="Inter"/>
              <a:cs typeface="Inter"/>
              <a:sym typeface="Inter"/>
            </a:endParaRPr>
          </a:p>
        </p:txBody>
      </p:sp>
      <p:sp>
        <p:nvSpPr>
          <p:cNvPr id="294" name="Google Shape;294;p8"/>
          <p:cNvSpPr/>
          <p:nvPr/>
        </p:nvSpPr>
        <p:spPr>
          <a:xfrm>
            <a:off x="1024128" y="5276088"/>
            <a:ext cx="9921240"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Inter"/>
              <a:buNone/>
            </a:pPr>
            <a:r>
              <a:rPr b="1" i="0" lang="en-US" sz="2200" u="none" cap="none" strike="noStrike">
                <a:solidFill>
                  <a:srgbClr val="FFFFFF"/>
                </a:solidFill>
                <a:latin typeface="Inter"/>
                <a:ea typeface="Inter"/>
                <a:cs typeface="Inter"/>
                <a:sym typeface="Inter"/>
              </a:rPr>
              <a:t>Um modelo compatível com 450K, EPIC v1 e EPIC v2.</a:t>
            </a:r>
            <a:endParaRPr b="0" i="0" sz="2200" u="none" cap="none" strike="noStrike">
              <a:solidFill>
                <a:schemeClr val="dk1"/>
              </a:solidFill>
              <a:latin typeface="Inter"/>
              <a:ea typeface="Inter"/>
              <a:cs typeface="Inter"/>
              <a:sym typeface="Inter"/>
            </a:endParaRPr>
          </a:p>
        </p:txBody>
      </p:sp>
      <p:sp>
        <p:nvSpPr>
          <p:cNvPr id="295" name="Google Shape;295;p8"/>
          <p:cNvSpPr/>
          <p:nvPr/>
        </p:nvSpPr>
        <p:spPr>
          <a:xfrm>
            <a:off x="841248" y="6144768"/>
            <a:ext cx="99669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1040"/>
              <a:buFont typeface="Inter"/>
              <a:buNone/>
            </a:pPr>
            <a:r>
              <a:rPr b="0" i="0" lang="en-US" sz="1040" u="none" cap="none" strike="noStrike">
                <a:solidFill>
                  <a:srgbClr val="8696A0"/>
                </a:solidFill>
                <a:latin typeface="Inter"/>
                <a:ea typeface="Inter"/>
                <a:cs typeface="Inter"/>
                <a:sym typeface="Inter"/>
              </a:rPr>
              <a:t>Desenho esquemático — os pontos não representam a lista real de probes.</a:t>
            </a:r>
            <a:endParaRPr b="0" i="0" sz="1040" u="none" cap="none" strike="noStrike">
              <a:solidFill>
                <a:schemeClr val="dk1"/>
              </a:solidFill>
              <a:latin typeface="Inter"/>
              <a:ea typeface="Inter"/>
              <a:cs typeface="Inter"/>
              <a:sym typeface="Inter"/>
            </a:endParaRPr>
          </a:p>
        </p:txBody>
      </p:sp>
      <p:cxnSp>
        <p:nvCxnSpPr>
          <p:cNvPr id="296" name="Google Shape;296;p8"/>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297" name="Google Shape;297;p8"/>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298" name="Google Shape;298;p8"/>
          <p:cNvSpPr/>
          <p:nvPr/>
        </p:nvSpPr>
        <p:spPr>
          <a:xfrm>
            <a:off x="5486400" y="6556248"/>
            <a:ext cx="5623560" cy="14630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696A0"/>
              </a:buClr>
              <a:buSzPts val="740"/>
              <a:buFont typeface="Inter"/>
              <a:buNone/>
            </a:pPr>
            <a:r>
              <a:rPr b="0" i="0" lang="en-US" sz="740" u="none" cap="none" strike="noStrike">
                <a:solidFill>
                  <a:srgbClr val="8696A0"/>
                </a:solidFill>
                <a:latin typeface="Inter"/>
                <a:ea typeface="Inter"/>
                <a:cs typeface="Inter"/>
                <a:sym typeface="Inter"/>
              </a:rPr>
              <a:t>Garma &amp; Quintela-Fandiño, Genome Medicine (2024)</a:t>
            </a:r>
            <a:endParaRPr b="0" i="0" sz="740" u="none" cap="none" strike="noStrike">
              <a:solidFill>
                <a:schemeClr val="dk1"/>
              </a:solidFill>
              <a:latin typeface="Inter"/>
              <a:ea typeface="Inter"/>
              <a:cs typeface="Inter"/>
              <a:sym typeface="Inter"/>
            </a:endParaRPr>
          </a:p>
        </p:txBody>
      </p:sp>
      <p:sp>
        <p:nvSpPr>
          <p:cNvPr id="299" name="Google Shape;299;p8"/>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05</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304" name="Shape 304"/>
        <p:cNvGrpSpPr/>
        <p:nvPr/>
      </p:nvGrpSpPr>
      <p:grpSpPr>
        <a:xfrm>
          <a:off x="0" y="0"/>
          <a:ext cx="0" cy="0"/>
          <a:chOff x="0" y="0"/>
          <a:chExt cx="0" cy="0"/>
        </a:xfrm>
      </p:grpSpPr>
      <p:sp>
        <p:nvSpPr>
          <p:cNvPr id="305" name="Google Shape;305;p9"/>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05 · </a:t>
            </a:r>
            <a:r>
              <a:rPr b="1" lang="en-US" sz="1050">
                <a:solidFill>
                  <a:srgbClr val="067F75"/>
                </a:solidFill>
                <a:latin typeface="Inter"/>
                <a:ea typeface="Inter"/>
                <a:cs typeface="Inter"/>
                <a:sym typeface="Inter"/>
              </a:rPr>
              <a:t>IMPLEMENTAÇÃO DA METODOLOGIA DO ARTIGO</a:t>
            </a:r>
            <a:endParaRPr b="0" i="0" sz="1050" u="none" cap="none" strike="noStrike">
              <a:solidFill>
                <a:schemeClr val="dk1"/>
              </a:solidFill>
              <a:latin typeface="Inter"/>
              <a:ea typeface="Inter"/>
              <a:cs typeface="Inter"/>
              <a:sym typeface="Inter"/>
            </a:endParaRPr>
          </a:p>
        </p:txBody>
      </p:sp>
      <p:sp>
        <p:nvSpPr>
          <p:cNvPr id="306" name="Google Shape;306;p9"/>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lang="en-US" sz="2950">
                <a:solidFill>
                  <a:srgbClr val="102A39"/>
                </a:solidFill>
                <a:latin typeface="Inter"/>
                <a:ea typeface="Inter"/>
                <a:cs typeface="Inter"/>
                <a:sym typeface="Inter"/>
              </a:rPr>
              <a:t>Da pesquisa à calculadora</a:t>
            </a:r>
            <a:endParaRPr b="0" i="0" sz="2950" u="none" cap="none" strike="noStrike">
              <a:solidFill>
                <a:schemeClr val="dk1"/>
              </a:solidFill>
              <a:latin typeface="Inter"/>
              <a:ea typeface="Inter"/>
              <a:cs typeface="Inter"/>
              <a:sym typeface="Inter"/>
            </a:endParaRPr>
          </a:p>
        </p:txBody>
      </p:sp>
      <p:sp>
        <p:nvSpPr>
          <p:cNvPr id="307" name="Google Shape;307;p9"/>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lang="en-US" sz="1420">
                <a:solidFill>
                  <a:srgbClr val="536979"/>
                </a:solidFill>
                <a:latin typeface="Inter"/>
                <a:ea typeface="Inter"/>
                <a:cs typeface="Inter"/>
                <a:sym typeface="Inter"/>
              </a:rPr>
              <a:t>Implementação da pesquisa publicada por Garma  e Quintela.</a:t>
            </a:r>
            <a:endParaRPr b="0" i="0" sz="1420" u="none" cap="none" strike="noStrike">
              <a:solidFill>
                <a:schemeClr val="dk1"/>
              </a:solidFill>
              <a:latin typeface="Inter"/>
              <a:ea typeface="Inter"/>
              <a:cs typeface="Inter"/>
              <a:sym typeface="Inter"/>
            </a:endParaRPr>
          </a:p>
        </p:txBody>
      </p:sp>
      <p:sp>
        <p:nvSpPr>
          <p:cNvPr id="308" name="Google Shape;308;p9"/>
          <p:cNvSpPr/>
          <p:nvPr/>
        </p:nvSpPr>
        <p:spPr>
          <a:xfrm>
            <a:off x="758952" y="2121408"/>
            <a:ext cx="3895344" cy="868680"/>
          </a:xfrm>
          <a:prstGeom prst="roundRect">
            <a:avLst>
              <a:gd fmla="val 1894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978408" y="2231136"/>
            <a:ext cx="33832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30"/>
              <a:buFont typeface="Inter"/>
              <a:buNone/>
            </a:pPr>
            <a:r>
              <a:rPr b="1" i="0" lang="en-US" sz="1030" u="none" cap="none" strike="noStrike">
                <a:solidFill>
                  <a:srgbClr val="067F75"/>
                </a:solidFill>
                <a:latin typeface="Inter"/>
                <a:ea typeface="Inter"/>
                <a:cs typeface="Inter"/>
                <a:sym typeface="Inter"/>
              </a:rPr>
              <a:t>ENTRADA</a:t>
            </a:r>
            <a:endParaRPr b="0" i="0" sz="1030" u="none" cap="none" strike="noStrike">
              <a:solidFill>
                <a:schemeClr val="dk1"/>
              </a:solidFill>
              <a:latin typeface="Inter"/>
              <a:ea typeface="Inter"/>
              <a:cs typeface="Inter"/>
              <a:sym typeface="Inter"/>
            </a:endParaRPr>
          </a:p>
        </p:txBody>
      </p:sp>
      <p:sp>
        <p:nvSpPr>
          <p:cNvPr id="310" name="Google Shape;310;p9"/>
          <p:cNvSpPr/>
          <p:nvPr/>
        </p:nvSpPr>
        <p:spPr>
          <a:xfrm>
            <a:off x="978408" y="2478024"/>
            <a:ext cx="34472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470"/>
              <a:buFont typeface="Inter"/>
              <a:buNone/>
            </a:pPr>
            <a:r>
              <a:rPr b="1" i="0" lang="en-US" sz="1470" u="none" cap="none" strike="noStrike">
                <a:solidFill>
                  <a:srgbClr val="102A39"/>
                </a:solidFill>
                <a:latin typeface="Inter"/>
                <a:ea typeface="Inter"/>
                <a:cs typeface="Inter"/>
                <a:sym typeface="Inter"/>
              </a:rPr>
              <a:t>β-values de uma ou mais pessoas</a:t>
            </a:r>
            <a:endParaRPr b="0" i="0" sz="1470" u="none" cap="none" strike="noStrike">
              <a:solidFill>
                <a:schemeClr val="dk1"/>
              </a:solidFill>
              <a:latin typeface="Inter"/>
              <a:ea typeface="Inter"/>
              <a:cs typeface="Inter"/>
              <a:sym typeface="Inter"/>
            </a:endParaRPr>
          </a:p>
        </p:txBody>
      </p:sp>
      <p:sp>
        <p:nvSpPr>
          <p:cNvPr id="311" name="Google Shape;311;p9"/>
          <p:cNvSpPr/>
          <p:nvPr/>
        </p:nvSpPr>
        <p:spPr>
          <a:xfrm>
            <a:off x="758952" y="3236976"/>
            <a:ext cx="3895344" cy="868680"/>
          </a:xfrm>
          <a:prstGeom prst="roundRect">
            <a:avLst>
              <a:gd fmla="val 1894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978408" y="3346704"/>
            <a:ext cx="33832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30"/>
              <a:buFont typeface="Inter"/>
              <a:buNone/>
            </a:pPr>
            <a:r>
              <a:rPr b="1" i="0" lang="en-US" sz="1030" u="none" cap="none" strike="noStrike">
                <a:solidFill>
                  <a:srgbClr val="067F75"/>
                </a:solidFill>
                <a:latin typeface="Inter"/>
                <a:ea typeface="Inter"/>
                <a:cs typeface="Inter"/>
                <a:sym typeface="Inter"/>
              </a:rPr>
              <a:t>REFERÊNCIA</a:t>
            </a:r>
            <a:endParaRPr b="0" i="0" sz="1030" u="none" cap="none" strike="noStrike">
              <a:solidFill>
                <a:schemeClr val="dk1"/>
              </a:solidFill>
              <a:latin typeface="Inter"/>
              <a:ea typeface="Inter"/>
              <a:cs typeface="Inter"/>
              <a:sym typeface="Inter"/>
            </a:endParaRPr>
          </a:p>
        </p:txBody>
      </p:sp>
      <p:sp>
        <p:nvSpPr>
          <p:cNvPr id="313" name="Google Shape;313;p9"/>
          <p:cNvSpPr/>
          <p:nvPr/>
        </p:nvSpPr>
        <p:spPr>
          <a:xfrm>
            <a:off x="978408" y="3593592"/>
            <a:ext cx="34472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470"/>
              <a:buFont typeface="Inter"/>
              <a:buNone/>
            </a:pPr>
            <a:r>
              <a:rPr b="1" i="0" lang="en-US" sz="1470" u="none" cap="none" strike="noStrike">
                <a:solidFill>
                  <a:srgbClr val="102A39"/>
                </a:solidFill>
                <a:latin typeface="Inter"/>
                <a:ea typeface="Inter"/>
                <a:cs typeface="Inter"/>
                <a:sym typeface="Inter"/>
              </a:rPr>
              <a:t>CpGs e coeficientes do artigo</a:t>
            </a:r>
            <a:endParaRPr b="0" i="0" sz="1470" u="none" cap="none" strike="noStrike">
              <a:solidFill>
                <a:schemeClr val="dk1"/>
              </a:solidFill>
              <a:latin typeface="Inter"/>
              <a:ea typeface="Inter"/>
              <a:cs typeface="Inter"/>
              <a:sym typeface="Inter"/>
            </a:endParaRPr>
          </a:p>
        </p:txBody>
      </p:sp>
      <p:sp>
        <p:nvSpPr>
          <p:cNvPr id="314" name="Google Shape;314;p9"/>
          <p:cNvSpPr/>
          <p:nvPr/>
        </p:nvSpPr>
        <p:spPr>
          <a:xfrm>
            <a:off x="758952" y="4352544"/>
            <a:ext cx="3895344" cy="868680"/>
          </a:xfrm>
          <a:prstGeom prst="roundRect">
            <a:avLst>
              <a:gd fmla="val 1894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978408" y="4462272"/>
            <a:ext cx="33832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30"/>
              <a:buFont typeface="Inter"/>
              <a:buNone/>
            </a:pPr>
            <a:r>
              <a:rPr b="1" i="0" lang="en-US" sz="1030" u="none" cap="none" strike="noStrike">
                <a:solidFill>
                  <a:srgbClr val="067F75"/>
                </a:solidFill>
                <a:latin typeface="Inter"/>
                <a:ea typeface="Inter"/>
                <a:cs typeface="Inter"/>
                <a:sym typeface="Inter"/>
              </a:rPr>
              <a:t>VERIFICAÇÃO</a:t>
            </a:r>
            <a:endParaRPr b="0" i="0" sz="1030" u="none" cap="none" strike="noStrike">
              <a:solidFill>
                <a:schemeClr val="dk1"/>
              </a:solidFill>
              <a:latin typeface="Inter"/>
              <a:ea typeface="Inter"/>
              <a:cs typeface="Inter"/>
              <a:sym typeface="Inter"/>
            </a:endParaRPr>
          </a:p>
        </p:txBody>
      </p:sp>
      <p:sp>
        <p:nvSpPr>
          <p:cNvPr id="316" name="Google Shape;316;p9"/>
          <p:cNvSpPr/>
          <p:nvPr/>
        </p:nvSpPr>
        <p:spPr>
          <a:xfrm>
            <a:off x="978408" y="4709160"/>
            <a:ext cx="344728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470"/>
              <a:buFont typeface="Inter"/>
              <a:buNone/>
            </a:pPr>
            <a:r>
              <a:rPr b="1" i="0" lang="en-US" sz="1470" u="none" cap="none" strike="noStrike">
                <a:solidFill>
                  <a:srgbClr val="102A39"/>
                </a:solidFill>
                <a:latin typeface="Inter"/>
                <a:ea typeface="Inter"/>
                <a:cs typeface="Inter"/>
                <a:sym typeface="Inter"/>
              </a:rPr>
              <a:t>Probes presentes e ausentes</a:t>
            </a:r>
            <a:endParaRPr b="0" i="0" sz="1470" u="none" cap="none" strike="noStrike">
              <a:solidFill>
                <a:schemeClr val="dk1"/>
              </a:solidFill>
              <a:latin typeface="Inter"/>
              <a:ea typeface="Inter"/>
              <a:cs typeface="Inter"/>
              <a:sym typeface="Inter"/>
            </a:endParaRPr>
          </a:p>
        </p:txBody>
      </p:sp>
      <p:cxnSp>
        <p:nvCxnSpPr>
          <p:cNvPr id="317" name="Google Shape;317;p9"/>
          <p:cNvCxnSpPr/>
          <p:nvPr/>
        </p:nvCxnSpPr>
        <p:spPr>
          <a:xfrm>
            <a:off x="4882896" y="3675888"/>
            <a:ext cx="749808" cy="0"/>
          </a:xfrm>
          <a:prstGeom prst="straightConnector1">
            <a:avLst/>
          </a:prstGeom>
          <a:noFill/>
          <a:ln cap="flat" cmpd="sng" w="38100">
            <a:solidFill>
              <a:srgbClr val="067F75"/>
            </a:solidFill>
            <a:prstDash val="solid"/>
            <a:round/>
            <a:headEnd len="sm" w="sm" type="none"/>
            <a:tailEnd len="med" w="med" type="triangle"/>
          </a:ln>
        </p:spPr>
      </p:cxnSp>
      <p:sp>
        <p:nvSpPr>
          <p:cNvPr id="318" name="Google Shape;318;p9"/>
          <p:cNvSpPr/>
          <p:nvPr/>
        </p:nvSpPr>
        <p:spPr>
          <a:xfrm>
            <a:off x="5742432" y="2542032"/>
            <a:ext cx="2468880" cy="2267712"/>
          </a:xfrm>
          <a:prstGeom prst="roundRect">
            <a:avLst>
              <a:gd fmla="val 9274"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5961888" y="2935224"/>
            <a:ext cx="2020824"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500"/>
              <a:buFont typeface="Inter"/>
              <a:buNone/>
            </a:pPr>
            <a:r>
              <a:rPr b="1" i="0" lang="en-US" sz="2500" u="none" cap="none" strike="noStrike">
                <a:solidFill>
                  <a:srgbClr val="FFFFFF"/>
                </a:solidFill>
                <a:latin typeface="Inter"/>
                <a:ea typeface="Inter"/>
                <a:cs typeface="Inter"/>
                <a:sym typeface="Inter"/>
              </a:rPr>
              <a:t>clock.py</a:t>
            </a:r>
            <a:endParaRPr b="0" i="0" sz="2500" u="none" cap="none" strike="noStrike">
              <a:solidFill>
                <a:schemeClr val="dk1"/>
              </a:solidFill>
              <a:latin typeface="Inter"/>
              <a:ea typeface="Inter"/>
              <a:cs typeface="Inter"/>
              <a:sym typeface="Inter"/>
            </a:endParaRPr>
          </a:p>
        </p:txBody>
      </p:sp>
      <p:sp>
        <p:nvSpPr>
          <p:cNvPr id="320" name="Google Shape;320;p9"/>
          <p:cNvSpPr/>
          <p:nvPr/>
        </p:nvSpPr>
        <p:spPr>
          <a:xfrm>
            <a:off x="5934456" y="349300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6D1D1"/>
              </a:buClr>
              <a:buSzPts val="1400"/>
              <a:buFont typeface="Inter"/>
              <a:buNone/>
            </a:pPr>
            <a:r>
              <a:rPr b="0" i="0" lang="en-US" sz="1400" u="none" cap="none" strike="noStrike">
                <a:solidFill>
                  <a:srgbClr val="B6D1D1"/>
                </a:solidFill>
                <a:latin typeface="Inter"/>
                <a:ea typeface="Inter"/>
                <a:cs typeface="Inter"/>
                <a:sym typeface="Inter"/>
              </a:rPr>
              <a:t>O motor de cálculo</a:t>
            </a:r>
            <a:endParaRPr b="0" i="0" sz="1400" u="none" cap="none" strike="noStrike">
              <a:solidFill>
                <a:schemeClr val="dk1"/>
              </a:solidFill>
              <a:latin typeface="Inter"/>
              <a:ea typeface="Inter"/>
              <a:cs typeface="Inter"/>
              <a:sym typeface="Inter"/>
            </a:endParaRPr>
          </a:p>
        </p:txBody>
      </p:sp>
      <p:cxnSp>
        <p:nvCxnSpPr>
          <p:cNvPr id="321" name="Google Shape;321;p9"/>
          <p:cNvCxnSpPr/>
          <p:nvPr/>
        </p:nvCxnSpPr>
        <p:spPr>
          <a:xfrm>
            <a:off x="8348472" y="3675888"/>
            <a:ext cx="585216" cy="0"/>
          </a:xfrm>
          <a:prstGeom prst="straightConnector1">
            <a:avLst/>
          </a:prstGeom>
          <a:noFill/>
          <a:ln cap="flat" cmpd="sng" w="38100">
            <a:solidFill>
              <a:srgbClr val="067F75"/>
            </a:solidFill>
            <a:prstDash val="solid"/>
            <a:round/>
            <a:headEnd len="sm" w="sm" type="none"/>
            <a:tailEnd len="med" w="med" type="triangle"/>
          </a:ln>
        </p:spPr>
      </p:cxnSp>
      <p:sp>
        <p:nvSpPr>
          <p:cNvPr id="322" name="Google Shape;322;p9"/>
          <p:cNvSpPr/>
          <p:nvPr/>
        </p:nvSpPr>
        <p:spPr>
          <a:xfrm>
            <a:off x="9061704" y="2880360"/>
            <a:ext cx="2322576" cy="1581912"/>
          </a:xfrm>
          <a:prstGeom prst="roundRect">
            <a:avLst>
              <a:gd fmla="val 12717"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9272016" y="3127248"/>
            <a:ext cx="192024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SAÍDA</a:t>
            </a:r>
            <a:endParaRPr b="0" i="0" sz="1100" u="none" cap="none" strike="noStrike">
              <a:solidFill>
                <a:schemeClr val="dk1"/>
              </a:solidFill>
              <a:latin typeface="Inter"/>
              <a:ea typeface="Inter"/>
              <a:cs typeface="Inter"/>
              <a:sym typeface="Inter"/>
            </a:endParaRPr>
          </a:p>
        </p:txBody>
      </p:sp>
      <p:sp>
        <p:nvSpPr>
          <p:cNvPr id="324" name="Google Shape;324;p9"/>
          <p:cNvSpPr/>
          <p:nvPr/>
        </p:nvSpPr>
        <p:spPr>
          <a:xfrm>
            <a:off x="9272016" y="3538728"/>
            <a:ext cx="1920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10"/>
              <a:buFont typeface="Inter"/>
              <a:buNone/>
            </a:pPr>
            <a:r>
              <a:rPr b="1" i="0" lang="en-US" sz="1710" u="none" cap="none" strike="noStrike">
                <a:solidFill>
                  <a:srgbClr val="102A39"/>
                </a:solidFill>
                <a:latin typeface="Inter"/>
                <a:ea typeface="Inter"/>
                <a:cs typeface="Inter"/>
                <a:sym typeface="Inter"/>
              </a:rPr>
              <a:t>Idade estimada</a:t>
            </a:r>
            <a:endParaRPr b="0" i="0" sz="171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102A39"/>
              </a:buClr>
              <a:buSzPts val="1710"/>
              <a:buFont typeface="Inter"/>
              <a:buNone/>
            </a:pPr>
            <a:r>
              <a:rPr b="1" i="0" lang="en-US" sz="1710" u="none" cap="none" strike="noStrike">
                <a:solidFill>
                  <a:srgbClr val="102A39"/>
                </a:solidFill>
                <a:latin typeface="Inter"/>
                <a:ea typeface="Inter"/>
                <a:cs typeface="Inter"/>
                <a:sym typeface="Inter"/>
              </a:rPr>
              <a:t>+ relatório</a:t>
            </a:r>
            <a:endParaRPr b="0" i="0" sz="1710" u="none" cap="none" strike="noStrike">
              <a:solidFill>
                <a:schemeClr val="dk1"/>
              </a:solidFill>
              <a:latin typeface="Inter"/>
              <a:ea typeface="Inter"/>
              <a:cs typeface="Inter"/>
              <a:sym typeface="Inter"/>
            </a:endParaRPr>
          </a:p>
        </p:txBody>
      </p:sp>
      <p:sp>
        <p:nvSpPr>
          <p:cNvPr id="325" name="Google Shape;325;p9"/>
          <p:cNvSpPr/>
          <p:nvPr/>
        </p:nvSpPr>
        <p:spPr>
          <a:xfrm>
            <a:off x="905256" y="5687568"/>
            <a:ext cx="1051560" cy="338328"/>
          </a:xfrm>
          <a:prstGeom prst="roundRect">
            <a:avLst>
              <a:gd fmla="val 43243"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996696" y="5719572"/>
            <a:ext cx="8686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040"/>
              <a:buFont typeface="Inter"/>
              <a:buNone/>
            </a:pPr>
            <a:r>
              <a:rPr b="1" i="0" lang="en-US" sz="1040" u="none" cap="none" strike="noStrike">
                <a:solidFill>
                  <a:srgbClr val="102A39"/>
                </a:solidFill>
                <a:latin typeface="Inter"/>
                <a:ea typeface="Inter"/>
                <a:cs typeface="Inter"/>
                <a:sym typeface="Inter"/>
              </a:rPr>
              <a:t>Python</a:t>
            </a:r>
            <a:endParaRPr b="0" i="0" sz="1040" u="none" cap="none" strike="noStrike">
              <a:solidFill>
                <a:schemeClr val="dk1"/>
              </a:solidFill>
              <a:latin typeface="Inter"/>
              <a:ea typeface="Inter"/>
              <a:cs typeface="Inter"/>
              <a:sym typeface="Inter"/>
            </a:endParaRPr>
          </a:p>
        </p:txBody>
      </p:sp>
      <p:sp>
        <p:nvSpPr>
          <p:cNvPr id="327" name="Google Shape;327;p9"/>
          <p:cNvSpPr/>
          <p:nvPr/>
        </p:nvSpPr>
        <p:spPr>
          <a:xfrm>
            <a:off x="2139696" y="5687568"/>
            <a:ext cx="1188720" cy="338328"/>
          </a:xfrm>
          <a:prstGeom prst="roundRect">
            <a:avLst>
              <a:gd fmla="val 43243"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9"/>
          <p:cNvSpPr/>
          <p:nvPr/>
        </p:nvSpPr>
        <p:spPr>
          <a:xfrm>
            <a:off x="2231136" y="5719572"/>
            <a:ext cx="100584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040"/>
              <a:buFont typeface="Inter"/>
              <a:buNone/>
            </a:pPr>
            <a:r>
              <a:rPr b="1" i="0" lang="en-US" sz="1040" u="none" cap="none" strike="noStrike">
                <a:solidFill>
                  <a:srgbClr val="102A39"/>
                </a:solidFill>
                <a:latin typeface="Inter"/>
                <a:ea typeface="Inter"/>
                <a:cs typeface="Inter"/>
                <a:sym typeface="Inter"/>
              </a:rPr>
              <a:t>pandas</a:t>
            </a:r>
            <a:endParaRPr b="0" i="0" sz="1040" u="none" cap="none" strike="noStrike">
              <a:solidFill>
                <a:schemeClr val="dk1"/>
              </a:solidFill>
              <a:latin typeface="Inter"/>
              <a:ea typeface="Inter"/>
              <a:cs typeface="Inter"/>
              <a:sym typeface="Inter"/>
            </a:endParaRPr>
          </a:p>
        </p:txBody>
      </p:sp>
      <p:sp>
        <p:nvSpPr>
          <p:cNvPr id="329" name="Google Shape;329;p9"/>
          <p:cNvSpPr/>
          <p:nvPr/>
        </p:nvSpPr>
        <p:spPr>
          <a:xfrm>
            <a:off x="3502152" y="5687568"/>
            <a:ext cx="1115568" cy="338328"/>
          </a:xfrm>
          <a:prstGeom prst="roundRect">
            <a:avLst>
              <a:gd fmla="val 43243"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3593592" y="5719572"/>
            <a:ext cx="932688"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040"/>
              <a:buFont typeface="Inter"/>
              <a:buNone/>
            </a:pPr>
            <a:r>
              <a:rPr b="1" i="0" lang="en-US" sz="1040" u="none" cap="none" strike="noStrike">
                <a:solidFill>
                  <a:srgbClr val="102A39"/>
                </a:solidFill>
                <a:latin typeface="Inter"/>
                <a:ea typeface="Inter"/>
                <a:cs typeface="Inter"/>
                <a:sym typeface="Inter"/>
              </a:rPr>
              <a:t>NumPy</a:t>
            </a:r>
            <a:endParaRPr b="0" i="0" sz="1040" u="none" cap="none" strike="noStrike">
              <a:solidFill>
                <a:schemeClr val="dk1"/>
              </a:solidFill>
              <a:latin typeface="Inter"/>
              <a:ea typeface="Inter"/>
              <a:cs typeface="Inter"/>
              <a:sym typeface="Inter"/>
            </a:endParaRPr>
          </a:p>
        </p:txBody>
      </p:sp>
      <p:sp>
        <p:nvSpPr>
          <p:cNvPr id="331" name="Google Shape;331;p9"/>
          <p:cNvSpPr/>
          <p:nvPr/>
        </p:nvSpPr>
        <p:spPr>
          <a:xfrm>
            <a:off x="4782312" y="5687568"/>
            <a:ext cx="1335024" cy="338328"/>
          </a:xfrm>
          <a:prstGeom prst="roundRect">
            <a:avLst>
              <a:gd fmla="val 43243"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9"/>
          <p:cNvSpPr/>
          <p:nvPr/>
        </p:nvSpPr>
        <p:spPr>
          <a:xfrm>
            <a:off x="4873752" y="5719572"/>
            <a:ext cx="1152144"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040"/>
              <a:buFont typeface="Inter"/>
              <a:buNone/>
            </a:pPr>
            <a:r>
              <a:rPr b="1" i="0" lang="en-US" sz="1040" u="none" cap="none" strike="noStrike">
                <a:solidFill>
                  <a:srgbClr val="102A39"/>
                </a:solidFill>
                <a:latin typeface="Inter"/>
                <a:ea typeface="Inter"/>
                <a:cs typeface="Inter"/>
                <a:sym typeface="Inter"/>
              </a:rPr>
              <a:t>Streamlit</a:t>
            </a:r>
            <a:endParaRPr b="0" i="0" sz="1040" u="none" cap="none" strike="noStrike">
              <a:solidFill>
                <a:schemeClr val="dk1"/>
              </a:solidFill>
              <a:latin typeface="Inter"/>
              <a:ea typeface="Inter"/>
              <a:cs typeface="Inter"/>
              <a:sym typeface="Inter"/>
            </a:endParaRPr>
          </a:p>
        </p:txBody>
      </p:sp>
      <p:sp>
        <p:nvSpPr>
          <p:cNvPr id="333" name="Google Shape;333;p9"/>
          <p:cNvSpPr/>
          <p:nvPr/>
        </p:nvSpPr>
        <p:spPr>
          <a:xfrm>
            <a:off x="6327648" y="5687568"/>
            <a:ext cx="1554480" cy="338328"/>
          </a:xfrm>
          <a:prstGeom prst="roundRect">
            <a:avLst>
              <a:gd fmla="val 43243"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
          <p:cNvSpPr/>
          <p:nvPr/>
        </p:nvSpPr>
        <p:spPr>
          <a:xfrm>
            <a:off x="6419088" y="5719572"/>
            <a:ext cx="137160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040"/>
              <a:buFont typeface="Inter"/>
              <a:buNone/>
            </a:pPr>
            <a:r>
              <a:rPr b="1" i="0" lang="en-US" sz="1040" u="none" cap="none" strike="noStrike">
                <a:solidFill>
                  <a:srgbClr val="102A39"/>
                </a:solidFill>
                <a:latin typeface="Inter"/>
                <a:ea typeface="Inter"/>
                <a:cs typeface="Inter"/>
                <a:sym typeface="Inter"/>
              </a:rPr>
              <a:t>CSV / Excel</a:t>
            </a:r>
            <a:endParaRPr b="0" i="0" sz="1040" u="none" cap="none" strike="noStrike">
              <a:solidFill>
                <a:schemeClr val="dk1"/>
              </a:solidFill>
              <a:latin typeface="Inter"/>
              <a:ea typeface="Inter"/>
              <a:cs typeface="Inter"/>
              <a:sym typeface="Inter"/>
            </a:endParaRPr>
          </a:p>
        </p:txBody>
      </p:sp>
      <p:cxnSp>
        <p:nvCxnSpPr>
          <p:cNvPr id="335" name="Google Shape;335;p9"/>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336" name="Google Shape;336;p9"/>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337" name="Google Shape;337;p9"/>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06</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342" name="Shape 342"/>
        <p:cNvGrpSpPr/>
        <p:nvPr/>
      </p:nvGrpSpPr>
      <p:grpSpPr>
        <a:xfrm>
          <a:off x="0" y="0"/>
          <a:ext cx="0" cy="0"/>
          <a:chOff x="0" y="0"/>
          <a:chExt cx="0" cy="0"/>
        </a:xfrm>
      </p:grpSpPr>
      <p:sp>
        <p:nvSpPr>
          <p:cNvPr id="343" name="Google Shape;343;p10"/>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06 · </a:t>
            </a:r>
            <a:r>
              <a:rPr b="1" lang="en-US" sz="1050">
                <a:solidFill>
                  <a:srgbClr val="067F75"/>
                </a:solidFill>
                <a:latin typeface="Inter"/>
                <a:ea typeface="Inter"/>
                <a:cs typeface="Inter"/>
                <a:sym typeface="Inter"/>
              </a:rPr>
              <a:t>ORIGEM D</a:t>
            </a:r>
            <a:r>
              <a:rPr b="1" i="0" lang="en-US" sz="1050" u="none" cap="none" strike="noStrike">
                <a:solidFill>
                  <a:srgbClr val="067F75"/>
                </a:solidFill>
                <a:latin typeface="Inter"/>
                <a:ea typeface="Inter"/>
                <a:cs typeface="Inter"/>
                <a:sym typeface="Inter"/>
              </a:rPr>
              <a:t>OS DADOS</a:t>
            </a:r>
            <a:endParaRPr b="0" i="0" sz="1050" u="none" cap="none" strike="noStrike">
              <a:solidFill>
                <a:schemeClr val="dk1"/>
              </a:solidFill>
              <a:latin typeface="Inter"/>
              <a:ea typeface="Inter"/>
              <a:cs typeface="Inter"/>
              <a:sym typeface="Inter"/>
            </a:endParaRPr>
          </a:p>
        </p:txBody>
      </p:sp>
      <p:sp>
        <p:nvSpPr>
          <p:cNvPr id="344" name="Google Shape;344;p10"/>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A calculadora junta duas fontes públicas</a:t>
            </a:r>
            <a:endParaRPr b="0" i="0" sz="2950" u="none" cap="none" strike="noStrike">
              <a:solidFill>
                <a:schemeClr val="dk1"/>
              </a:solidFill>
              <a:latin typeface="Inter"/>
              <a:ea typeface="Inter"/>
              <a:cs typeface="Inter"/>
              <a:sym typeface="Inter"/>
            </a:endParaRPr>
          </a:p>
        </p:txBody>
      </p:sp>
      <p:sp>
        <p:nvSpPr>
          <p:cNvPr id="345" name="Google Shape;345;p10"/>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Uma fornece a fórmula; a outra fornece as medições do DNA.</a:t>
            </a:r>
            <a:endParaRPr b="0" i="0" sz="1420" u="none" cap="none" strike="noStrike">
              <a:solidFill>
                <a:schemeClr val="dk1"/>
              </a:solidFill>
              <a:latin typeface="Inter"/>
              <a:ea typeface="Inter"/>
              <a:cs typeface="Inter"/>
              <a:sym typeface="Inter"/>
            </a:endParaRPr>
          </a:p>
        </p:txBody>
      </p:sp>
      <p:sp>
        <p:nvSpPr>
          <p:cNvPr id="346" name="Google Shape;346;p10"/>
          <p:cNvSpPr/>
          <p:nvPr/>
        </p:nvSpPr>
        <p:spPr>
          <a:xfrm>
            <a:off x="713232" y="2075688"/>
            <a:ext cx="5221224" cy="3493008"/>
          </a:xfrm>
          <a:prstGeom prst="roundRect">
            <a:avLst>
              <a:gd fmla="val 628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0"/>
          <p:cNvSpPr/>
          <p:nvPr/>
        </p:nvSpPr>
        <p:spPr>
          <a:xfrm>
            <a:off x="6245352" y="2075688"/>
            <a:ext cx="5221224" cy="3493008"/>
          </a:xfrm>
          <a:prstGeom prst="roundRect">
            <a:avLst>
              <a:gd fmla="val 628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987552" y="2359152"/>
            <a:ext cx="2121408" cy="338328"/>
          </a:xfrm>
          <a:prstGeom prst="roundRect">
            <a:avLst>
              <a:gd fmla="val 43243"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p:nvPr/>
        </p:nvSpPr>
        <p:spPr>
          <a:xfrm>
            <a:off x="1078992" y="2391156"/>
            <a:ext cx="1938528"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F75"/>
              </a:buClr>
              <a:buSzPts val="1040"/>
              <a:buFont typeface="Inter"/>
              <a:buNone/>
            </a:pPr>
            <a:r>
              <a:rPr b="1" i="0" lang="en-US" sz="1040" u="none" cap="none" strike="noStrike">
                <a:solidFill>
                  <a:srgbClr val="067F75"/>
                </a:solidFill>
                <a:latin typeface="Inter"/>
                <a:ea typeface="Inter"/>
                <a:cs typeface="Inter"/>
                <a:sym typeface="Inter"/>
              </a:rPr>
              <a:t>ARTIGO CIENTÍFICO</a:t>
            </a:r>
            <a:endParaRPr b="0" i="0" sz="1040" u="none" cap="none" strike="noStrike">
              <a:solidFill>
                <a:schemeClr val="dk1"/>
              </a:solidFill>
              <a:latin typeface="Inter"/>
              <a:ea typeface="Inter"/>
              <a:cs typeface="Inter"/>
              <a:sym typeface="Inter"/>
            </a:endParaRPr>
          </a:p>
        </p:txBody>
      </p:sp>
      <p:sp>
        <p:nvSpPr>
          <p:cNvPr id="350" name="Google Shape;350;p10"/>
          <p:cNvSpPr/>
          <p:nvPr/>
        </p:nvSpPr>
        <p:spPr>
          <a:xfrm>
            <a:off x="987552" y="2880360"/>
            <a:ext cx="4654296" cy="7223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Garma &amp; Quintela-Fandiño</a:t>
            </a:r>
            <a:endParaRPr b="0" i="0" sz="2200" u="none" cap="none" strike="noStrike">
              <a:solidFill>
                <a:schemeClr val="dk1"/>
              </a:solidFill>
              <a:latin typeface="Inter"/>
              <a:ea typeface="Inter"/>
              <a:cs typeface="Inter"/>
              <a:sym typeface="Inter"/>
            </a:endParaRPr>
          </a:p>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(2024)</a:t>
            </a:r>
            <a:endParaRPr b="0" i="0" sz="2200" u="none" cap="none" strike="noStrike">
              <a:solidFill>
                <a:schemeClr val="dk1"/>
              </a:solidFill>
              <a:latin typeface="Inter"/>
              <a:ea typeface="Inter"/>
              <a:cs typeface="Inter"/>
              <a:sym typeface="Inter"/>
            </a:endParaRPr>
          </a:p>
        </p:txBody>
      </p:sp>
      <p:sp>
        <p:nvSpPr>
          <p:cNvPr id="351" name="Google Shape;351;p10"/>
          <p:cNvSpPr/>
          <p:nvPr/>
        </p:nvSpPr>
        <p:spPr>
          <a:xfrm>
            <a:off x="987552" y="3941064"/>
            <a:ext cx="182880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2400"/>
              <a:buFont typeface="Inter"/>
              <a:buNone/>
            </a:pPr>
            <a:r>
              <a:rPr b="1" i="0" lang="en-US" sz="2400" u="none" cap="none" strike="noStrike">
                <a:solidFill>
                  <a:srgbClr val="067F75"/>
                </a:solidFill>
                <a:latin typeface="Inter"/>
                <a:ea typeface="Inter"/>
                <a:cs typeface="Inter"/>
                <a:sym typeface="Inter"/>
              </a:rPr>
              <a:t>S5–S8</a:t>
            </a:r>
            <a:endParaRPr b="0" i="0" sz="2400" u="none" cap="none" strike="noStrike">
              <a:solidFill>
                <a:schemeClr val="dk1"/>
              </a:solidFill>
              <a:latin typeface="Inter"/>
              <a:ea typeface="Inter"/>
              <a:cs typeface="Inter"/>
              <a:sym typeface="Inter"/>
            </a:endParaRPr>
          </a:p>
        </p:txBody>
      </p:sp>
      <p:sp>
        <p:nvSpPr>
          <p:cNvPr id="352" name="Google Shape;352;p10"/>
          <p:cNvSpPr/>
          <p:nvPr/>
        </p:nvSpPr>
        <p:spPr>
          <a:xfrm>
            <a:off x="2852928" y="3968496"/>
            <a:ext cx="2587752"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50"/>
              <a:buFont typeface="Inter"/>
              <a:buNone/>
            </a:pPr>
            <a:r>
              <a:rPr b="0" i="0" lang="en-US" sz="1450" u="none" cap="none" strike="noStrike">
                <a:solidFill>
                  <a:srgbClr val="536979"/>
                </a:solidFill>
                <a:latin typeface="Inter"/>
                <a:ea typeface="Inter"/>
                <a:cs typeface="Inter"/>
                <a:sym typeface="Inter"/>
              </a:rPr>
              <a:t>pesos dos 4 relógios</a:t>
            </a:r>
            <a:endParaRPr b="0" i="0" sz="1450" u="none" cap="none" strike="noStrike">
              <a:solidFill>
                <a:schemeClr val="dk1"/>
              </a:solidFill>
              <a:latin typeface="Inter"/>
              <a:ea typeface="Inter"/>
              <a:cs typeface="Inter"/>
              <a:sym typeface="Inter"/>
            </a:endParaRPr>
          </a:p>
        </p:txBody>
      </p:sp>
      <p:sp>
        <p:nvSpPr>
          <p:cNvPr id="353" name="Google Shape;353;p10"/>
          <p:cNvSpPr/>
          <p:nvPr/>
        </p:nvSpPr>
        <p:spPr>
          <a:xfrm>
            <a:off x="987552" y="4608576"/>
            <a:ext cx="1828800" cy="3931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2400"/>
              <a:buFont typeface="Inter"/>
              <a:buNone/>
            </a:pPr>
            <a:r>
              <a:rPr b="1" i="0" lang="en-US" sz="2400" u="none" cap="none" strike="noStrike">
                <a:solidFill>
                  <a:srgbClr val="067F75"/>
                </a:solidFill>
                <a:latin typeface="Inter"/>
                <a:ea typeface="Inter"/>
                <a:cs typeface="Inter"/>
                <a:sym typeface="Inter"/>
              </a:rPr>
              <a:t>S2</a:t>
            </a:r>
            <a:endParaRPr b="0" i="0" sz="2400" u="none" cap="none" strike="noStrike">
              <a:solidFill>
                <a:schemeClr val="dk1"/>
              </a:solidFill>
              <a:latin typeface="Inter"/>
              <a:ea typeface="Inter"/>
              <a:cs typeface="Inter"/>
              <a:sym typeface="Inter"/>
            </a:endParaRPr>
          </a:p>
        </p:txBody>
      </p:sp>
      <p:sp>
        <p:nvSpPr>
          <p:cNvPr id="354" name="Google Shape;354;p10"/>
          <p:cNvSpPr/>
          <p:nvPr/>
        </p:nvSpPr>
        <p:spPr>
          <a:xfrm>
            <a:off x="2852928" y="4645152"/>
            <a:ext cx="2651760" cy="4297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50"/>
              <a:buFont typeface="Inter"/>
              <a:buNone/>
            </a:pPr>
            <a:r>
              <a:rPr b="0" i="0" lang="en-US" sz="1450" u="none" cap="none" strike="noStrike">
                <a:solidFill>
                  <a:srgbClr val="536979"/>
                </a:solidFill>
                <a:latin typeface="Inter"/>
                <a:ea typeface="Inter"/>
                <a:cs typeface="Inter"/>
                <a:sym typeface="Inter"/>
              </a:rPr>
              <a:t>médias para dados ausentes</a:t>
            </a:r>
            <a:endParaRPr b="0" i="0" sz="1450" u="none" cap="none" strike="noStrike">
              <a:solidFill>
                <a:schemeClr val="dk1"/>
              </a:solidFill>
              <a:latin typeface="Inter"/>
              <a:ea typeface="Inter"/>
              <a:cs typeface="Inter"/>
              <a:sym typeface="Inter"/>
            </a:endParaRPr>
          </a:p>
        </p:txBody>
      </p:sp>
      <p:sp>
        <p:nvSpPr>
          <p:cNvPr id="355" name="Google Shape;355;p10"/>
          <p:cNvSpPr/>
          <p:nvPr/>
        </p:nvSpPr>
        <p:spPr>
          <a:xfrm>
            <a:off x="6519672" y="2359152"/>
            <a:ext cx="2194560" cy="338328"/>
          </a:xfrm>
          <a:prstGeom prst="roundRect">
            <a:avLst>
              <a:gd fmla="val 43243"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0"/>
          <p:cNvSpPr/>
          <p:nvPr/>
        </p:nvSpPr>
        <p:spPr>
          <a:xfrm>
            <a:off x="6611112" y="2391156"/>
            <a:ext cx="20116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5325"/>
              </a:buClr>
              <a:buSzPts val="1040"/>
              <a:buFont typeface="Inter"/>
              <a:buNone/>
            </a:pPr>
            <a:r>
              <a:rPr b="1" i="0" lang="en-US" sz="1040" u="none" cap="none" strike="noStrike">
                <a:solidFill>
                  <a:srgbClr val="945325"/>
                </a:solidFill>
                <a:latin typeface="Inter"/>
                <a:ea typeface="Inter"/>
                <a:cs typeface="Inter"/>
                <a:sym typeface="Inter"/>
              </a:rPr>
              <a:t>BANCO PÚBLICO GEO</a:t>
            </a:r>
            <a:endParaRPr b="0" i="0" sz="1040" u="none" cap="none" strike="noStrike">
              <a:solidFill>
                <a:schemeClr val="dk1"/>
              </a:solidFill>
              <a:latin typeface="Inter"/>
              <a:ea typeface="Inter"/>
              <a:cs typeface="Inter"/>
              <a:sym typeface="Inter"/>
            </a:endParaRPr>
          </a:p>
        </p:txBody>
      </p:sp>
      <p:sp>
        <p:nvSpPr>
          <p:cNvPr id="357" name="Google Shape;357;p10"/>
          <p:cNvSpPr/>
          <p:nvPr/>
        </p:nvSpPr>
        <p:spPr>
          <a:xfrm>
            <a:off x="6519672" y="2935224"/>
            <a:ext cx="4471416"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500"/>
              <a:buFont typeface="Inter"/>
              <a:buNone/>
            </a:pPr>
            <a:r>
              <a:rPr b="1" i="0" lang="en-US" sz="2500" u="none" cap="none" strike="noStrike">
                <a:solidFill>
                  <a:srgbClr val="102A39"/>
                </a:solidFill>
                <a:latin typeface="Inter"/>
                <a:ea typeface="Inter"/>
                <a:cs typeface="Inter"/>
                <a:sym typeface="Inter"/>
              </a:rPr>
              <a:t>GSE246337</a:t>
            </a:r>
            <a:endParaRPr b="0" i="0" sz="2500" u="none" cap="none" strike="noStrike">
              <a:solidFill>
                <a:schemeClr val="dk1"/>
              </a:solidFill>
              <a:latin typeface="Inter"/>
              <a:ea typeface="Inter"/>
              <a:cs typeface="Inter"/>
              <a:sym typeface="Inter"/>
            </a:endParaRPr>
          </a:p>
        </p:txBody>
      </p:sp>
      <p:sp>
        <p:nvSpPr>
          <p:cNvPr id="358" name="Google Shape;358;p10"/>
          <p:cNvSpPr/>
          <p:nvPr/>
        </p:nvSpPr>
        <p:spPr>
          <a:xfrm>
            <a:off x="6519672" y="3685032"/>
            <a:ext cx="44348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800"/>
              <a:buFont typeface="Inter"/>
              <a:buNone/>
            </a:pPr>
            <a:r>
              <a:rPr b="1" i="0" lang="en-US" sz="1800" u="none" cap="none" strike="noStrike">
                <a:solidFill>
                  <a:srgbClr val="067F75"/>
                </a:solidFill>
                <a:latin typeface="Inter"/>
                <a:ea typeface="Inter"/>
                <a:cs typeface="Inter"/>
                <a:sym typeface="Inter"/>
              </a:rPr>
              <a:t>500 amostras EPIC v2</a:t>
            </a:r>
            <a:endParaRPr b="0" i="0" sz="1800" u="none" cap="none" strike="noStrike">
              <a:solidFill>
                <a:schemeClr val="dk1"/>
              </a:solidFill>
              <a:latin typeface="Inter"/>
              <a:ea typeface="Inter"/>
              <a:cs typeface="Inter"/>
              <a:sym typeface="Inter"/>
            </a:endParaRPr>
          </a:p>
        </p:txBody>
      </p:sp>
      <p:cxnSp>
        <p:nvCxnSpPr>
          <p:cNvPr id="359" name="Google Shape;359;p10"/>
          <p:cNvCxnSpPr/>
          <p:nvPr/>
        </p:nvCxnSpPr>
        <p:spPr>
          <a:xfrm>
            <a:off x="6574536" y="4526280"/>
            <a:ext cx="877824" cy="0"/>
          </a:xfrm>
          <a:prstGeom prst="straightConnector1">
            <a:avLst/>
          </a:prstGeom>
          <a:noFill/>
          <a:ln cap="flat" cmpd="sng" w="31750">
            <a:solidFill>
              <a:srgbClr val="067F75"/>
            </a:solidFill>
            <a:prstDash val="solid"/>
            <a:round/>
            <a:headEnd len="sm" w="sm" type="none"/>
            <a:tailEnd len="med" w="med" type="triangle"/>
          </a:ln>
        </p:spPr>
      </p:cxnSp>
      <p:sp>
        <p:nvSpPr>
          <p:cNvPr id="360" name="Google Shape;360;p10"/>
          <p:cNvSpPr/>
          <p:nvPr/>
        </p:nvSpPr>
        <p:spPr>
          <a:xfrm>
            <a:off x="7690104" y="4370832"/>
            <a:ext cx="3419856"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00"/>
              <a:buFont typeface="Inter"/>
              <a:buNone/>
            </a:pPr>
            <a:r>
              <a:rPr b="1" i="0" lang="en-US" sz="1700" u="none" cap="none" strike="noStrike">
                <a:solidFill>
                  <a:srgbClr val="102A39"/>
                </a:solidFill>
                <a:latin typeface="Inter"/>
                <a:ea typeface="Inter"/>
                <a:cs typeface="Inter"/>
                <a:sym typeface="Inter"/>
              </a:rPr>
              <a:t>5 pessoas selecionadas</a:t>
            </a:r>
            <a:endParaRPr b="0" i="0" sz="1700" u="none" cap="none" strike="noStrike">
              <a:solidFill>
                <a:schemeClr val="dk1"/>
              </a:solidFill>
              <a:latin typeface="Inter"/>
              <a:ea typeface="Inter"/>
              <a:cs typeface="Inter"/>
              <a:sym typeface="Inter"/>
            </a:endParaRPr>
          </a:p>
        </p:txBody>
      </p:sp>
      <p:sp>
        <p:nvSpPr>
          <p:cNvPr id="361" name="Google Shape;361;p10"/>
          <p:cNvSpPr/>
          <p:nvPr/>
        </p:nvSpPr>
        <p:spPr>
          <a:xfrm>
            <a:off x="6565392" y="5056632"/>
            <a:ext cx="442569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50"/>
              <a:buFont typeface="Inter"/>
              <a:buNone/>
            </a:pPr>
            <a:r>
              <a:rPr b="0" i="0" lang="en-US" sz="1350" u="none" cap="none" strike="noStrike">
                <a:solidFill>
                  <a:srgbClr val="536979"/>
                </a:solidFill>
                <a:latin typeface="Inter"/>
                <a:ea typeface="Inter"/>
                <a:cs typeface="Inter"/>
                <a:sym typeface="Inter"/>
              </a:rPr>
              <a:t>Metilação + idade cronológica conhecida</a:t>
            </a:r>
            <a:endParaRPr b="0" i="0" sz="1350" u="none" cap="none" strike="noStrike">
              <a:solidFill>
                <a:schemeClr val="dk1"/>
              </a:solidFill>
              <a:latin typeface="Inter"/>
              <a:ea typeface="Inter"/>
              <a:cs typeface="Inter"/>
              <a:sym typeface="Inter"/>
            </a:endParaRPr>
          </a:p>
        </p:txBody>
      </p:sp>
      <p:sp>
        <p:nvSpPr>
          <p:cNvPr id="362" name="Google Shape;362;p10"/>
          <p:cNvSpPr/>
          <p:nvPr/>
        </p:nvSpPr>
        <p:spPr>
          <a:xfrm>
            <a:off x="804672" y="5943600"/>
            <a:ext cx="106070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120"/>
              <a:buFont typeface="Inter"/>
              <a:buNone/>
            </a:pPr>
            <a:r>
              <a:rPr b="0" i="0" lang="en-US" sz="1120" u="none" cap="none" strike="noStrike">
                <a:solidFill>
                  <a:srgbClr val="536979"/>
                </a:solidFill>
                <a:latin typeface="Inter"/>
                <a:ea typeface="Inter"/>
                <a:cs typeface="Inter"/>
                <a:sym typeface="Inter"/>
              </a:rPr>
              <a:t>Fontes: artigo original • doi.org/10.1186/s13073-024-01387-4   |   GEO • GSE246337</a:t>
            </a:r>
            <a:endParaRPr b="0" i="0" sz="1120" u="none" cap="none" strike="noStrike">
              <a:solidFill>
                <a:schemeClr val="dk1"/>
              </a:solidFill>
              <a:latin typeface="Inter"/>
              <a:ea typeface="Inter"/>
              <a:cs typeface="Inter"/>
              <a:sym typeface="Inter"/>
            </a:endParaRPr>
          </a:p>
        </p:txBody>
      </p:sp>
      <p:cxnSp>
        <p:nvCxnSpPr>
          <p:cNvPr id="363" name="Google Shape;363;p10"/>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364" name="Google Shape;364;p10"/>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365" name="Google Shape;365;p10"/>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07</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370" name="Shape 370"/>
        <p:cNvGrpSpPr/>
        <p:nvPr/>
      </p:nvGrpSpPr>
      <p:grpSpPr>
        <a:xfrm>
          <a:off x="0" y="0"/>
          <a:ext cx="0" cy="0"/>
          <a:chOff x="0" y="0"/>
          <a:chExt cx="0" cy="0"/>
        </a:xfrm>
      </p:grpSpPr>
      <p:sp>
        <p:nvSpPr>
          <p:cNvPr id="371" name="Google Shape;371;p11"/>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07 · </a:t>
            </a:r>
            <a:r>
              <a:rPr b="1" lang="en-US" sz="1050">
                <a:solidFill>
                  <a:srgbClr val="067F75"/>
                </a:solidFill>
                <a:latin typeface="Inter"/>
                <a:ea typeface="Inter"/>
                <a:cs typeface="Inter"/>
                <a:sym typeface="Inter"/>
              </a:rPr>
              <a:t>FÓRMULA EXPLICADA</a:t>
            </a:r>
            <a:endParaRPr b="0" i="0" sz="1050" u="none" cap="none" strike="noStrike">
              <a:solidFill>
                <a:schemeClr val="dk1"/>
              </a:solidFill>
              <a:latin typeface="Inter"/>
              <a:ea typeface="Inter"/>
              <a:cs typeface="Inter"/>
              <a:sym typeface="Inter"/>
            </a:endParaRPr>
          </a:p>
        </p:txBody>
      </p:sp>
      <p:sp>
        <p:nvSpPr>
          <p:cNvPr id="372" name="Google Shape;372;p11"/>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Coeficiente</a:t>
            </a:r>
            <a:r>
              <a:rPr b="1" lang="en-US" sz="2950">
                <a:solidFill>
                  <a:srgbClr val="102A39"/>
                </a:solidFill>
                <a:latin typeface="Inter"/>
                <a:ea typeface="Inter"/>
                <a:cs typeface="Inter"/>
                <a:sym typeface="Inter"/>
              </a:rPr>
              <a:t> como</a:t>
            </a:r>
            <a:r>
              <a:rPr b="1" i="0" lang="en-US" sz="2950" u="none" cap="none" strike="noStrike">
                <a:solidFill>
                  <a:srgbClr val="102A39"/>
                </a:solidFill>
                <a:latin typeface="Inter"/>
                <a:ea typeface="Inter"/>
                <a:cs typeface="Inter"/>
                <a:sym typeface="Inter"/>
              </a:rPr>
              <a:t> “peso” de cada medição</a:t>
            </a:r>
            <a:endParaRPr b="0" i="0" sz="2950" u="none" cap="none" strike="noStrike">
              <a:solidFill>
                <a:schemeClr val="dk1"/>
              </a:solidFill>
              <a:latin typeface="Inter"/>
              <a:ea typeface="Inter"/>
              <a:cs typeface="Inter"/>
              <a:sym typeface="Inter"/>
            </a:endParaRPr>
          </a:p>
        </p:txBody>
      </p:sp>
      <p:sp>
        <p:nvSpPr>
          <p:cNvPr id="373" name="Google Shape;373;p11"/>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O relógio soma várias contribuições matemáticas para estimar a idade.</a:t>
            </a:r>
            <a:endParaRPr b="0" i="0" sz="1420" u="none" cap="none" strike="noStrike">
              <a:solidFill>
                <a:schemeClr val="dk1"/>
              </a:solidFill>
              <a:latin typeface="Inter"/>
              <a:ea typeface="Inter"/>
              <a:cs typeface="Inter"/>
              <a:sym typeface="Inter"/>
            </a:endParaRPr>
          </a:p>
        </p:txBody>
      </p:sp>
      <p:sp>
        <p:nvSpPr>
          <p:cNvPr id="374" name="Google Shape;374;p11"/>
          <p:cNvSpPr/>
          <p:nvPr/>
        </p:nvSpPr>
        <p:spPr>
          <a:xfrm>
            <a:off x="804672" y="1947672"/>
            <a:ext cx="3182112" cy="338328"/>
          </a:xfrm>
          <a:prstGeom prst="roundRect">
            <a:avLst>
              <a:gd fmla="val 43243"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1"/>
          <p:cNvSpPr/>
          <p:nvPr/>
        </p:nvSpPr>
        <p:spPr>
          <a:xfrm>
            <a:off x="896112" y="1979676"/>
            <a:ext cx="2999232"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4E20"/>
              </a:buClr>
              <a:buSzPts val="1040"/>
              <a:buFont typeface="Inter"/>
              <a:buNone/>
            </a:pPr>
            <a:r>
              <a:rPr b="1" i="0" lang="en-US" sz="1040" u="none" cap="none" strike="noStrike">
                <a:solidFill>
                  <a:srgbClr val="8B4E20"/>
                </a:solidFill>
                <a:latin typeface="Inter"/>
                <a:ea typeface="Inter"/>
                <a:cs typeface="Inter"/>
                <a:sym typeface="Inter"/>
              </a:rPr>
              <a:t>EXEMPLO FICTÍCIO · APENAS DIDÁTICO</a:t>
            </a:r>
            <a:endParaRPr b="0" i="0" sz="1040" u="none" cap="none" strike="noStrike">
              <a:solidFill>
                <a:schemeClr val="dk1"/>
              </a:solidFill>
              <a:latin typeface="Inter"/>
              <a:ea typeface="Inter"/>
              <a:cs typeface="Inter"/>
              <a:sym typeface="Inter"/>
            </a:endParaRPr>
          </a:p>
        </p:txBody>
      </p:sp>
      <p:sp>
        <p:nvSpPr>
          <p:cNvPr id="376" name="Google Shape;376;p11"/>
          <p:cNvSpPr/>
          <p:nvPr/>
        </p:nvSpPr>
        <p:spPr>
          <a:xfrm>
            <a:off x="832104" y="2542032"/>
            <a:ext cx="3337560" cy="2194560"/>
          </a:xfrm>
          <a:prstGeom prst="roundRect">
            <a:avLst>
              <a:gd fmla="val 8750"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1014984" y="2743200"/>
            <a:ext cx="2926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10"/>
              <a:buFont typeface="Inter"/>
              <a:buNone/>
            </a:pPr>
            <a:r>
              <a:rPr b="1" i="0" lang="en-US" sz="1610" u="none" cap="none" strike="noStrike">
                <a:solidFill>
                  <a:srgbClr val="102A39"/>
                </a:solidFill>
                <a:latin typeface="Inter"/>
                <a:ea typeface="Inter"/>
                <a:cs typeface="Inter"/>
                <a:sym typeface="Inter"/>
              </a:rPr>
              <a:t>Ponto de partida</a:t>
            </a:r>
            <a:endParaRPr b="0" i="0" sz="1610" u="none" cap="none" strike="noStrike">
              <a:solidFill>
                <a:schemeClr val="dk1"/>
              </a:solidFill>
              <a:latin typeface="Inter"/>
              <a:ea typeface="Inter"/>
              <a:cs typeface="Inter"/>
              <a:sym typeface="Inter"/>
            </a:endParaRPr>
          </a:p>
        </p:txBody>
      </p:sp>
      <p:sp>
        <p:nvSpPr>
          <p:cNvPr id="378" name="Google Shape;378;p11"/>
          <p:cNvSpPr/>
          <p:nvPr/>
        </p:nvSpPr>
        <p:spPr>
          <a:xfrm>
            <a:off x="1033272" y="321868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750"/>
              <a:buFont typeface="Inter"/>
              <a:buNone/>
            </a:pPr>
            <a:r>
              <a:rPr b="0" i="0" lang="en-US" sz="1750" u="none" cap="none" strike="noStrike">
                <a:solidFill>
                  <a:srgbClr val="536979"/>
                </a:solidFill>
                <a:latin typeface="Inter"/>
                <a:ea typeface="Inter"/>
                <a:cs typeface="Inter"/>
                <a:sym typeface="Inter"/>
              </a:rPr>
              <a:t>10</a:t>
            </a:r>
            <a:endParaRPr b="0" i="0" sz="1750" u="none" cap="none" strike="noStrike">
              <a:solidFill>
                <a:schemeClr val="dk1"/>
              </a:solidFill>
              <a:latin typeface="Inter"/>
              <a:ea typeface="Inter"/>
              <a:cs typeface="Inter"/>
              <a:sym typeface="Inter"/>
            </a:endParaRPr>
          </a:p>
        </p:txBody>
      </p:sp>
      <p:sp>
        <p:nvSpPr>
          <p:cNvPr id="379" name="Google Shape;379;p11"/>
          <p:cNvSpPr/>
          <p:nvPr/>
        </p:nvSpPr>
        <p:spPr>
          <a:xfrm>
            <a:off x="1033272" y="3822192"/>
            <a:ext cx="289864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3300"/>
              <a:buFont typeface="Inter"/>
              <a:buNone/>
            </a:pPr>
            <a:r>
              <a:rPr b="1" i="0" lang="en-US" sz="3300" u="none" cap="none" strike="noStrike">
                <a:solidFill>
                  <a:srgbClr val="102A39"/>
                </a:solidFill>
                <a:latin typeface="Inter"/>
                <a:ea typeface="Inter"/>
                <a:cs typeface="Inter"/>
                <a:sym typeface="Inter"/>
              </a:rPr>
              <a:t>10</a:t>
            </a:r>
            <a:endParaRPr b="0" i="0" sz="3300" u="none" cap="none" strike="noStrike">
              <a:solidFill>
                <a:schemeClr val="dk1"/>
              </a:solidFill>
              <a:latin typeface="Inter"/>
              <a:ea typeface="Inter"/>
              <a:cs typeface="Inter"/>
              <a:sym typeface="Inter"/>
            </a:endParaRPr>
          </a:p>
        </p:txBody>
      </p:sp>
      <p:sp>
        <p:nvSpPr>
          <p:cNvPr id="380" name="Google Shape;380;p11"/>
          <p:cNvSpPr/>
          <p:nvPr/>
        </p:nvSpPr>
        <p:spPr>
          <a:xfrm>
            <a:off x="4599432" y="2542032"/>
            <a:ext cx="3337560" cy="2194560"/>
          </a:xfrm>
          <a:prstGeom prst="roundRect">
            <a:avLst>
              <a:gd fmla="val 8750"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1"/>
          <p:cNvSpPr/>
          <p:nvPr/>
        </p:nvSpPr>
        <p:spPr>
          <a:xfrm>
            <a:off x="4782312" y="2743200"/>
            <a:ext cx="2926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10"/>
              <a:buFont typeface="Inter"/>
              <a:buNone/>
            </a:pPr>
            <a:r>
              <a:rPr b="1" i="0" lang="en-US" sz="1610" u="none" cap="none" strike="noStrike">
                <a:solidFill>
                  <a:srgbClr val="102A39"/>
                </a:solidFill>
                <a:latin typeface="Inter"/>
                <a:ea typeface="Inter"/>
                <a:cs typeface="Inter"/>
                <a:sym typeface="Inter"/>
              </a:rPr>
              <a:t>CpG A · linear</a:t>
            </a:r>
            <a:endParaRPr b="0" i="0" sz="1610" u="none" cap="none" strike="noStrike">
              <a:solidFill>
                <a:schemeClr val="dk1"/>
              </a:solidFill>
              <a:latin typeface="Inter"/>
              <a:ea typeface="Inter"/>
              <a:cs typeface="Inter"/>
              <a:sym typeface="Inter"/>
            </a:endParaRPr>
          </a:p>
        </p:txBody>
      </p:sp>
      <p:sp>
        <p:nvSpPr>
          <p:cNvPr id="382" name="Google Shape;382;p11"/>
          <p:cNvSpPr/>
          <p:nvPr/>
        </p:nvSpPr>
        <p:spPr>
          <a:xfrm>
            <a:off x="4800600" y="321868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750"/>
              <a:buFont typeface="Inter"/>
              <a:buNone/>
            </a:pPr>
            <a:r>
              <a:rPr b="0" i="0" lang="en-US" sz="1750" u="none" cap="none" strike="noStrike">
                <a:solidFill>
                  <a:srgbClr val="536979"/>
                </a:solidFill>
                <a:latin typeface="Inter"/>
                <a:ea typeface="Inter"/>
                <a:cs typeface="Inter"/>
                <a:sym typeface="Inter"/>
              </a:rPr>
              <a:t>40 × 0,50</a:t>
            </a:r>
            <a:endParaRPr b="0" i="0" sz="1750" u="none" cap="none" strike="noStrike">
              <a:solidFill>
                <a:schemeClr val="dk1"/>
              </a:solidFill>
              <a:latin typeface="Inter"/>
              <a:ea typeface="Inter"/>
              <a:cs typeface="Inter"/>
              <a:sym typeface="Inter"/>
            </a:endParaRPr>
          </a:p>
        </p:txBody>
      </p:sp>
      <p:sp>
        <p:nvSpPr>
          <p:cNvPr id="383" name="Google Shape;383;p11"/>
          <p:cNvSpPr/>
          <p:nvPr/>
        </p:nvSpPr>
        <p:spPr>
          <a:xfrm>
            <a:off x="4800600" y="3822192"/>
            <a:ext cx="289864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3300"/>
              <a:buFont typeface="Inter"/>
              <a:buNone/>
            </a:pPr>
            <a:r>
              <a:rPr b="1" i="0" lang="en-US" sz="3300" u="none" cap="none" strike="noStrike">
                <a:solidFill>
                  <a:srgbClr val="102A39"/>
                </a:solidFill>
                <a:latin typeface="Inter"/>
                <a:ea typeface="Inter"/>
                <a:cs typeface="Inter"/>
                <a:sym typeface="Inter"/>
              </a:rPr>
              <a:t>20</a:t>
            </a:r>
            <a:endParaRPr b="0" i="0" sz="3300" u="none" cap="none" strike="noStrike">
              <a:solidFill>
                <a:schemeClr val="dk1"/>
              </a:solidFill>
              <a:latin typeface="Inter"/>
              <a:ea typeface="Inter"/>
              <a:cs typeface="Inter"/>
              <a:sym typeface="Inter"/>
            </a:endParaRPr>
          </a:p>
        </p:txBody>
      </p:sp>
      <p:sp>
        <p:nvSpPr>
          <p:cNvPr id="384" name="Google Shape;384;p11"/>
          <p:cNvSpPr/>
          <p:nvPr/>
        </p:nvSpPr>
        <p:spPr>
          <a:xfrm>
            <a:off x="8366760" y="2542032"/>
            <a:ext cx="3337560" cy="2194560"/>
          </a:xfrm>
          <a:prstGeom prst="roundRect">
            <a:avLst>
              <a:gd fmla="val 8750" name="adj"/>
            </a:avLst>
          </a:prstGeom>
          <a:solidFill>
            <a:srgbClr val="FCE8D6"/>
          </a:solidFill>
          <a:ln cap="flat" cmpd="sng" w="12700">
            <a:solidFill>
              <a:srgbClr val="FCE8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1"/>
          <p:cNvSpPr/>
          <p:nvPr/>
        </p:nvSpPr>
        <p:spPr>
          <a:xfrm>
            <a:off x="8549640" y="2743200"/>
            <a:ext cx="292608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10"/>
              <a:buFont typeface="Inter"/>
              <a:buNone/>
            </a:pPr>
            <a:r>
              <a:rPr b="1" i="0" lang="en-US" sz="1610" u="none" cap="none" strike="noStrike">
                <a:solidFill>
                  <a:srgbClr val="102A39"/>
                </a:solidFill>
                <a:latin typeface="Inter"/>
                <a:ea typeface="Inter"/>
                <a:cs typeface="Inter"/>
                <a:sym typeface="Inter"/>
              </a:rPr>
              <a:t>CpG B · quadrático</a:t>
            </a:r>
            <a:endParaRPr b="0" i="0" sz="1610" u="none" cap="none" strike="noStrike">
              <a:solidFill>
                <a:schemeClr val="dk1"/>
              </a:solidFill>
              <a:latin typeface="Inter"/>
              <a:ea typeface="Inter"/>
              <a:cs typeface="Inter"/>
              <a:sym typeface="Inter"/>
            </a:endParaRPr>
          </a:p>
        </p:txBody>
      </p:sp>
      <p:sp>
        <p:nvSpPr>
          <p:cNvPr id="386" name="Google Shape;386;p11"/>
          <p:cNvSpPr/>
          <p:nvPr/>
        </p:nvSpPr>
        <p:spPr>
          <a:xfrm>
            <a:off x="8567928" y="3218688"/>
            <a:ext cx="2916936"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750"/>
              <a:buFont typeface="Inter"/>
              <a:buNone/>
            </a:pPr>
            <a:r>
              <a:rPr b="0" i="0" lang="en-US" sz="1750" u="none" cap="none" strike="noStrike">
                <a:solidFill>
                  <a:srgbClr val="536979"/>
                </a:solidFill>
                <a:latin typeface="Inter"/>
                <a:ea typeface="Inter"/>
                <a:cs typeface="Inter"/>
                <a:sym typeface="Inter"/>
              </a:rPr>
              <a:t>10 × (0,20)²</a:t>
            </a:r>
            <a:endParaRPr b="0" i="0" sz="1750" u="none" cap="none" strike="noStrike">
              <a:solidFill>
                <a:schemeClr val="dk1"/>
              </a:solidFill>
              <a:latin typeface="Inter"/>
              <a:ea typeface="Inter"/>
              <a:cs typeface="Inter"/>
              <a:sym typeface="Inter"/>
            </a:endParaRPr>
          </a:p>
        </p:txBody>
      </p:sp>
      <p:sp>
        <p:nvSpPr>
          <p:cNvPr id="387" name="Google Shape;387;p11"/>
          <p:cNvSpPr/>
          <p:nvPr/>
        </p:nvSpPr>
        <p:spPr>
          <a:xfrm>
            <a:off x="8567928" y="3822192"/>
            <a:ext cx="2898648"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3300"/>
              <a:buFont typeface="Inter"/>
              <a:buNone/>
            </a:pPr>
            <a:r>
              <a:rPr b="1" i="0" lang="en-US" sz="3300" u="none" cap="none" strike="noStrike">
                <a:solidFill>
                  <a:srgbClr val="102A39"/>
                </a:solidFill>
                <a:latin typeface="Inter"/>
                <a:ea typeface="Inter"/>
                <a:cs typeface="Inter"/>
                <a:sym typeface="Inter"/>
              </a:rPr>
              <a:t>0,4</a:t>
            </a:r>
            <a:endParaRPr b="0" i="0" sz="3300" u="none" cap="none" strike="noStrike">
              <a:solidFill>
                <a:schemeClr val="dk1"/>
              </a:solidFill>
              <a:latin typeface="Inter"/>
              <a:ea typeface="Inter"/>
              <a:cs typeface="Inter"/>
              <a:sym typeface="Inter"/>
            </a:endParaRPr>
          </a:p>
        </p:txBody>
      </p:sp>
      <p:sp>
        <p:nvSpPr>
          <p:cNvPr id="388" name="Google Shape;388;p11"/>
          <p:cNvSpPr/>
          <p:nvPr/>
        </p:nvSpPr>
        <p:spPr>
          <a:xfrm>
            <a:off x="1024128" y="5221224"/>
            <a:ext cx="48920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00"/>
              <a:buFont typeface="Inter"/>
              <a:buNone/>
            </a:pPr>
            <a:r>
              <a:rPr b="1" i="0" lang="en-US" sz="2900" u="none" cap="none" strike="noStrike">
                <a:solidFill>
                  <a:srgbClr val="102A39"/>
                </a:solidFill>
                <a:latin typeface="Inter"/>
                <a:ea typeface="Inter"/>
                <a:cs typeface="Inter"/>
                <a:sym typeface="Inter"/>
              </a:rPr>
              <a:t>10 + 20 + 0,4</a:t>
            </a:r>
            <a:endParaRPr b="0" i="0" sz="2900" u="none" cap="none" strike="noStrike">
              <a:solidFill>
                <a:schemeClr val="dk1"/>
              </a:solidFill>
              <a:latin typeface="Inter"/>
              <a:ea typeface="Inter"/>
              <a:cs typeface="Inter"/>
              <a:sym typeface="Inter"/>
            </a:endParaRPr>
          </a:p>
        </p:txBody>
      </p:sp>
      <p:sp>
        <p:nvSpPr>
          <p:cNvPr id="389" name="Google Shape;389;p11"/>
          <p:cNvSpPr/>
          <p:nvPr/>
        </p:nvSpPr>
        <p:spPr>
          <a:xfrm>
            <a:off x="5861304" y="5230368"/>
            <a:ext cx="365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3000"/>
              <a:buFont typeface="Inter"/>
              <a:buNone/>
            </a:pPr>
            <a:r>
              <a:rPr b="1" i="0" lang="en-US" sz="3000" u="none" cap="none" strike="noStrike">
                <a:solidFill>
                  <a:srgbClr val="067F75"/>
                </a:solidFill>
                <a:latin typeface="Inter"/>
                <a:ea typeface="Inter"/>
                <a:cs typeface="Inter"/>
                <a:sym typeface="Inter"/>
              </a:rPr>
              <a:t>=</a:t>
            </a:r>
            <a:endParaRPr b="0" i="0" sz="3000" u="none" cap="none" strike="noStrike">
              <a:solidFill>
                <a:schemeClr val="dk1"/>
              </a:solidFill>
              <a:latin typeface="Inter"/>
              <a:ea typeface="Inter"/>
              <a:cs typeface="Inter"/>
              <a:sym typeface="Inter"/>
            </a:endParaRPr>
          </a:p>
        </p:txBody>
      </p:sp>
      <p:sp>
        <p:nvSpPr>
          <p:cNvPr id="390" name="Google Shape;390;p11"/>
          <p:cNvSpPr/>
          <p:nvPr/>
        </p:nvSpPr>
        <p:spPr>
          <a:xfrm>
            <a:off x="6492240" y="5020056"/>
            <a:ext cx="4873752" cy="1005840"/>
          </a:xfrm>
          <a:prstGeom prst="roundRect">
            <a:avLst>
              <a:gd fmla="val 20000"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1"/>
          <p:cNvSpPr/>
          <p:nvPr/>
        </p:nvSpPr>
        <p:spPr>
          <a:xfrm>
            <a:off x="6665976" y="5230368"/>
            <a:ext cx="4517136"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Inter"/>
              <a:buNone/>
            </a:pPr>
            <a:r>
              <a:rPr b="1" i="0" lang="en-US" sz="3000" u="none" cap="none" strike="noStrike">
                <a:solidFill>
                  <a:srgbClr val="FFFFFF"/>
                </a:solidFill>
                <a:latin typeface="Inter"/>
                <a:ea typeface="Inter"/>
                <a:cs typeface="Inter"/>
                <a:sym typeface="Inter"/>
              </a:rPr>
              <a:t>30,4 anos</a:t>
            </a:r>
            <a:endParaRPr b="0" i="0" sz="3000" u="none" cap="none" strike="noStrike">
              <a:solidFill>
                <a:schemeClr val="dk1"/>
              </a:solidFill>
              <a:latin typeface="Inter"/>
              <a:ea typeface="Inter"/>
              <a:cs typeface="Inter"/>
              <a:sym typeface="Inter"/>
            </a:endParaRPr>
          </a:p>
        </p:txBody>
      </p:sp>
      <p:cxnSp>
        <p:nvCxnSpPr>
          <p:cNvPr id="392" name="Google Shape;392;p11"/>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393" name="Google Shape;393;p11"/>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394" name="Google Shape;394;p11"/>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08</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399" name="Shape 399"/>
        <p:cNvGrpSpPr/>
        <p:nvPr/>
      </p:nvGrpSpPr>
      <p:grpSpPr>
        <a:xfrm>
          <a:off x="0" y="0"/>
          <a:ext cx="0" cy="0"/>
          <a:chOff x="0" y="0"/>
          <a:chExt cx="0" cy="0"/>
        </a:xfrm>
      </p:grpSpPr>
      <p:sp>
        <p:nvSpPr>
          <p:cNvPr id="400" name="Google Shape;400;p12"/>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08 · QUAL RELÓGIO É APLICADO?</a:t>
            </a:r>
            <a:endParaRPr b="0" i="0" sz="1050" u="none" cap="none" strike="noStrike">
              <a:solidFill>
                <a:schemeClr val="dk1"/>
              </a:solidFill>
              <a:latin typeface="Inter"/>
              <a:ea typeface="Inter"/>
              <a:cs typeface="Inter"/>
              <a:sym typeface="Inter"/>
            </a:endParaRPr>
          </a:p>
        </p:txBody>
      </p:sp>
      <p:sp>
        <p:nvSpPr>
          <p:cNvPr id="401" name="Google Shape;401;p12"/>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Primeiro calcula uma idade inicial… depois escolhe</a:t>
            </a:r>
            <a:endParaRPr b="0" i="0" sz="2950" u="none" cap="none" strike="noStrike">
              <a:solidFill>
                <a:schemeClr val="dk1"/>
              </a:solidFill>
              <a:latin typeface="Inter"/>
              <a:ea typeface="Inter"/>
              <a:cs typeface="Inter"/>
              <a:sym typeface="Inter"/>
            </a:endParaRPr>
          </a:p>
        </p:txBody>
      </p:sp>
      <p:sp>
        <p:nvSpPr>
          <p:cNvPr id="402" name="Google Shape;402;p12"/>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A escolha é feita pela primeira estimativa, NÃO pela idade real informada da pessoa.</a:t>
            </a:r>
            <a:endParaRPr b="0" i="0" sz="1420" u="none" cap="none" strike="noStrike">
              <a:solidFill>
                <a:schemeClr val="dk1"/>
              </a:solidFill>
              <a:latin typeface="Inter"/>
              <a:ea typeface="Inter"/>
              <a:cs typeface="Inter"/>
              <a:sym typeface="Inter"/>
            </a:endParaRPr>
          </a:p>
        </p:txBody>
      </p:sp>
      <p:sp>
        <p:nvSpPr>
          <p:cNvPr id="403" name="Google Shape;403;p12"/>
          <p:cNvSpPr/>
          <p:nvPr/>
        </p:nvSpPr>
        <p:spPr>
          <a:xfrm>
            <a:off x="3794760" y="1993392"/>
            <a:ext cx="4526280" cy="978408"/>
          </a:xfrm>
          <a:prstGeom prst="roundRect">
            <a:avLst>
              <a:gd fmla="val 19626"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2"/>
          <p:cNvSpPr/>
          <p:nvPr/>
        </p:nvSpPr>
        <p:spPr>
          <a:xfrm>
            <a:off x="4096512" y="2148840"/>
            <a:ext cx="3931920"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900"/>
              <a:buFont typeface="Inter"/>
              <a:buNone/>
            </a:pPr>
            <a:r>
              <a:rPr b="1" i="0" lang="en-US" sz="1900" u="none" cap="none" strike="noStrike">
                <a:solidFill>
                  <a:srgbClr val="FFFFFF"/>
                </a:solidFill>
                <a:latin typeface="Inter"/>
                <a:ea typeface="Inter"/>
                <a:cs typeface="Inter"/>
                <a:sym typeface="Inter"/>
              </a:rPr>
              <a:t>MODELO GERAL · S5</a:t>
            </a:r>
            <a:endParaRPr b="0" i="0" sz="1900" u="none" cap="none" strike="noStrike">
              <a:solidFill>
                <a:schemeClr val="dk1"/>
              </a:solidFill>
              <a:latin typeface="Inter"/>
              <a:ea typeface="Inter"/>
              <a:cs typeface="Inter"/>
              <a:sym typeface="Inter"/>
            </a:endParaRPr>
          </a:p>
        </p:txBody>
      </p:sp>
      <p:sp>
        <p:nvSpPr>
          <p:cNvPr id="405" name="Google Shape;405;p12"/>
          <p:cNvSpPr/>
          <p:nvPr/>
        </p:nvSpPr>
        <p:spPr>
          <a:xfrm>
            <a:off x="4069080" y="2532888"/>
            <a:ext cx="397764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2D9D9"/>
              </a:buClr>
              <a:buSzPts val="1260"/>
              <a:buFont typeface="Inter"/>
              <a:buNone/>
            </a:pPr>
            <a:r>
              <a:rPr b="0" i="0" lang="en-US" sz="1260" u="none" cap="none" strike="noStrike">
                <a:solidFill>
                  <a:srgbClr val="C2D9D9"/>
                </a:solidFill>
                <a:latin typeface="Inter"/>
                <a:ea typeface="Inter"/>
                <a:cs typeface="Inter"/>
                <a:sym typeface="Inter"/>
              </a:rPr>
              <a:t>idade epigenética preliminar</a:t>
            </a:r>
            <a:endParaRPr b="0" i="0" sz="1260" u="none" cap="none" strike="noStrike">
              <a:solidFill>
                <a:schemeClr val="dk1"/>
              </a:solidFill>
              <a:latin typeface="Inter"/>
              <a:ea typeface="Inter"/>
              <a:cs typeface="Inter"/>
              <a:sym typeface="Inter"/>
            </a:endParaRPr>
          </a:p>
        </p:txBody>
      </p:sp>
      <p:cxnSp>
        <p:nvCxnSpPr>
          <p:cNvPr id="406" name="Google Shape;406;p12"/>
          <p:cNvCxnSpPr/>
          <p:nvPr/>
        </p:nvCxnSpPr>
        <p:spPr>
          <a:xfrm>
            <a:off x="6053328" y="2971800"/>
            <a:ext cx="0" cy="411480"/>
          </a:xfrm>
          <a:prstGeom prst="straightConnector1">
            <a:avLst/>
          </a:prstGeom>
          <a:noFill/>
          <a:ln cap="flat" cmpd="sng" w="27925">
            <a:solidFill>
              <a:srgbClr val="067F75"/>
            </a:solidFill>
            <a:prstDash val="solid"/>
            <a:round/>
            <a:headEnd len="sm" w="sm" type="none"/>
            <a:tailEnd len="sm" w="sm" type="none"/>
          </a:ln>
        </p:spPr>
      </p:cxnSp>
      <p:cxnSp>
        <p:nvCxnSpPr>
          <p:cNvPr id="407" name="Google Shape;407;p12"/>
          <p:cNvCxnSpPr/>
          <p:nvPr/>
        </p:nvCxnSpPr>
        <p:spPr>
          <a:xfrm>
            <a:off x="2395728" y="3383280"/>
            <a:ext cx="7406640" cy="0"/>
          </a:xfrm>
          <a:prstGeom prst="straightConnector1">
            <a:avLst/>
          </a:prstGeom>
          <a:noFill/>
          <a:ln cap="flat" cmpd="sng" w="27925">
            <a:solidFill>
              <a:srgbClr val="067F75"/>
            </a:solidFill>
            <a:prstDash val="solid"/>
            <a:round/>
            <a:headEnd len="sm" w="sm" type="none"/>
            <a:tailEnd len="sm" w="sm" type="none"/>
          </a:ln>
        </p:spPr>
      </p:cxnSp>
      <p:cxnSp>
        <p:nvCxnSpPr>
          <p:cNvPr id="408" name="Google Shape;408;p12"/>
          <p:cNvCxnSpPr/>
          <p:nvPr/>
        </p:nvCxnSpPr>
        <p:spPr>
          <a:xfrm>
            <a:off x="2395728" y="3383280"/>
            <a:ext cx="0" cy="393192"/>
          </a:xfrm>
          <a:prstGeom prst="straightConnector1">
            <a:avLst/>
          </a:prstGeom>
          <a:noFill/>
          <a:ln cap="flat" cmpd="sng" w="27925">
            <a:solidFill>
              <a:srgbClr val="067F75"/>
            </a:solidFill>
            <a:prstDash val="solid"/>
            <a:round/>
            <a:headEnd len="sm" w="sm" type="none"/>
            <a:tailEnd len="med" w="med" type="triangle"/>
          </a:ln>
        </p:spPr>
      </p:cxnSp>
      <p:cxnSp>
        <p:nvCxnSpPr>
          <p:cNvPr id="409" name="Google Shape;409;p12"/>
          <p:cNvCxnSpPr/>
          <p:nvPr/>
        </p:nvCxnSpPr>
        <p:spPr>
          <a:xfrm>
            <a:off x="6053328" y="3383280"/>
            <a:ext cx="0" cy="393192"/>
          </a:xfrm>
          <a:prstGeom prst="straightConnector1">
            <a:avLst/>
          </a:prstGeom>
          <a:noFill/>
          <a:ln cap="flat" cmpd="sng" w="27925">
            <a:solidFill>
              <a:srgbClr val="067F75"/>
            </a:solidFill>
            <a:prstDash val="solid"/>
            <a:round/>
            <a:headEnd len="sm" w="sm" type="none"/>
            <a:tailEnd len="med" w="med" type="triangle"/>
          </a:ln>
        </p:spPr>
      </p:cxnSp>
      <p:cxnSp>
        <p:nvCxnSpPr>
          <p:cNvPr id="410" name="Google Shape;410;p12"/>
          <p:cNvCxnSpPr/>
          <p:nvPr/>
        </p:nvCxnSpPr>
        <p:spPr>
          <a:xfrm>
            <a:off x="9802368" y="3383280"/>
            <a:ext cx="0" cy="393192"/>
          </a:xfrm>
          <a:prstGeom prst="straightConnector1">
            <a:avLst/>
          </a:prstGeom>
          <a:noFill/>
          <a:ln cap="flat" cmpd="sng" w="27925">
            <a:solidFill>
              <a:srgbClr val="067F75"/>
            </a:solidFill>
            <a:prstDash val="solid"/>
            <a:round/>
            <a:headEnd len="sm" w="sm" type="none"/>
            <a:tailEnd len="med" w="med" type="triangle"/>
          </a:ln>
        </p:spPr>
      </p:cxnSp>
      <p:sp>
        <p:nvSpPr>
          <p:cNvPr id="411" name="Google Shape;411;p12"/>
          <p:cNvSpPr/>
          <p:nvPr/>
        </p:nvSpPr>
        <p:spPr>
          <a:xfrm>
            <a:off x="731520" y="3831336"/>
            <a:ext cx="3447288" cy="1307592"/>
          </a:xfrm>
          <a:prstGeom prst="roundRect">
            <a:avLst>
              <a:gd fmla="val 15385"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877824" y="4023360"/>
            <a:ext cx="31363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710"/>
              <a:buFont typeface="Inter"/>
              <a:buNone/>
            </a:pPr>
            <a:r>
              <a:rPr b="1" i="0" lang="en-US" sz="1710" u="none" cap="none" strike="noStrike">
                <a:solidFill>
                  <a:srgbClr val="102A39"/>
                </a:solidFill>
                <a:latin typeface="Inter"/>
                <a:ea typeface="Inter"/>
                <a:cs typeface="Inter"/>
                <a:sym typeface="Inter"/>
              </a:rPr>
              <a:t>JOVEM · S6</a:t>
            </a:r>
            <a:endParaRPr b="0" i="0" sz="1710" u="none" cap="none" strike="noStrike">
              <a:solidFill>
                <a:schemeClr val="dk1"/>
              </a:solidFill>
              <a:latin typeface="Inter"/>
              <a:ea typeface="Inter"/>
              <a:cs typeface="Inter"/>
              <a:sym typeface="Inter"/>
            </a:endParaRPr>
          </a:p>
        </p:txBody>
      </p:sp>
      <p:sp>
        <p:nvSpPr>
          <p:cNvPr id="413" name="Google Shape;413;p12"/>
          <p:cNvSpPr/>
          <p:nvPr/>
        </p:nvSpPr>
        <p:spPr>
          <a:xfrm>
            <a:off x="841248" y="4498848"/>
            <a:ext cx="3218688"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até 36 anos</a:t>
            </a:r>
            <a:endParaRPr b="0" i="0" sz="1360" u="none" cap="none" strike="noStrike">
              <a:solidFill>
                <a:schemeClr val="dk1"/>
              </a:solidFill>
              <a:latin typeface="Inter"/>
              <a:ea typeface="Inter"/>
              <a:cs typeface="Inter"/>
              <a:sym typeface="Inter"/>
            </a:endParaRPr>
          </a:p>
        </p:txBody>
      </p:sp>
      <p:sp>
        <p:nvSpPr>
          <p:cNvPr id="414" name="Google Shape;414;p12"/>
          <p:cNvSpPr/>
          <p:nvPr/>
        </p:nvSpPr>
        <p:spPr>
          <a:xfrm>
            <a:off x="4379976" y="3831336"/>
            <a:ext cx="3447288" cy="1307592"/>
          </a:xfrm>
          <a:prstGeom prst="roundRect">
            <a:avLst>
              <a:gd fmla="val 15385" name="adj"/>
            </a:avLst>
          </a:prstGeom>
          <a:solidFill>
            <a:srgbClr val="DDEBF5"/>
          </a:solidFill>
          <a:ln cap="flat" cmpd="sng" w="12700">
            <a:solidFill>
              <a:srgbClr val="DDEB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2"/>
          <p:cNvSpPr/>
          <p:nvPr/>
        </p:nvSpPr>
        <p:spPr>
          <a:xfrm>
            <a:off x="4526280" y="4023360"/>
            <a:ext cx="31363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710"/>
              <a:buFont typeface="Inter"/>
              <a:buNone/>
            </a:pPr>
            <a:r>
              <a:rPr b="1" i="0" lang="en-US" sz="1710" u="none" cap="none" strike="noStrike">
                <a:solidFill>
                  <a:srgbClr val="102A39"/>
                </a:solidFill>
                <a:latin typeface="Inter"/>
                <a:ea typeface="Inter"/>
                <a:cs typeface="Inter"/>
                <a:sym typeface="Inter"/>
              </a:rPr>
              <a:t>INTERMEDIÁRIO · S7</a:t>
            </a:r>
            <a:endParaRPr b="0" i="0" sz="1710" u="none" cap="none" strike="noStrike">
              <a:solidFill>
                <a:schemeClr val="dk1"/>
              </a:solidFill>
              <a:latin typeface="Inter"/>
              <a:ea typeface="Inter"/>
              <a:cs typeface="Inter"/>
              <a:sym typeface="Inter"/>
            </a:endParaRPr>
          </a:p>
        </p:txBody>
      </p:sp>
      <p:sp>
        <p:nvSpPr>
          <p:cNvPr id="416" name="Google Shape;416;p12"/>
          <p:cNvSpPr/>
          <p:nvPr/>
        </p:nvSpPr>
        <p:spPr>
          <a:xfrm>
            <a:off x="4489704" y="4498848"/>
            <a:ext cx="3218688"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mais de 36 e menos de 59</a:t>
            </a:r>
            <a:endParaRPr b="0" i="0" sz="1360" u="none" cap="none" strike="noStrike">
              <a:solidFill>
                <a:schemeClr val="dk1"/>
              </a:solidFill>
              <a:latin typeface="Inter"/>
              <a:ea typeface="Inter"/>
              <a:cs typeface="Inter"/>
              <a:sym typeface="Inter"/>
            </a:endParaRPr>
          </a:p>
        </p:txBody>
      </p:sp>
      <p:sp>
        <p:nvSpPr>
          <p:cNvPr id="417" name="Google Shape;417;p12"/>
          <p:cNvSpPr/>
          <p:nvPr/>
        </p:nvSpPr>
        <p:spPr>
          <a:xfrm>
            <a:off x="8046720" y="3831336"/>
            <a:ext cx="3447288" cy="1307592"/>
          </a:xfrm>
          <a:prstGeom prst="roundRect">
            <a:avLst>
              <a:gd fmla="val 15385"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2"/>
          <p:cNvSpPr/>
          <p:nvPr/>
        </p:nvSpPr>
        <p:spPr>
          <a:xfrm>
            <a:off x="8193024" y="4023360"/>
            <a:ext cx="31363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710"/>
              <a:buFont typeface="Inter"/>
              <a:buNone/>
            </a:pPr>
            <a:r>
              <a:rPr b="1" i="0" lang="en-US" sz="1710" u="none" cap="none" strike="noStrike">
                <a:solidFill>
                  <a:srgbClr val="102A39"/>
                </a:solidFill>
                <a:latin typeface="Inter"/>
                <a:ea typeface="Inter"/>
                <a:cs typeface="Inter"/>
                <a:sym typeface="Inter"/>
              </a:rPr>
              <a:t>IDOSO · S8</a:t>
            </a:r>
            <a:endParaRPr b="0" i="0" sz="1710" u="none" cap="none" strike="noStrike">
              <a:solidFill>
                <a:schemeClr val="dk1"/>
              </a:solidFill>
              <a:latin typeface="Inter"/>
              <a:ea typeface="Inter"/>
              <a:cs typeface="Inter"/>
              <a:sym typeface="Inter"/>
            </a:endParaRPr>
          </a:p>
        </p:txBody>
      </p:sp>
      <p:sp>
        <p:nvSpPr>
          <p:cNvPr id="419" name="Google Shape;419;p12"/>
          <p:cNvSpPr/>
          <p:nvPr/>
        </p:nvSpPr>
        <p:spPr>
          <a:xfrm>
            <a:off x="8156448" y="4498848"/>
            <a:ext cx="3218688" cy="393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59 anos ou mais</a:t>
            </a:r>
            <a:endParaRPr b="0" i="0" sz="1360" u="none" cap="none" strike="noStrike">
              <a:solidFill>
                <a:schemeClr val="dk1"/>
              </a:solidFill>
              <a:latin typeface="Inter"/>
              <a:ea typeface="Inter"/>
              <a:cs typeface="Inter"/>
              <a:sym typeface="Inter"/>
            </a:endParaRPr>
          </a:p>
        </p:txBody>
      </p:sp>
      <p:sp>
        <p:nvSpPr>
          <p:cNvPr id="420" name="Google Shape;420;p12"/>
          <p:cNvSpPr/>
          <p:nvPr/>
        </p:nvSpPr>
        <p:spPr>
          <a:xfrm>
            <a:off x="1828800" y="5486400"/>
            <a:ext cx="8549640" cy="475488"/>
          </a:xfrm>
          <a:prstGeom prst="roundRect">
            <a:avLst>
              <a:gd fmla="val 25000"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2"/>
          <p:cNvSpPr/>
          <p:nvPr/>
        </p:nvSpPr>
        <p:spPr>
          <a:xfrm>
            <a:off x="2093976" y="5596128"/>
            <a:ext cx="7973568" cy="2468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2A39"/>
              </a:buClr>
              <a:buSzPts val="1530"/>
              <a:buFont typeface="Inter"/>
              <a:buNone/>
            </a:pPr>
            <a:r>
              <a:rPr b="1" i="0" lang="en-US" sz="1530" u="none" cap="none" strike="noStrike">
                <a:solidFill>
                  <a:srgbClr val="102A39"/>
                </a:solidFill>
                <a:latin typeface="Inter"/>
                <a:ea typeface="Inter"/>
                <a:cs typeface="Inter"/>
                <a:sym typeface="Inter"/>
              </a:rPr>
              <a:t>O modelo selecionado faz um NOVO cálculo e entrega a idade final.</a:t>
            </a:r>
            <a:endParaRPr b="0" i="0" sz="1530" u="none" cap="none" strike="noStrike">
              <a:solidFill>
                <a:schemeClr val="dk1"/>
              </a:solidFill>
              <a:latin typeface="Inter"/>
              <a:ea typeface="Inter"/>
              <a:cs typeface="Inter"/>
              <a:sym typeface="Inter"/>
            </a:endParaRPr>
          </a:p>
        </p:txBody>
      </p:sp>
      <p:cxnSp>
        <p:nvCxnSpPr>
          <p:cNvPr id="422" name="Google Shape;422;p12"/>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423" name="Google Shape;423;p12"/>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424" name="Google Shape;424;p12"/>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09</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429" name="Shape 429"/>
        <p:cNvGrpSpPr/>
        <p:nvPr/>
      </p:nvGrpSpPr>
      <p:grpSpPr>
        <a:xfrm>
          <a:off x="0" y="0"/>
          <a:ext cx="0" cy="0"/>
          <a:chOff x="0" y="0"/>
          <a:chExt cx="0" cy="0"/>
        </a:xfrm>
      </p:grpSpPr>
      <p:sp>
        <p:nvSpPr>
          <p:cNvPr id="430" name="Google Shape;430;p13"/>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09 · QUALIDADE DOS DADOS</a:t>
            </a:r>
            <a:endParaRPr b="0" i="0" sz="1050" u="none" cap="none" strike="noStrike">
              <a:solidFill>
                <a:schemeClr val="dk1"/>
              </a:solidFill>
              <a:latin typeface="Inter"/>
              <a:ea typeface="Inter"/>
              <a:cs typeface="Inter"/>
              <a:sym typeface="Inter"/>
            </a:endParaRPr>
          </a:p>
        </p:txBody>
      </p:sp>
      <p:sp>
        <p:nvSpPr>
          <p:cNvPr id="431" name="Google Shape;431;p13"/>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E se algum CpG estiver ausente?</a:t>
            </a:r>
            <a:endParaRPr b="0" i="0" sz="2950" u="none" cap="none" strike="noStrike">
              <a:solidFill>
                <a:schemeClr val="dk1"/>
              </a:solidFill>
              <a:latin typeface="Inter"/>
              <a:ea typeface="Inter"/>
              <a:cs typeface="Inter"/>
              <a:sym typeface="Inter"/>
            </a:endParaRPr>
          </a:p>
        </p:txBody>
      </p:sp>
      <p:sp>
        <p:nvSpPr>
          <p:cNvPr id="432" name="Google Shape;432;p13"/>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Nem todo local necessário tem uma medição válida em toda amostra.</a:t>
            </a:r>
            <a:endParaRPr b="0" i="0" sz="1420" u="none" cap="none" strike="noStrike">
              <a:solidFill>
                <a:schemeClr val="dk1"/>
              </a:solidFill>
              <a:latin typeface="Inter"/>
              <a:ea typeface="Inter"/>
              <a:cs typeface="Inter"/>
              <a:sym typeface="Inter"/>
            </a:endParaRPr>
          </a:p>
        </p:txBody>
      </p:sp>
      <p:sp>
        <p:nvSpPr>
          <p:cNvPr id="433" name="Google Shape;433;p13"/>
          <p:cNvSpPr/>
          <p:nvPr/>
        </p:nvSpPr>
        <p:spPr>
          <a:xfrm>
            <a:off x="731520" y="2029968"/>
            <a:ext cx="5715000" cy="3566160"/>
          </a:xfrm>
          <a:prstGeom prst="roundRect">
            <a:avLst>
              <a:gd fmla="val 5641"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108813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3"/>
          <p:cNvSpPr/>
          <p:nvPr/>
        </p:nvSpPr>
        <p:spPr>
          <a:xfrm>
            <a:off x="136245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163677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3"/>
          <p:cNvSpPr/>
          <p:nvPr/>
        </p:nvSpPr>
        <p:spPr>
          <a:xfrm>
            <a:off x="191109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218541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3"/>
          <p:cNvSpPr/>
          <p:nvPr/>
        </p:nvSpPr>
        <p:spPr>
          <a:xfrm>
            <a:off x="245973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273405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3"/>
          <p:cNvSpPr/>
          <p:nvPr/>
        </p:nvSpPr>
        <p:spPr>
          <a:xfrm>
            <a:off x="300837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328269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3557016" y="24505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3"/>
          <p:cNvSpPr/>
          <p:nvPr/>
        </p:nvSpPr>
        <p:spPr>
          <a:xfrm>
            <a:off x="108813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3"/>
          <p:cNvSpPr/>
          <p:nvPr/>
        </p:nvSpPr>
        <p:spPr>
          <a:xfrm>
            <a:off x="136245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3"/>
          <p:cNvSpPr/>
          <p:nvPr/>
        </p:nvSpPr>
        <p:spPr>
          <a:xfrm>
            <a:off x="163677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3"/>
          <p:cNvSpPr/>
          <p:nvPr/>
        </p:nvSpPr>
        <p:spPr>
          <a:xfrm>
            <a:off x="191109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218541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3"/>
          <p:cNvSpPr/>
          <p:nvPr/>
        </p:nvSpPr>
        <p:spPr>
          <a:xfrm>
            <a:off x="245973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3"/>
          <p:cNvSpPr/>
          <p:nvPr/>
        </p:nvSpPr>
        <p:spPr>
          <a:xfrm>
            <a:off x="273405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3"/>
          <p:cNvSpPr/>
          <p:nvPr/>
        </p:nvSpPr>
        <p:spPr>
          <a:xfrm>
            <a:off x="300837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3"/>
          <p:cNvSpPr/>
          <p:nvPr/>
        </p:nvSpPr>
        <p:spPr>
          <a:xfrm>
            <a:off x="328269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3557016" y="27249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3"/>
          <p:cNvSpPr/>
          <p:nvPr/>
        </p:nvSpPr>
        <p:spPr>
          <a:xfrm>
            <a:off x="108813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3"/>
          <p:cNvSpPr/>
          <p:nvPr/>
        </p:nvSpPr>
        <p:spPr>
          <a:xfrm>
            <a:off x="136245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3"/>
          <p:cNvSpPr/>
          <p:nvPr/>
        </p:nvSpPr>
        <p:spPr>
          <a:xfrm>
            <a:off x="163677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3"/>
          <p:cNvSpPr/>
          <p:nvPr/>
        </p:nvSpPr>
        <p:spPr>
          <a:xfrm>
            <a:off x="191109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218541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3"/>
          <p:cNvSpPr/>
          <p:nvPr/>
        </p:nvSpPr>
        <p:spPr>
          <a:xfrm>
            <a:off x="245973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3"/>
          <p:cNvSpPr/>
          <p:nvPr/>
        </p:nvSpPr>
        <p:spPr>
          <a:xfrm>
            <a:off x="273405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3"/>
          <p:cNvSpPr/>
          <p:nvPr/>
        </p:nvSpPr>
        <p:spPr>
          <a:xfrm>
            <a:off x="300837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3"/>
          <p:cNvSpPr/>
          <p:nvPr/>
        </p:nvSpPr>
        <p:spPr>
          <a:xfrm>
            <a:off x="328269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3"/>
          <p:cNvSpPr/>
          <p:nvPr/>
        </p:nvSpPr>
        <p:spPr>
          <a:xfrm>
            <a:off x="3557016" y="29992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3"/>
          <p:cNvSpPr/>
          <p:nvPr/>
        </p:nvSpPr>
        <p:spPr>
          <a:xfrm>
            <a:off x="108813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3"/>
          <p:cNvSpPr/>
          <p:nvPr/>
        </p:nvSpPr>
        <p:spPr>
          <a:xfrm>
            <a:off x="136245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3"/>
          <p:cNvSpPr/>
          <p:nvPr/>
        </p:nvSpPr>
        <p:spPr>
          <a:xfrm>
            <a:off x="163677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3"/>
          <p:cNvSpPr/>
          <p:nvPr/>
        </p:nvSpPr>
        <p:spPr>
          <a:xfrm>
            <a:off x="191109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
          <p:cNvSpPr/>
          <p:nvPr/>
        </p:nvSpPr>
        <p:spPr>
          <a:xfrm>
            <a:off x="218541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3"/>
          <p:cNvSpPr/>
          <p:nvPr/>
        </p:nvSpPr>
        <p:spPr>
          <a:xfrm>
            <a:off x="245973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3"/>
          <p:cNvSpPr/>
          <p:nvPr/>
        </p:nvSpPr>
        <p:spPr>
          <a:xfrm>
            <a:off x="273405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3"/>
          <p:cNvSpPr/>
          <p:nvPr/>
        </p:nvSpPr>
        <p:spPr>
          <a:xfrm>
            <a:off x="300837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3"/>
          <p:cNvSpPr/>
          <p:nvPr/>
        </p:nvSpPr>
        <p:spPr>
          <a:xfrm>
            <a:off x="328269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3"/>
          <p:cNvSpPr/>
          <p:nvPr/>
        </p:nvSpPr>
        <p:spPr>
          <a:xfrm>
            <a:off x="3557016" y="32735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3"/>
          <p:cNvSpPr/>
          <p:nvPr/>
        </p:nvSpPr>
        <p:spPr>
          <a:xfrm>
            <a:off x="108813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3"/>
          <p:cNvSpPr/>
          <p:nvPr/>
        </p:nvSpPr>
        <p:spPr>
          <a:xfrm>
            <a:off x="136245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3"/>
          <p:cNvSpPr/>
          <p:nvPr/>
        </p:nvSpPr>
        <p:spPr>
          <a:xfrm>
            <a:off x="163677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3"/>
          <p:cNvSpPr/>
          <p:nvPr/>
        </p:nvSpPr>
        <p:spPr>
          <a:xfrm>
            <a:off x="191109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3"/>
          <p:cNvSpPr/>
          <p:nvPr/>
        </p:nvSpPr>
        <p:spPr>
          <a:xfrm>
            <a:off x="218541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3"/>
          <p:cNvSpPr/>
          <p:nvPr/>
        </p:nvSpPr>
        <p:spPr>
          <a:xfrm>
            <a:off x="245973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3"/>
          <p:cNvSpPr/>
          <p:nvPr/>
        </p:nvSpPr>
        <p:spPr>
          <a:xfrm>
            <a:off x="273405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3"/>
          <p:cNvSpPr/>
          <p:nvPr/>
        </p:nvSpPr>
        <p:spPr>
          <a:xfrm>
            <a:off x="300837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3"/>
          <p:cNvSpPr/>
          <p:nvPr/>
        </p:nvSpPr>
        <p:spPr>
          <a:xfrm>
            <a:off x="328269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3"/>
          <p:cNvSpPr/>
          <p:nvPr/>
        </p:nvSpPr>
        <p:spPr>
          <a:xfrm>
            <a:off x="3557016" y="354787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3"/>
          <p:cNvSpPr/>
          <p:nvPr/>
        </p:nvSpPr>
        <p:spPr>
          <a:xfrm>
            <a:off x="108813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3"/>
          <p:cNvSpPr/>
          <p:nvPr/>
        </p:nvSpPr>
        <p:spPr>
          <a:xfrm>
            <a:off x="136245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3"/>
          <p:cNvSpPr/>
          <p:nvPr/>
        </p:nvSpPr>
        <p:spPr>
          <a:xfrm>
            <a:off x="163677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3"/>
          <p:cNvSpPr/>
          <p:nvPr/>
        </p:nvSpPr>
        <p:spPr>
          <a:xfrm>
            <a:off x="191109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3"/>
          <p:cNvSpPr/>
          <p:nvPr/>
        </p:nvSpPr>
        <p:spPr>
          <a:xfrm>
            <a:off x="218541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3"/>
          <p:cNvSpPr/>
          <p:nvPr/>
        </p:nvSpPr>
        <p:spPr>
          <a:xfrm>
            <a:off x="245973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3"/>
          <p:cNvSpPr/>
          <p:nvPr/>
        </p:nvSpPr>
        <p:spPr>
          <a:xfrm>
            <a:off x="273405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3"/>
          <p:cNvSpPr/>
          <p:nvPr/>
        </p:nvSpPr>
        <p:spPr>
          <a:xfrm>
            <a:off x="300837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3"/>
          <p:cNvSpPr/>
          <p:nvPr/>
        </p:nvSpPr>
        <p:spPr>
          <a:xfrm>
            <a:off x="328269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3"/>
          <p:cNvSpPr/>
          <p:nvPr/>
        </p:nvSpPr>
        <p:spPr>
          <a:xfrm>
            <a:off x="3557016" y="382219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3"/>
          <p:cNvSpPr/>
          <p:nvPr/>
        </p:nvSpPr>
        <p:spPr>
          <a:xfrm>
            <a:off x="108813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3"/>
          <p:cNvSpPr/>
          <p:nvPr/>
        </p:nvSpPr>
        <p:spPr>
          <a:xfrm>
            <a:off x="136245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3"/>
          <p:cNvSpPr/>
          <p:nvPr/>
        </p:nvSpPr>
        <p:spPr>
          <a:xfrm>
            <a:off x="163677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3"/>
          <p:cNvSpPr/>
          <p:nvPr/>
        </p:nvSpPr>
        <p:spPr>
          <a:xfrm>
            <a:off x="191109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3"/>
          <p:cNvSpPr/>
          <p:nvPr/>
        </p:nvSpPr>
        <p:spPr>
          <a:xfrm>
            <a:off x="218541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3"/>
          <p:cNvSpPr/>
          <p:nvPr/>
        </p:nvSpPr>
        <p:spPr>
          <a:xfrm>
            <a:off x="245973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3"/>
          <p:cNvSpPr/>
          <p:nvPr/>
        </p:nvSpPr>
        <p:spPr>
          <a:xfrm>
            <a:off x="273405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3"/>
          <p:cNvSpPr/>
          <p:nvPr/>
        </p:nvSpPr>
        <p:spPr>
          <a:xfrm>
            <a:off x="300837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3"/>
          <p:cNvSpPr/>
          <p:nvPr/>
        </p:nvSpPr>
        <p:spPr>
          <a:xfrm>
            <a:off x="328269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3"/>
          <p:cNvSpPr/>
          <p:nvPr/>
        </p:nvSpPr>
        <p:spPr>
          <a:xfrm>
            <a:off x="3557016" y="409651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3"/>
          <p:cNvSpPr/>
          <p:nvPr/>
        </p:nvSpPr>
        <p:spPr>
          <a:xfrm>
            <a:off x="108813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3"/>
          <p:cNvSpPr/>
          <p:nvPr/>
        </p:nvSpPr>
        <p:spPr>
          <a:xfrm>
            <a:off x="136245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3"/>
          <p:cNvSpPr/>
          <p:nvPr/>
        </p:nvSpPr>
        <p:spPr>
          <a:xfrm>
            <a:off x="163677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3"/>
          <p:cNvSpPr/>
          <p:nvPr/>
        </p:nvSpPr>
        <p:spPr>
          <a:xfrm>
            <a:off x="191109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3"/>
          <p:cNvSpPr/>
          <p:nvPr/>
        </p:nvSpPr>
        <p:spPr>
          <a:xfrm>
            <a:off x="218541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3"/>
          <p:cNvSpPr/>
          <p:nvPr/>
        </p:nvSpPr>
        <p:spPr>
          <a:xfrm>
            <a:off x="245973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3"/>
          <p:cNvSpPr/>
          <p:nvPr/>
        </p:nvSpPr>
        <p:spPr>
          <a:xfrm>
            <a:off x="273405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3"/>
          <p:cNvSpPr/>
          <p:nvPr/>
        </p:nvSpPr>
        <p:spPr>
          <a:xfrm>
            <a:off x="300837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328269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557016" y="437083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p:nvPr/>
        </p:nvSpPr>
        <p:spPr>
          <a:xfrm>
            <a:off x="108813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136245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163677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191109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3"/>
          <p:cNvSpPr/>
          <p:nvPr/>
        </p:nvSpPr>
        <p:spPr>
          <a:xfrm>
            <a:off x="218541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3"/>
          <p:cNvSpPr/>
          <p:nvPr/>
        </p:nvSpPr>
        <p:spPr>
          <a:xfrm>
            <a:off x="245973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3"/>
          <p:cNvSpPr/>
          <p:nvPr/>
        </p:nvSpPr>
        <p:spPr>
          <a:xfrm>
            <a:off x="273405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p:nvPr/>
        </p:nvSpPr>
        <p:spPr>
          <a:xfrm>
            <a:off x="300837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3"/>
          <p:cNvSpPr/>
          <p:nvPr/>
        </p:nvSpPr>
        <p:spPr>
          <a:xfrm>
            <a:off x="328269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3"/>
          <p:cNvSpPr/>
          <p:nvPr/>
        </p:nvSpPr>
        <p:spPr>
          <a:xfrm>
            <a:off x="3557016" y="4645152"/>
            <a:ext cx="182880" cy="182880"/>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3"/>
          <p:cNvSpPr/>
          <p:nvPr/>
        </p:nvSpPr>
        <p:spPr>
          <a:xfrm>
            <a:off x="108813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3"/>
          <p:cNvSpPr/>
          <p:nvPr/>
        </p:nvSpPr>
        <p:spPr>
          <a:xfrm>
            <a:off x="136245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3"/>
          <p:cNvSpPr/>
          <p:nvPr/>
        </p:nvSpPr>
        <p:spPr>
          <a:xfrm>
            <a:off x="163677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191109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3"/>
          <p:cNvSpPr/>
          <p:nvPr/>
        </p:nvSpPr>
        <p:spPr>
          <a:xfrm>
            <a:off x="218541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3"/>
          <p:cNvSpPr/>
          <p:nvPr/>
        </p:nvSpPr>
        <p:spPr>
          <a:xfrm>
            <a:off x="245973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3"/>
          <p:cNvSpPr/>
          <p:nvPr/>
        </p:nvSpPr>
        <p:spPr>
          <a:xfrm>
            <a:off x="273405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3"/>
          <p:cNvSpPr/>
          <p:nvPr/>
        </p:nvSpPr>
        <p:spPr>
          <a:xfrm>
            <a:off x="300837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328269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3"/>
          <p:cNvSpPr/>
          <p:nvPr/>
        </p:nvSpPr>
        <p:spPr>
          <a:xfrm>
            <a:off x="3557016" y="4919472"/>
            <a:ext cx="182880" cy="182880"/>
          </a:xfrm>
          <a:prstGeom prst="ellipse">
            <a:avLst/>
          </a:prstGeom>
          <a:solidFill>
            <a:srgbClr val="EBA16A"/>
          </a:solidFill>
          <a:ln cap="flat" cmpd="sng" w="12700">
            <a:solidFill>
              <a:srgbClr val="EBA1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3"/>
          <p:cNvSpPr/>
          <p:nvPr/>
        </p:nvSpPr>
        <p:spPr>
          <a:xfrm>
            <a:off x="4069080" y="2852928"/>
            <a:ext cx="2057400"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900"/>
              <a:buFont typeface="Inter"/>
              <a:buNone/>
            </a:pPr>
            <a:r>
              <a:rPr b="1" i="0" lang="en-US" sz="1900" u="none" cap="none" strike="noStrike">
                <a:solidFill>
                  <a:srgbClr val="067F75"/>
                </a:solidFill>
                <a:latin typeface="Inter"/>
                <a:ea typeface="Inter"/>
                <a:cs typeface="Inter"/>
                <a:sym typeface="Inter"/>
              </a:rPr>
              <a:t>90 medidos</a:t>
            </a:r>
            <a:endParaRPr b="0" i="0" sz="1900" u="none" cap="none" strike="noStrike">
              <a:solidFill>
                <a:schemeClr val="dk1"/>
              </a:solidFill>
              <a:latin typeface="Inter"/>
              <a:ea typeface="Inter"/>
              <a:cs typeface="Inter"/>
              <a:sym typeface="Inter"/>
            </a:endParaRPr>
          </a:p>
        </p:txBody>
      </p:sp>
      <p:sp>
        <p:nvSpPr>
          <p:cNvPr id="535" name="Google Shape;535;p13"/>
          <p:cNvSpPr/>
          <p:nvPr/>
        </p:nvSpPr>
        <p:spPr>
          <a:xfrm>
            <a:off x="4069080" y="3401568"/>
            <a:ext cx="2057400"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7933"/>
              </a:buClr>
              <a:buSzPts val="1900"/>
              <a:buFont typeface="Inter"/>
              <a:buNone/>
            </a:pPr>
            <a:r>
              <a:rPr b="1" i="0" lang="en-US" sz="1900" u="none" cap="none" strike="noStrike">
                <a:solidFill>
                  <a:srgbClr val="B87933"/>
                </a:solidFill>
                <a:latin typeface="Inter"/>
                <a:ea typeface="Inter"/>
                <a:cs typeface="Inter"/>
                <a:sym typeface="Inter"/>
              </a:rPr>
              <a:t>10 ausentes</a:t>
            </a:r>
            <a:endParaRPr b="0" i="0" sz="1900" u="none" cap="none" strike="noStrike">
              <a:solidFill>
                <a:schemeClr val="dk1"/>
              </a:solidFill>
              <a:latin typeface="Inter"/>
              <a:ea typeface="Inter"/>
              <a:cs typeface="Inter"/>
              <a:sym typeface="Inter"/>
            </a:endParaRPr>
          </a:p>
        </p:txBody>
      </p:sp>
      <p:cxnSp>
        <p:nvCxnSpPr>
          <p:cNvPr id="536" name="Google Shape;536;p13"/>
          <p:cNvCxnSpPr/>
          <p:nvPr/>
        </p:nvCxnSpPr>
        <p:spPr>
          <a:xfrm>
            <a:off x="4023360" y="4005072"/>
            <a:ext cx="2103120" cy="0"/>
          </a:xfrm>
          <a:prstGeom prst="straightConnector1">
            <a:avLst/>
          </a:prstGeom>
          <a:noFill/>
          <a:ln cap="flat" cmpd="sng" w="15225">
            <a:solidFill>
              <a:srgbClr val="DCE5E4"/>
            </a:solidFill>
            <a:prstDash val="solid"/>
            <a:round/>
            <a:headEnd len="sm" w="sm" type="none"/>
            <a:tailEnd len="sm" w="sm" type="none"/>
          </a:ln>
        </p:spPr>
      </p:cxnSp>
      <p:sp>
        <p:nvSpPr>
          <p:cNvPr id="537" name="Google Shape;537;p13"/>
          <p:cNvSpPr/>
          <p:nvPr/>
        </p:nvSpPr>
        <p:spPr>
          <a:xfrm>
            <a:off x="4069080" y="4288536"/>
            <a:ext cx="214884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200"/>
              <a:buFont typeface="Inter"/>
              <a:buNone/>
            </a:pPr>
            <a:r>
              <a:rPr b="1" i="0" lang="en-US" sz="2200" u="none" cap="none" strike="noStrike">
                <a:solidFill>
                  <a:srgbClr val="102A39"/>
                </a:solidFill>
                <a:latin typeface="Inter"/>
                <a:ea typeface="Inter"/>
                <a:cs typeface="Inter"/>
                <a:sym typeface="Inter"/>
              </a:rPr>
              <a:t>Cobertura: 90%</a:t>
            </a:r>
            <a:endParaRPr b="0" i="0" sz="2200" u="none" cap="none" strike="noStrike">
              <a:solidFill>
                <a:schemeClr val="dk1"/>
              </a:solidFill>
              <a:latin typeface="Inter"/>
              <a:ea typeface="Inter"/>
              <a:cs typeface="Inter"/>
              <a:sym typeface="Inter"/>
            </a:endParaRPr>
          </a:p>
        </p:txBody>
      </p:sp>
      <p:sp>
        <p:nvSpPr>
          <p:cNvPr id="538" name="Google Shape;538;p13"/>
          <p:cNvSpPr/>
          <p:nvPr/>
        </p:nvSpPr>
        <p:spPr>
          <a:xfrm>
            <a:off x="6729984" y="2075688"/>
            <a:ext cx="4663440" cy="1069848"/>
          </a:xfrm>
          <a:prstGeom prst="roundRect">
            <a:avLst>
              <a:gd fmla="val 17949" name="adj"/>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6958584" y="2304288"/>
            <a:ext cx="4133088" cy="3749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950"/>
              <a:buFont typeface="Inter"/>
              <a:buNone/>
            </a:pPr>
            <a:r>
              <a:rPr b="1" i="0" lang="en-US" sz="1950" u="none" cap="none" strike="noStrike">
                <a:solidFill>
                  <a:srgbClr val="102A39"/>
                </a:solidFill>
                <a:latin typeface="Inter"/>
                <a:ea typeface="Inter"/>
                <a:cs typeface="Inter"/>
                <a:sym typeface="Inter"/>
              </a:rPr>
              <a:t>Por que falta um valor?</a:t>
            </a:r>
            <a:endParaRPr b="0" i="0" sz="1950" u="none" cap="none" strike="noStrike">
              <a:solidFill>
                <a:schemeClr val="dk1"/>
              </a:solidFill>
              <a:latin typeface="Inter"/>
              <a:ea typeface="Inter"/>
              <a:cs typeface="Inter"/>
              <a:sym typeface="Inter"/>
            </a:endParaRPr>
          </a:p>
        </p:txBody>
      </p:sp>
      <p:sp>
        <p:nvSpPr>
          <p:cNvPr id="540" name="Google Shape;540;p13"/>
          <p:cNvSpPr/>
          <p:nvPr/>
        </p:nvSpPr>
        <p:spPr>
          <a:xfrm>
            <a:off x="6858000" y="3547872"/>
            <a:ext cx="109728" cy="109728"/>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3"/>
          <p:cNvSpPr/>
          <p:nvPr/>
        </p:nvSpPr>
        <p:spPr>
          <a:xfrm>
            <a:off x="7141464" y="3419856"/>
            <a:ext cx="40325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510"/>
              <a:buFont typeface="Inter"/>
              <a:buNone/>
            </a:pPr>
            <a:r>
              <a:rPr b="0" i="0" lang="en-US" sz="1510" u="none" cap="none" strike="noStrike">
                <a:solidFill>
                  <a:srgbClr val="102A39"/>
                </a:solidFill>
                <a:latin typeface="Inter"/>
                <a:ea typeface="Inter"/>
                <a:cs typeface="Inter"/>
                <a:sym typeface="Inter"/>
              </a:rPr>
              <a:t>Probe não existe na plataforma</a:t>
            </a:r>
            <a:endParaRPr b="0" i="0" sz="1510" u="none" cap="none" strike="noStrike">
              <a:solidFill>
                <a:schemeClr val="dk1"/>
              </a:solidFill>
              <a:latin typeface="Inter"/>
              <a:ea typeface="Inter"/>
              <a:cs typeface="Inter"/>
              <a:sym typeface="Inter"/>
            </a:endParaRPr>
          </a:p>
        </p:txBody>
      </p:sp>
      <p:sp>
        <p:nvSpPr>
          <p:cNvPr id="542" name="Google Shape;542;p13"/>
          <p:cNvSpPr/>
          <p:nvPr/>
        </p:nvSpPr>
        <p:spPr>
          <a:xfrm>
            <a:off x="6858000" y="4114800"/>
            <a:ext cx="109728" cy="109728"/>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3"/>
          <p:cNvSpPr/>
          <p:nvPr/>
        </p:nvSpPr>
        <p:spPr>
          <a:xfrm>
            <a:off x="7141464" y="3986784"/>
            <a:ext cx="40325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510"/>
              <a:buFont typeface="Inter"/>
              <a:buNone/>
            </a:pPr>
            <a:r>
              <a:rPr b="0" i="0" lang="en-US" sz="1510" u="none" cap="none" strike="noStrike">
                <a:solidFill>
                  <a:srgbClr val="102A39"/>
                </a:solidFill>
                <a:latin typeface="Inter"/>
                <a:ea typeface="Inter"/>
                <a:cs typeface="Inter"/>
                <a:sym typeface="Inter"/>
              </a:rPr>
              <a:t>Medição com qualidade insuficiente</a:t>
            </a:r>
            <a:endParaRPr b="0" i="0" sz="1510" u="none" cap="none" strike="noStrike">
              <a:solidFill>
                <a:schemeClr val="dk1"/>
              </a:solidFill>
              <a:latin typeface="Inter"/>
              <a:ea typeface="Inter"/>
              <a:cs typeface="Inter"/>
              <a:sym typeface="Inter"/>
            </a:endParaRPr>
          </a:p>
        </p:txBody>
      </p:sp>
      <p:sp>
        <p:nvSpPr>
          <p:cNvPr id="544" name="Google Shape;544;p13"/>
          <p:cNvSpPr/>
          <p:nvPr/>
        </p:nvSpPr>
        <p:spPr>
          <a:xfrm>
            <a:off x="6858000" y="4681728"/>
            <a:ext cx="109728" cy="109728"/>
          </a:xfrm>
          <a:prstGeom prst="ellipse">
            <a:avLst/>
          </a:prstGeom>
          <a:solidFill>
            <a:srgbClr val="EFAA5C"/>
          </a:solidFill>
          <a:ln cap="flat" cmpd="sng" w="12700">
            <a:solidFill>
              <a:srgbClr val="EFAA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3"/>
          <p:cNvSpPr/>
          <p:nvPr/>
        </p:nvSpPr>
        <p:spPr>
          <a:xfrm>
            <a:off x="7141464" y="4553712"/>
            <a:ext cx="403250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510"/>
              <a:buFont typeface="Inter"/>
              <a:buNone/>
            </a:pPr>
            <a:r>
              <a:rPr b="0" i="0" lang="en-US" sz="1510" u="none" cap="none" strike="noStrike">
                <a:solidFill>
                  <a:srgbClr val="102A39"/>
                </a:solidFill>
                <a:latin typeface="Inter"/>
                <a:ea typeface="Inter"/>
                <a:cs typeface="Inter"/>
                <a:sym typeface="Inter"/>
              </a:rPr>
              <a:t>Valor ausente no arquivo</a:t>
            </a:r>
            <a:endParaRPr b="0" i="0" sz="1510" u="none" cap="none" strike="noStrike">
              <a:solidFill>
                <a:schemeClr val="dk1"/>
              </a:solidFill>
              <a:latin typeface="Inter"/>
              <a:ea typeface="Inter"/>
              <a:cs typeface="Inter"/>
              <a:sym typeface="Inter"/>
            </a:endParaRPr>
          </a:p>
        </p:txBody>
      </p:sp>
      <p:sp>
        <p:nvSpPr>
          <p:cNvPr id="546" name="Google Shape;546;p13"/>
          <p:cNvSpPr/>
          <p:nvPr/>
        </p:nvSpPr>
        <p:spPr>
          <a:xfrm>
            <a:off x="6766560" y="5212080"/>
            <a:ext cx="4608576" cy="640080"/>
          </a:xfrm>
          <a:prstGeom prst="roundRect">
            <a:avLst>
              <a:gd fmla="val 25714"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3"/>
          <p:cNvSpPr/>
          <p:nvPr/>
        </p:nvSpPr>
        <p:spPr>
          <a:xfrm>
            <a:off x="6967728" y="5367528"/>
            <a:ext cx="419709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7502B"/>
              </a:buClr>
              <a:buSzPts val="1380"/>
              <a:buFont typeface="Inter"/>
              <a:buNone/>
            </a:pPr>
            <a:r>
              <a:rPr b="1" i="0" lang="en-US" sz="1380" u="none" cap="none" strike="noStrike">
                <a:solidFill>
                  <a:srgbClr val="77502B"/>
                </a:solidFill>
                <a:latin typeface="Inter"/>
                <a:ea typeface="Inter"/>
                <a:cs typeface="Inter"/>
                <a:sym typeface="Inter"/>
              </a:rPr>
              <a:t>Imputação: usar média S2 ≠ medição real</a:t>
            </a:r>
            <a:endParaRPr b="0" i="0" sz="1380" u="none" cap="none" strike="noStrike">
              <a:solidFill>
                <a:schemeClr val="dk1"/>
              </a:solidFill>
              <a:latin typeface="Inter"/>
              <a:ea typeface="Inter"/>
              <a:cs typeface="Inter"/>
              <a:sym typeface="Inter"/>
            </a:endParaRPr>
          </a:p>
        </p:txBody>
      </p:sp>
      <p:sp>
        <p:nvSpPr>
          <p:cNvPr id="548" name="Google Shape;548;p13"/>
          <p:cNvSpPr/>
          <p:nvPr/>
        </p:nvSpPr>
        <p:spPr>
          <a:xfrm>
            <a:off x="832104" y="6035040"/>
            <a:ext cx="98755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1100"/>
              <a:buFont typeface="Inter"/>
              <a:buNone/>
            </a:pPr>
            <a:r>
              <a:rPr b="0" i="0" lang="en-US" sz="1100" u="none" cap="none" strike="noStrike">
                <a:solidFill>
                  <a:srgbClr val="8696A0"/>
                </a:solidFill>
                <a:latin typeface="Inter"/>
                <a:ea typeface="Inter"/>
                <a:cs typeface="Inter"/>
                <a:sym typeface="Inter"/>
              </a:rPr>
              <a:t>Números esquemáticos: 100 CpGs necessários, 90 medidos.</a:t>
            </a:r>
            <a:endParaRPr b="0" i="0" sz="1100" u="none" cap="none" strike="noStrike">
              <a:solidFill>
                <a:schemeClr val="dk1"/>
              </a:solidFill>
              <a:latin typeface="Inter"/>
              <a:ea typeface="Inter"/>
              <a:cs typeface="Inter"/>
              <a:sym typeface="Inter"/>
            </a:endParaRPr>
          </a:p>
        </p:txBody>
      </p:sp>
      <p:cxnSp>
        <p:nvCxnSpPr>
          <p:cNvPr id="549" name="Google Shape;549;p13"/>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550" name="Google Shape;550;p13"/>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551" name="Google Shape;551;p13"/>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10</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556" name="Shape 556"/>
        <p:cNvGrpSpPr/>
        <p:nvPr/>
      </p:nvGrpSpPr>
      <p:grpSpPr>
        <a:xfrm>
          <a:off x="0" y="0"/>
          <a:ext cx="0" cy="0"/>
          <a:chOff x="0" y="0"/>
          <a:chExt cx="0" cy="0"/>
        </a:xfrm>
      </p:grpSpPr>
      <p:sp>
        <p:nvSpPr>
          <p:cNvPr id="557" name="Google Shape;557;p14"/>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10 · O FLUXO DO SOFTWARE</a:t>
            </a:r>
            <a:endParaRPr b="0" i="0" sz="1050" u="none" cap="none" strike="noStrike">
              <a:solidFill>
                <a:schemeClr val="dk1"/>
              </a:solidFill>
              <a:latin typeface="Inter"/>
              <a:ea typeface="Inter"/>
              <a:cs typeface="Inter"/>
              <a:sym typeface="Inter"/>
            </a:endParaRPr>
          </a:p>
        </p:txBody>
      </p:sp>
      <p:sp>
        <p:nvSpPr>
          <p:cNvPr id="558" name="Google Shape;558;p14"/>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Da planilha ao relatório, em seis passos</a:t>
            </a:r>
            <a:endParaRPr b="0" i="0" sz="2950" u="none" cap="none" strike="noStrike">
              <a:solidFill>
                <a:schemeClr val="dk1"/>
              </a:solidFill>
              <a:latin typeface="Inter"/>
              <a:ea typeface="Inter"/>
              <a:cs typeface="Inter"/>
              <a:sym typeface="Inter"/>
            </a:endParaRPr>
          </a:p>
        </p:txBody>
      </p:sp>
      <p:sp>
        <p:nvSpPr>
          <p:cNvPr id="559" name="Google Shape;559;p14"/>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Tudo é feito em Python, com execução visual ou pelo terminal.</a:t>
            </a:r>
            <a:endParaRPr b="0" i="0" sz="1420" u="none" cap="none" strike="noStrike">
              <a:solidFill>
                <a:schemeClr val="dk1"/>
              </a:solidFill>
              <a:latin typeface="Inter"/>
              <a:ea typeface="Inter"/>
              <a:cs typeface="Inter"/>
              <a:sym typeface="Inter"/>
            </a:endParaRPr>
          </a:p>
        </p:txBody>
      </p:sp>
      <p:sp>
        <p:nvSpPr>
          <p:cNvPr id="560" name="Google Shape;560;p14"/>
          <p:cNvSpPr/>
          <p:nvPr/>
        </p:nvSpPr>
        <p:spPr>
          <a:xfrm>
            <a:off x="704088" y="2066544"/>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4"/>
          <p:cNvSpPr/>
          <p:nvPr/>
        </p:nvSpPr>
        <p:spPr>
          <a:xfrm>
            <a:off x="877824" y="2249424"/>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4"/>
          <p:cNvSpPr/>
          <p:nvPr/>
        </p:nvSpPr>
        <p:spPr>
          <a:xfrm>
            <a:off x="886968" y="2331720"/>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1</a:t>
            </a:r>
            <a:endParaRPr b="0" i="0" sz="1230" u="none" cap="none" strike="noStrike">
              <a:solidFill>
                <a:schemeClr val="dk1"/>
              </a:solidFill>
              <a:latin typeface="Inter"/>
              <a:ea typeface="Inter"/>
              <a:cs typeface="Inter"/>
              <a:sym typeface="Inter"/>
            </a:endParaRPr>
          </a:p>
        </p:txBody>
      </p:sp>
      <p:sp>
        <p:nvSpPr>
          <p:cNvPr id="563" name="Google Shape;563;p14"/>
          <p:cNvSpPr/>
          <p:nvPr/>
        </p:nvSpPr>
        <p:spPr>
          <a:xfrm>
            <a:off x="1435608" y="2276856"/>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DADOS</a:t>
            </a:r>
            <a:endParaRPr b="0" i="0" sz="1650" u="none" cap="none" strike="noStrike">
              <a:solidFill>
                <a:schemeClr val="dk1"/>
              </a:solidFill>
              <a:latin typeface="Inter"/>
              <a:ea typeface="Inter"/>
              <a:cs typeface="Inter"/>
              <a:sym typeface="Inter"/>
            </a:endParaRPr>
          </a:p>
        </p:txBody>
      </p:sp>
      <p:sp>
        <p:nvSpPr>
          <p:cNvPr id="564" name="Google Shape;564;p14"/>
          <p:cNvSpPr/>
          <p:nvPr/>
        </p:nvSpPr>
        <p:spPr>
          <a:xfrm>
            <a:off x="1435608" y="2734056"/>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Arquivo .csv.gz</a:t>
            </a:r>
            <a:endParaRPr b="0" i="0" sz="1360" u="none" cap="none" strike="noStrike">
              <a:solidFill>
                <a:schemeClr val="dk1"/>
              </a:solidFill>
              <a:latin typeface="Inter"/>
              <a:ea typeface="Inter"/>
              <a:cs typeface="Inter"/>
              <a:sym typeface="Inter"/>
            </a:endParaRPr>
          </a:p>
        </p:txBody>
      </p:sp>
      <p:sp>
        <p:nvSpPr>
          <p:cNvPr id="565" name="Google Shape;565;p14"/>
          <p:cNvSpPr/>
          <p:nvPr/>
        </p:nvSpPr>
        <p:spPr>
          <a:xfrm>
            <a:off x="4599432" y="2066544"/>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4"/>
          <p:cNvSpPr/>
          <p:nvPr/>
        </p:nvSpPr>
        <p:spPr>
          <a:xfrm>
            <a:off x="4773168" y="2249424"/>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4"/>
          <p:cNvSpPr/>
          <p:nvPr/>
        </p:nvSpPr>
        <p:spPr>
          <a:xfrm>
            <a:off x="4782312" y="2331720"/>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2</a:t>
            </a:r>
            <a:endParaRPr b="0" i="0" sz="1230" u="none" cap="none" strike="noStrike">
              <a:solidFill>
                <a:schemeClr val="dk1"/>
              </a:solidFill>
              <a:latin typeface="Inter"/>
              <a:ea typeface="Inter"/>
              <a:cs typeface="Inter"/>
              <a:sym typeface="Inter"/>
            </a:endParaRPr>
          </a:p>
        </p:txBody>
      </p:sp>
      <p:sp>
        <p:nvSpPr>
          <p:cNvPr id="568" name="Google Shape;568;p14"/>
          <p:cNvSpPr/>
          <p:nvPr/>
        </p:nvSpPr>
        <p:spPr>
          <a:xfrm>
            <a:off x="5330952" y="2276856"/>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EXTRAÇÃO</a:t>
            </a:r>
            <a:endParaRPr b="0" i="0" sz="1650" u="none" cap="none" strike="noStrike">
              <a:solidFill>
                <a:schemeClr val="dk1"/>
              </a:solidFill>
              <a:latin typeface="Inter"/>
              <a:ea typeface="Inter"/>
              <a:cs typeface="Inter"/>
              <a:sym typeface="Inter"/>
            </a:endParaRPr>
          </a:p>
        </p:txBody>
      </p:sp>
      <p:sp>
        <p:nvSpPr>
          <p:cNvPr id="569" name="Google Shape;569;p14"/>
          <p:cNvSpPr/>
          <p:nvPr/>
        </p:nvSpPr>
        <p:spPr>
          <a:xfrm>
            <a:off x="5330952" y="2734056"/>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5 amostras</a:t>
            </a:r>
            <a:endParaRPr b="0" i="0" sz="1360" u="none" cap="none" strike="noStrike">
              <a:solidFill>
                <a:schemeClr val="dk1"/>
              </a:solidFill>
              <a:latin typeface="Inter"/>
              <a:ea typeface="Inter"/>
              <a:cs typeface="Inter"/>
              <a:sym typeface="Inter"/>
            </a:endParaRPr>
          </a:p>
        </p:txBody>
      </p:sp>
      <p:sp>
        <p:nvSpPr>
          <p:cNvPr id="570" name="Google Shape;570;p14"/>
          <p:cNvSpPr/>
          <p:nvPr/>
        </p:nvSpPr>
        <p:spPr>
          <a:xfrm>
            <a:off x="8494776" y="2066544"/>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4"/>
          <p:cNvSpPr/>
          <p:nvPr/>
        </p:nvSpPr>
        <p:spPr>
          <a:xfrm>
            <a:off x="8668512" y="2249424"/>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4"/>
          <p:cNvSpPr/>
          <p:nvPr/>
        </p:nvSpPr>
        <p:spPr>
          <a:xfrm>
            <a:off x="8677656" y="2331720"/>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3</a:t>
            </a:r>
            <a:endParaRPr b="0" i="0" sz="1230" u="none" cap="none" strike="noStrike">
              <a:solidFill>
                <a:schemeClr val="dk1"/>
              </a:solidFill>
              <a:latin typeface="Inter"/>
              <a:ea typeface="Inter"/>
              <a:cs typeface="Inter"/>
              <a:sym typeface="Inter"/>
            </a:endParaRPr>
          </a:p>
        </p:txBody>
      </p:sp>
      <p:sp>
        <p:nvSpPr>
          <p:cNvPr id="573" name="Google Shape;573;p14"/>
          <p:cNvSpPr/>
          <p:nvPr/>
        </p:nvSpPr>
        <p:spPr>
          <a:xfrm>
            <a:off x="9226296" y="2276856"/>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LEITURA</a:t>
            </a:r>
            <a:endParaRPr b="0" i="0" sz="1650" u="none" cap="none" strike="noStrike">
              <a:solidFill>
                <a:schemeClr val="dk1"/>
              </a:solidFill>
              <a:latin typeface="Inter"/>
              <a:ea typeface="Inter"/>
              <a:cs typeface="Inter"/>
              <a:sym typeface="Inter"/>
            </a:endParaRPr>
          </a:p>
        </p:txBody>
      </p:sp>
      <p:sp>
        <p:nvSpPr>
          <p:cNvPr id="574" name="Google Shape;574;p14"/>
          <p:cNvSpPr/>
          <p:nvPr/>
        </p:nvSpPr>
        <p:spPr>
          <a:xfrm>
            <a:off x="9226296" y="2734056"/>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β-values</a:t>
            </a:r>
            <a:endParaRPr b="0" i="0" sz="1360" u="none" cap="none" strike="noStrike">
              <a:solidFill>
                <a:schemeClr val="dk1"/>
              </a:solidFill>
              <a:latin typeface="Inter"/>
              <a:ea typeface="Inter"/>
              <a:cs typeface="Inter"/>
              <a:sym typeface="Inter"/>
            </a:endParaRPr>
          </a:p>
        </p:txBody>
      </p:sp>
      <p:sp>
        <p:nvSpPr>
          <p:cNvPr id="575" name="Google Shape;575;p14"/>
          <p:cNvSpPr/>
          <p:nvPr/>
        </p:nvSpPr>
        <p:spPr>
          <a:xfrm>
            <a:off x="704088" y="3630168"/>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4"/>
          <p:cNvSpPr/>
          <p:nvPr/>
        </p:nvSpPr>
        <p:spPr>
          <a:xfrm>
            <a:off x="877824" y="3813048"/>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4"/>
          <p:cNvSpPr/>
          <p:nvPr/>
        </p:nvSpPr>
        <p:spPr>
          <a:xfrm>
            <a:off x="886968" y="3895344"/>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4</a:t>
            </a:r>
            <a:endParaRPr b="0" i="0" sz="1230" u="none" cap="none" strike="noStrike">
              <a:solidFill>
                <a:schemeClr val="dk1"/>
              </a:solidFill>
              <a:latin typeface="Inter"/>
              <a:ea typeface="Inter"/>
              <a:cs typeface="Inter"/>
              <a:sym typeface="Inter"/>
            </a:endParaRPr>
          </a:p>
        </p:txBody>
      </p:sp>
      <p:sp>
        <p:nvSpPr>
          <p:cNvPr id="578" name="Google Shape;578;p14"/>
          <p:cNvSpPr/>
          <p:nvPr/>
        </p:nvSpPr>
        <p:spPr>
          <a:xfrm>
            <a:off x="1435608" y="3840480"/>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FÓRMULA</a:t>
            </a:r>
            <a:endParaRPr b="0" i="0" sz="1650" u="none" cap="none" strike="noStrike">
              <a:solidFill>
                <a:schemeClr val="dk1"/>
              </a:solidFill>
              <a:latin typeface="Inter"/>
              <a:ea typeface="Inter"/>
              <a:cs typeface="Inter"/>
              <a:sym typeface="Inter"/>
            </a:endParaRPr>
          </a:p>
        </p:txBody>
      </p:sp>
      <p:sp>
        <p:nvSpPr>
          <p:cNvPr id="579" name="Google Shape;579;p14"/>
          <p:cNvSpPr/>
          <p:nvPr/>
        </p:nvSpPr>
        <p:spPr>
          <a:xfrm>
            <a:off x="1435608" y="4297680"/>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clock.py</a:t>
            </a:r>
            <a:endParaRPr b="0" i="0" sz="1360" u="none" cap="none" strike="noStrike">
              <a:solidFill>
                <a:schemeClr val="dk1"/>
              </a:solidFill>
              <a:latin typeface="Inter"/>
              <a:ea typeface="Inter"/>
              <a:cs typeface="Inter"/>
              <a:sym typeface="Inter"/>
            </a:endParaRPr>
          </a:p>
        </p:txBody>
      </p:sp>
      <p:sp>
        <p:nvSpPr>
          <p:cNvPr id="580" name="Google Shape;580;p14"/>
          <p:cNvSpPr/>
          <p:nvPr/>
        </p:nvSpPr>
        <p:spPr>
          <a:xfrm>
            <a:off x="4599432" y="3630168"/>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4"/>
          <p:cNvSpPr/>
          <p:nvPr/>
        </p:nvSpPr>
        <p:spPr>
          <a:xfrm>
            <a:off x="4773168" y="3813048"/>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4"/>
          <p:cNvSpPr/>
          <p:nvPr/>
        </p:nvSpPr>
        <p:spPr>
          <a:xfrm>
            <a:off x="4782312" y="3895344"/>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5</a:t>
            </a:r>
            <a:endParaRPr b="0" i="0" sz="1230" u="none" cap="none" strike="noStrike">
              <a:solidFill>
                <a:schemeClr val="dk1"/>
              </a:solidFill>
              <a:latin typeface="Inter"/>
              <a:ea typeface="Inter"/>
              <a:cs typeface="Inter"/>
              <a:sym typeface="Inter"/>
            </a:endParaRPr>
          </a:p>
        </p:txBody>
      </p:sp>
      <p:sp>
        <p:nvSpPr>
          <p:cNvPr id="583" name="Google Shape;583;p14"/>
          <p:cNvSpPr/>
          <p:nvPr/>
        </p:nvSpPr>
        <p:spPr>
          <a:xfrm>
            <a:off x="5330952" y="3840480"/>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SELEÇÃO</a:t>
            </a:r>
            <a:endParaRPr b="0" i="0" sz="1650" u="none" cap="none" strike="noStrike">
              <a:solidFill>
                <a:schemeClr val="dk1"/>
              </a:solidFill>
              <a:latin typeface="Inter"/>
              <a:ea typeface="Inter"/>
              <a:cs typeface="Inter"/>
              <a:sym typeface="Inter"/>
            </a:endParaRPr>
          </a:p>
        </p:txBody>
      </p:sp>
      <p:sp>
        <p:nvSpPr>
          <p:cNvPr id="584" name="Google Shape;584;p14"/>
          <p:cNvSpPr/>
          <p:nvPr/>
        </p:nvSpPr>
        <p:spPr>
          <a:xfrm>
            <a:off x="5330952" y="4297680"/>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S5 → S6/S7/S8</a:t>
            </a:r>
            <a:endParaRPr b="0" i="0" sz="1360" u="none" cap="none" strike="noStrike">
              <a:solidFill>
                <a:schemeClr val="dk1"/>
              </a:solidFill>
              <a:latin typeface="Inter"/>
              <a:ea typeface="Inter"/>
              <a:cs typeface="Inter"/>
              <a:sym typeface="Inter"/>
            </a:endParaRPr>
          </a:p>
        </p:txBody>
      </p:sp>
      <p:sp>
        <p:nvSpPr>
          <p:cNvPr id="585" name="Google Shape;585;p14"/>
          <p:cNvSpPr/>
          <p:nvPr/>
        </p:nvSpPr>
        <p:spPr>
          <a:xfrm>
            <a:off x="8494776" y="3630168"/>
            <a:ext cx="3511296" cy="1234440"/>
          </a:xfrm>
          <a:prstGeom prst="roundRect">
            <a:avLst>
              <a:gd fmla="val 13333"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4"/>
          <p:cNvSpPr/>
          <p:nvPr/>
        </p:nvSpPr>
        <p:spPr>
          <a:xfrm>
            <a:off x="8668512" y="3813048"/>
            <a:ext cx="402336" cy="402336"/>
          </a:xfrm>
          <a:prstGeom prst="ellipse">
            <a:avLst/>
          </a:prstGeom>
          <a:solidFill>
            <a:srgbClr val="067F75"/>
          </a:solidFill>
          <a:ln cap="flat" cmpd="sng" w="12700">
            <a:solidFill>
              <a:srgbClr val="067F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4"/>
          <p:cNvSpPr/>
          <p:nvPr/>
        </p:nvSpPr>
        <p:spPr>
          <a:xfrm>
            <a:off x="8677656" y="3895344"/>
            <a:ext cx="384048" cy="2103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30"/>
              <a:buFont typeface="Inter"/>
              <a:buNone/>
            </a:pPr>
            <a:r>
              <a:rPr b="1" i="0" lang="en-US" sz="1230" u="none" cap="none" strike="noStrike">
                <a:solidFill>
                  <a:srgbClr val="FFFFFF"/>
                </a:solidFill>
                <a:latin typeface="Inter"/>
                <a:ea typeface="Inter"/>
                <a:cs typeface="Inter"/>
                <a:sym typeface="Inter"/>
              </a:rPr>
              <a:t>6</a:t>
            </a:r>
            <a:endParaRPr b="0" i="0" sz="1230" u="none" cap="none" strike="noStrike">
              <a:solidFill>
                <a:schemeClr val="dk1"/>
              </a:solidFill>
              <a:latin typeface="Inter"/>
              <a:ea typeface="Inter"/>
              <a:cs typeface="Inter"/>
              <a:sym typeface="Inter"/>
            </a:endParaRPr>
          </a:p>
        </p:txBody>
      </p:sp>
      <p:sp>
        <p:nvSpPr>
          <p:cNvPr id="588" name="Google Shape;588;p14"/>
          <p:cNvSpPr/>
          <p:nvPr/>
        </p:nvSpPr>
        <p:spPr>
          <a:xfrm>
            <a:off x="9226296" y="3840480"/>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650"/>
              <a:buFont typeface="Inter"/>
              <a:buNone/>
            </a:pPr>
            <a:r>
              <a:rPr b="1" i="0" lang="en-US" sz="1650" u="none" cap="none" strike="noStrike">
                <a:solidFill>
                  <a:srgbClr val="102A39"/>
                </a:solidFill>
                <a:latin typeface="Inter"/>
                <a:ea typeface="Inter"/>
                <a:cs typeface="Inter"/>
                <a:sym typeface="Inter"/>
              </a:rPr>
              <a:t>RELATÓRIO</a:t>
            </a:r>
            <a:endParaRPr b="0" i="0" sz="1650" u="none" cap="none" strike="noStrike">
              <a:solidFill>
                <a:schemeClr val="dk1"/>
              </a:solidFill>
              <a:latin typeface="Inter"/>
              <a:ea typeface="Inter"/>
              <a:cs typeface="Inter"/>
              <a:sym typeface="Inter"/>
            </a:endParaRPr>
          </a:p>
        </p:txBody>
      </p:sp>
      <p:sp>
        <p:nvSpPr>
          <p:cNvPr id="589" name="Google Shape;589;p14"/>
          <p:cNvSpPr/>
          <p:nvPr/>
        </p:nvSpPr>
        <p:spPr>
          <a:xfrm>
            <a:off x="9226296" y="4297680"/>
            <a:ext cx="2478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CSV final</a:t>
            </a:r>
            <a:endParaRPr b="0" i="0" sz="1360" u="none" cap="none" strike="noStrike">
              <a:solidFill>
                <a:schemeClr val="dk1"/>
              </a:solidFill>
              <a:latin typeface="Inter"/>
              <a:ea typeface="Inter"/>
              <a:cs typeface="Inter"/>
              <a:sym typeface="Inter"/>
            </a:endParaRPr>
          </a:p>
        </p:txBody>
      </p:sp>
      <p:sp>
        <p:nvSpPr>
          <p:cNvPr id="590" name="Google Shape;590;p14"/>
          <p:cNvSpPr/>
          <p:nvPr/>
        </p:nvSpPr>
        <p:spPr>
          <a:xfrm>
            <a:off x="786384" y="5440680"/>
            <a:ext cx="10661904" cy="640080"/>
          </a:xfrm>
          <a:prstGeom prst="roundRect">
            <a:avLst>
              <a:gd fmla="val 25714"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4"/>
          <p:cNvSpPr/>
          <p:nvPr/>
        </p:nvSpPr>
        <p:spPr>
          <a:xfrm>
            <a:off x="1069848" y="5623560"/>
            <a:ext cx="4974336"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20"/>
              <a:buFont typeface="Inter"/>
              <a:buNone/>
            </a:pPr>
            <a:r>
              <a:rPr b="1" i="0" lang="en-US" sz="1520" u="none" cap="none" strike="noStrike">
                <a:solidFill>
                  <a:srgbClr val="FFFFFF"/>
                </a:solidFill>
                <a:latin typeface="Inter"/>
                <a:ea typeface="Inter"/>
                <a:cs typeface="Inter"/>
                <a:sym typeface="Inter"/>
              </a:rPr>
              <a:t>Interface:  streamlit run app.py</a:t>
            </a:r>
            <a:endParaRPr b="0" i="0" sz="1520" u="none" cap="none" strike="noStrike">
              <a:solidFill>
                <a:schemeClr val="dk1"/>
              </a:solidFill>
              <a:latin typeface="Inter"/>
              <a:ea typeface="Inter"/>
              <a:cs typeface="Inter"/>
              <a:sym typeface="Inter"/>
            </a:endParaRPr>
          </a:p>
        </p:txBody>
      </p:sp>
      <p:sp>
        <p:nvSpPr>
          <p:cNvPr id="592" name="Google Shape;592;p14"/>
          <p:cNvSpPr/>
          <p:nvPr/>
        </p:nvSpPr>
        <p:spPr>
          <a:xfrm>
            <a:off x="6025896" y="5623560"/>
            <a:ext cx="5084064"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E5DE"/>
              </a:buClr>
              <a:buSzPts val="1440"/>
              <a:buFont typeface="Inter"/>
              <a:buNone/>
            </a:pPr>
            <a:r>
              <a:rPr b="0" i="0" lang="en-US" sz="1440" u="none" cap="none" strike="noStrike">
                <a:solidFill>
                  <a:srgbClr val="C5E5DE"/>
                </a:solidFill>
                <a:latin typeface="Inter"/>
                <a:ea typeface="Inter"/>
                <a:cs typeface="Inter"/>
                <a:sym typeface="Inter"/>
              </a:rPr>
              <a:t>Terminal:  python cli.py --betas ...</a:t>
            </a:r>
            <a:endParaRPr b="0" i="0" sz="1440" u="none" cap="none" strike="noStrike">
              <a:solidFill>
                <a:schemeClr val="dk1"/>
              </a:solidFill>
              <a:latin typeface="Inter"/>
              <a:ea typeface="Inter"/>
              <a:cs typeface="Inter"/>
              <a:sym typeface="Inter"/>
            </a:endParaRPr>
          </a:p>
        </p:txBody>
      </p:sp>
      <p:cxnSp>
        <p:nvCxnSpPr>
          <p:cNvPr id="593" name="Google Shape;593;p14"/>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594" name="Google Shape;594;p14"/>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595" name="Google Shape;595;p14"/>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11</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600" name="Shape 600"/>
        <p:cNvGrpSpPr/>
        <p:nvPr/>
      </p:nvGrpSpPr>
      <p:grpSpPr>
        <a:xfrm>
          <a:off x="0" y="0"/>
          <a:ext cx="0" cy="0"/>
          <a:chOff x="0" y="0"/>
          <a:chExt cx="0" cy="0"/>
        </a:xfrm>
      </p:grpSpPr>
      <p:sp>
        <p:nvSpPr>
          <p:cNvPr id="601" name="Google Shape;601;p15"/>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11 · COMO LER A SAÍDA</a:t>
            </a:r>
            <a:endParaRPr b="0" i="0" sz="1050" u="none" cap="none" strike="noStrike">
              <a:solidFill>
                <a:schemeClr val="dk1"/>
              </a:solidFill>
              <a:latin typeface="Inter"/>
              <a:ea typeface="Inter"/>
              <a:cs typeface="Inter"/>
              <a:sym typeface="Inter"/>
            </a:endParaRPr>
          </a:p>
        </p:txBody>
      </p:sp>
      <p:sp>
        <p:nvSpPr>
          <p:cNvPr id="602" name="Google Shape;602;p15"/>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O relatório explica o cálculo, não apenas a idade</a:t>
            </a:r>
            <a:endParaRPr b="0" i="0" sz="2950" u="none" cap="none" strike="noStrike">
              <a:solidFill>
                <a:schemeClr val="dk1"/>
              </a:solidFill>
              <a:latin typeface="Inter"/>
              <a:ea typeface="Inter"/>
              <a:cs typeface="Inter"/>
              <a:sym typeface="Inter"/>
            </a:endParaRPr>
          </a:p>
        </p:txBody>
      </p:sp>
      <p:sp>
        <p:nvSpPr>
          <p:cNvPr id="603" name="Google Shape;603;p15"/>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Ele permite conferir qual modelo foi usado e quantos CpGs estavam disponíveis.</a:t>
            </a:r>
            <a:endParaRPr b="0" i="0" sz="1420" u="none" cap="none" strike="noStrike">
              <a:solidFill>
                <a:schemeClr val="dk1"/>
              </a:solidFill>
              <a:latin typeface="Inter"/>
              <a:ea typeface="Inter"/>
              <a:cs typeface="Inter"/>
              <a:sym typeface="Inter"/>
            </a:endParaRPr>
          </a:p>
        </p:txBody>
      </p:sp>
      <p:sp>
        <p:nvSpPr>
          <p:cNvPr id="604" name="Google Shape;604;p15"/>
          <p:cNvSpPr/>
          <p:nvPr/>
        </p:nvSpPr>
        <p:spPr>
          <a:xfrm>
            <a:off x="740664" y="2084832"/>
            <a:ext cx="10661904" cy="3374136"/>
          </a:xfrm>
          <a:prstGeom prst="roundRect">
            <a:avLst>
              <a:gd fmla="val 6775"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1051560" y="2377440"/>
            <a:ext cx="2194560" cy="338328"/>
          </a:xfrm>
          <a:prstGeom prst="roundRect">
            <a:avLst>
              <a:gd fmla="val 43243" name="adj"/>
            </a:avLst>
          </a:prstGeom>
          <a:solidFill>
            <a:srgbClr val="FCEADA"/>
          </a:solidFill>
          <a:ln cap="flat" cmpd="sng" w="12700">
            <a:solidFill>
              <a:srgbClr val="FCEA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1143000" y="2409444"/>
            <a:ext cx="2011680" cy="2651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65B30"/>
              </a:buClr>
              <a:buSzPts val="1040"/>
              <a:buFont typeface="Inter"/>
              <a:buNone/>
            </a:pPr>
            <a:r>
              <a:rPr b="1" i="0" lang="en-US" sz="1040" u="none" cap="none" strike="noStrike">
                <a:solidFill>
                  <a:srgbClr val="965B30"/>
                </a:solidFill>
                <a:latin typeface="Inter"/>
                <a:ea typeface="Inter"/>
                <a:cs typeface="Inter"/>
                <a:sym typeface="Inter"/>
              </a:rPr>
              <a:t>EXEMPLO ILUSTRATIVO</a:t>
            </a:r>
            <a:endParaRPr b="0" i="0" sz="1040" u="none" cap="none" strike="noStrike">
              <a:solidFill>
                <a:schemeClr val="dk1"/>
              </a:solidFill>
              <a:latin typeface="Inter"/>
              <a:ea typeface="Inter"/>
              <a:cs typeface="Inter"/>
              <a:sym typeface="Inter"/>
            </a:endParaRPr>
          </a:p>
        </p:txBody>
      </p:sp>
      <p:sp>
        <p:nvSpPr>
          <p:cNvPr id="607" name="Google Shape;607;p15"/>
          <p:cNvSpPr/>
          <p:nvPr/>
        </p:nvSpPr>
        <p:spPr>
          <a:xfrm>
            <a:off x="1097280" y="2907792"/>
            <a:ext cx="2898648" cy="8869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5600"/>
              <a:buFont typeface="Inter"/>
              <a:buNone/>
            </a:pPr>
            <a:r>
              <a:rPr b="1" i="0" lang="en-US" sz="5600" u="none" cap="none" strike="noStrike">
                <a:solidFill>
                  <a:srgbClr val="067F75"/>
                </a:solidFill>
                <a:latin typeface="Inter"/>
                <a:ea typeface="Inter"/>
                <a:cs typeface="Inter"/>
                <a:sym typeface="Inter"/>
              </a:rPr>
              <a:t>30,4</a:t>
            </a:r>
            <a:endParaRPr b="0" i="0" sz="5600" u="none" cap="none" strike="noStrike">
              <a:solidFill>
                <a:schemeClr val="dk1"/>
              </a:solidFill>
              <a:latin typeface="Inter"/>
              <a:ea typeface="Inter"/>
              <a:cs typeface="Inter"/>
              <a:sym typeface="Inter"/>
            </a:endParaRPr>
          </a:p>
        </p:txBody>
      </p:sp>
      <p:sp>
        <p:nvSpPr>
          <p:cNvPr id="608" name="Google Shape;608;p15"/>
          <p:cNvSpPr/>
          <p:nvPr/>
        </p:nvSpPr>
        <p:spPr>
          <a:xfrm>
            <a:off x="1097280" y="3904488"/>
            <a:ext cx="288950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800"/>
              <a:buFont typeface="Inter"/>
              <a:buNone/>
            </a:pPr>
            <a:r>
              <a:rPr b="0" i="0" lang="en-US" sz="1800" u="none" cap="none" strike="noStrike">
                <a:solidFill>
                  <a:srgbClr val="536979"/>
                </a:solidFill>
                <a:latin typeface="Inter"/>
                <a:ea typeface="Inter"/>
                <a:cs typeface="Inter"/>
                <a:sym typeface="Inter"/>
              </a:rPr>
              <a:t>anos estimados</a:t>
            </a:r>
            <a:endParaRPr b="0" i="0" sz="1800" u="none" cap="none" strike="noStrike">
              <a:solidFill>
                <a:schemeClr val="dk1"/>
              </a:solidFill>
              <a:latin typeface="Inter"/>
              <a:ea typeface="Inter"/>
              <a:cs typeface="Inter"/>
              <a:sym typeface="Inter"/>
            </a:endParaRPr>
          </a:p>
        </p:txBody>
      </p:sp>
      <p:cxnSp>
        <p:nvCxnSpPr>
          <p:cNvPr id="609" name="Google Shape;609;p15"/>
          <p:cNvCxnSpPr/>
          <p:nvPr/>
        </p:nvCxnSpPr>
        <p:spPr>
          <a:xfrm>
            <a:off x="4270248" y="2715768"/>
            <a:ext cx="0" cy="2331720"/>
          </a:xfrm>
          <a:prstGeom prst="straightConnector1">
            <a:avLst/>
          </a:prstGeom>
          <a:noFill/>
          <a:ln cap="flat" cmpd="sng" w="17775">
            <a:solidFill>
              <a:srgbClr val="DCE5E4"/>
            </a:solidFill>
            <a:prstDash val="solid"/>
            <a:round/>
            <a:headEnd len="sm" w="sm" type="none"/>
            <a:tailEnd len="sm" w="sm" type="none"/>
          </a:ln>
        </p:spPr>
      </p:cxnSp>
      <p:sp>
        <p:nvSpPr>
          <p:cNvPr id="610" name="Google Shape;610;p15"/>
          <p:cNvSpPr/>
          <p:nvPr/>
        </p:nvSpPr>
        <p:spPr>
          <a:xfrm>
            <a:off x="4645152" y="2706624"/>
            <a:ext cx="287121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50"/>
              <a:buFont typeface="Inter"/>
              <a:buNone/>
            </a:pPr>
            <a:r>
              <a:rPr b="0" i="0" lang="en-US" sz="1550" u="none" cap="none" strike="noStrike">
                <a:solidFill>
                  <a:srgbClr val="536979"/>
                </a:solidFill>
                <a:latin typeface="Inter"/>
                <a:ea typeface="Inter"/>
                <a:cs typeface="Inter"/>
                <a:sym typeface="Inter"/>
              </a:rPr>
              <a:t>Modelo aplicado</a:t>
            </a:r>
            <a:endParaRPr b="0" i="0" sz="1550" u="none" cap="none" strike="noStrike">
              <a:solidFill>
                <a:schemeClr val="dk1"/>
              </a:solidFill>
              <a:latin typeface="Inter"/>
              <a:ea typeface="Inter"/>
              <a:cs typeface="Inter"/>
              <a:sym typeface="Inter"/>
            </a:endParaRPr>
          </a:p>
        </p:txBody>
      </p:sp>
      <p:sp>
        <p:nvSpPr>
          <p:cNvPr id="611" name="Google Shape;611;p15"/>
          <p:cNvSpPr/>
          <p:nvPr/>
        </p:nvSpPr>
        <p:spPr>
          <a:xfrm>
            <a:off x="7918704" y="2706624"/>
            <a:ext cx="294436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00"/>
              <a:buFont typeface="Inter"/>
              <a:buNone/>
            </a:pPr>
            <a:r>
              <a:rPr b="1" i="0" lang="en-US" sz="1700" u="none" cap="none" strike="noStrike">
                <a:solidFill>
                  <a:srgbClr val="102A39"/>
                </a:solidFill>
                <a:latin typeface="Inter"/>
                <a:ea typeface="Inter"/>
                <a:cs typeface="Inter"/>
                <a:sym typeface="Inter"/>
              </a:rPr>
              <a:t>Jovem (S6)</a:t>
            </a:r>
            <a:endParaRPr b="0" i="0" sz="1700" u="none" cap="none" strike="noStrike">
              <a:solidFill>
                <a:schemeClr val="dk1"/>
              </a:solidFill>
              <a:latin typeface="Inter"/>
              <a:ea typeface="Inter"/>
              <a:cs typeface="Inter"/>
              <a:sym typeface="Inter"/>
            </a:endParaRPr>
          </a:p>
        </p:txBody>
      </p:sp>
      <p:sp>
        <p:nvSpPr>
          <p:cNvPr id="612" name="Google Shape;612;p15"/>
          <p:cNvSpPr/>
          <p:nvPr/>
        </p:nvSpPr>
        <p:spPr>
          <a:xfrm>
            <a:off x="4645152" y="3291840"/>
            <a:ext cx="287121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50"/>
              <a:buFont typeface="Inter"/>
              <a:buNone/>
            </a:pPr>
            <a:r>
              <a:rPr b="0" i="0" lang="en-US" sz="1550" u="none" cap="none" strike="noStrike">
                <a:solidFill>
                  <a:srgbClr val="536979"/>
                </a:solidFill>
                <a:latin typeface="Inter"/>
                <a:ea typeface="Inter"/>
                <a:cs typeface="Inter"/>
                <a:sym typeface="Inter"/>
              </a:rPr>
              <a:t>CpGs medidos</a:t>
            </a:r>
            <a:endParaRPr b="0" i="0" sz="1550" u="none" cap="none" strike="noStrike">
              <a:solidFill>
                <a:schemeClr val="dk1"/>
              </a:solidFill>
              <a:latin typeface="Inter"/>
              <a:ea typeface="Inter"/>
              <a:cs typeface="Inter"/>
              <a:sym typeface="Inter"/>
            </a:endParaRPr>
          </a:p>
        </p:txBody>
      </p:sp>
      <p:sp>
        <p:nvSpPr>
          <p:cNvPr id="613" name="Google Shape;613;p15"/>
          <p:cNvSpPr/>
          <p:nvPr/>
        </p:nvSpPr>
        <p:spPr>
          <a:xfrm>
            <a:off x="7918704" y="3291840"/>
            <a:ext cx="294436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00"/>
              <a:buFont typeface="Inter"/>
              <a:buNone/>
            </a:pPr>
            <a:r>
              <a:rPr b="1" i="0" lang="en-US" sz="1700" u="none" cap="none" strike="noStrike">
                <a:solidFill>
                  <a:srgbClr val="102A39"/>
                </a:solidFill>
                <a:latin typeface="Inter"/>
                <a:ea typeface="Inter"/>
                <a:cs typeface="Inter"/>
                <a:sym typeface="Inter"/>
              </a:rPr>
              <a:t>90 de 100</a:t>
            </a:r>
            <a:endParaRPr b="0" i="0" sz="1700" u="none" cap="none" strike="noStrike">
              <a:solidFill>
                <a:schemeClr val="dk1"/>
              </a:solidFill>
              <a:latin typeface="Inter"/>
              <a:ea typeface="Inter"/>
              <a:cs typeface="Inter"/>
              <a:sym typeface="Inter"/>
            </a:endParaRPr>
          </a:p>
        </p:txBody>
      </p:sp>
      <p:sp>
        <p:nvSpPr>
          <p:cNvPr id="614" name="Google Shape;614;p15"/>
          <p:cNvSpPr/>
          <p:nvPr/>
        </p:nvSpPr>
        <p:spPr>
          <a:xfrm>
            <a:off x="4645152" y="3877056"/>
            <a:ext cx="287121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50"/>
              <a:buFont typeface="Inter"/>
              <a:buNone/>
            </a:pPr>
            <a:r>
              <a:rPr b="0" i="0" lang="en-US" sz="1550" u="none" cap="none" strike="noStrike">
                <a:solidFill>
                  <a:srgbClr val="536979"/>
                </a:solidFill>
                <a:latin typeface="Inter"/>
                <a:ea typeface="Inter"/>
                <a:cs typeface="Inter"/>
                <a:sym typeface="Inter"/>
              </a:rPr>
              <a:t>Cobertura medida</a:t>
            </a:r>
            <a:endParaRPr b="0" i="0" sz="1550" u="none" cap="none" strike="noStrike">
              <a:solidFill>
                <a:schemeClr val="dk1"/>
              </a:solidFill>
              <a:latin typeface="Inter"/>
              <a:ea typeface="Inter"/>
              <a:cs typeface="Inter"/>
              <a:sym typeface="Inter"/>
            </a:endParaRPr>
          </a:p>
        </p:txBody>
      </p:sp>
      <p:sp>
        <p:nvSpPr>
          <p:cNvPr id="615" name="Google Shape;615;p15"/>
          <p:cNvSpPr/>
          <p:nvPr/>
        </p:nvSpPr>
        <p:spPr>
          <a:xfrm>
            <a:off x="7918704" y="3877056"/>
            <a:ext cx="294436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00"/>
              <a:buFont typeface="Inter"/>
              <a:buNone/>
            </a:pPr>
            <a:r>
              <a:rPr b="1" i="0" lang="en-US" sz="1700" u="none" cap="none" strike="noStrike">
                <a:solidFill>
                  <a:srgbClr val="102A39"/>
                </a:solidFill>
                <a:latin typeface="Inter"/>
                <a:ea typeface="Inter"/>
                <a:cs typeface="Inter"/>
                <a:sym typeface="Inter"/>
              </a:rPr>
              <a:t>90%</a:t>
            </a:r>
            <a:endParaRPr b="0" i="0" sz="1700" u="none" cap="none" strike="noStrike">
              <a:solidFill>
                <a:schemeClr val="dk1"/>
              </a:solidFill>
              <a:latin typeface="Inter"/>
              <a:ea typeface="Inter"/>
              <a:cs typeface="Inter"/>
              <a:sym typeface="Inter"/>
            </a:endParaRPr>
          </a:p>
        </p:txBody>
      </p:sp>
      <p:sp>
        <p:nvSpPr>
          <p:cNvPr id="616" name="Google Shape;616;p15"/>
          <p:cNvSpPr/>
          <p:nvPr/>
        </p:nvSpPr>
        <p:spPr>
          <a:xfrm>
            <a:off x="4645152" y="4462272"/>
            <a:ext cx="2871216"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550"/>
              <a:buFont typeface="Inter"/>
              <a:buNone/>
            </a:pPr>
            <a:r>
              <a:rPr b="0" i="0" lang="en-US" sz="1550" u="none" cap="none" strike="noStrike">
                <a:solidFill>
                  <a:srgbClr val="536979"/>
                </a:solidFill>
                <a:latin typeface="Inter"/>
                <a:ea typeface="Inter"/>
                <a:cs typeface="Inter"/>
                <a:sym typeface="Inter"/>
              </a:rPr>
              <a:t>CpGs ausentes</a:t>
            </a:r>
            <a:endParaRPr b="0" i="0" sz="1550" u="none" cap="none" strike="noStrike">
              <a:solidFill>
                <a:schemeClr val="dk1"/>
              </a:solidFill>
              <a:latin typeface="Inter"/>
              <a:ea typeface="Inter"/>
              <a:cs typeface="Inter"/>
              <a:sym typeface="Inter"/>
            </a:endParaRPr>
          </a:p>
        </p:txBody>
      </p:sp>
      <p:sp>
        <p:nvSpPr>
          <p:cNvPr id="617" name="Google Shape;617;p15"/>
          <p:cNvSpPr/>
          <p:nvPr/>
        </p:nvSpPr>
        <p:spPr>
          <a:xfrm>
            <a:off x="7918704" y="4462272"/>
            <a:ext cx="2944368" cy="3566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00"/>
              <a:buFont typeface="Inter"/>
              <a:buNone/>
            </a:pPr>
            <a:r>
              <a:rPr b="1" i="0" lang="en-US" sz="1700" u="none" cap="none" strike="noStrike">
                <a:solidFill>
                  <a:srgbClr val="102A39"/>
                </a:solidFill>
                <a:latin typeface="Inter"/>
                <a:ea typeface="Inter"/>
                <a:cs typeface="Inter"/>
                <a:sym typeface="Inter"/>
              </a:rPr>
              <a:t>10</a:t>
            </a:r>
            <a:endParaRPr b="0" i="0" sz="1700" u="none" cap="none" strike="noStrike">
              <a:solidFill>
                <a:schemeClr val="dk1"/>
              </a:solidFill>
              <a:latin typeface="Inter"/>
              <a:ea typeface="Inter"/>
              <a:cs typeface="Inter"/>
              <a:sym typeface="Inter"/>
            </a:endParaRPr>
          </a:p>
        </p:txBody>
      </p:sp>
      <p:sp>
        <p:nvSpPr>
          <p:cNvPr id="618" name="Google Shape;618;p15"/>
          <p:cNvSpPr/>
          <p:nvPr/>
        </p:nvSpPr>
        <p:spPr>
          <a:xfrm>
            <a:off x="1069848" y="5788152"/>
            <a:ext cx="1017727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360"/>
              <a:buFont typeface="Inter"/>
              <a:buNone/>
            </a:pPr>
            <a:r>
              <a:rPr b="0" i="0" lang="en-US" sz="1360" u="none" cap="none" strike="noStrike">
                <a:solidFill>
                  <a:srgbClr val="536979"/>
                </a:solidFill>
                <a:latin typeface="Inter"/>
                <a:ea typeface="Inter"/>
                <a:cs typeface="Inter"/>
                <a:sym typeface="Inter"/>
              </a:rPr>
              <a:t>Os números são fictícios. Não representam as previsões reais das cinco pessoas.</a:t>
            </a:r>
            <a:endParaRPr b="0" i="0" sz="1360" u="none" cap="none" strike="noStrike">
              <a:solidFill>
                <a:schemeClr val="dk1"/>
              </a:solidFill>
              <a:latin typeface="Inter"/>
              <a:ea typeface="Inter"/>
              <a:cs typeface="Inter"/>
              <a:sym typeface="Inter"/>
            </a:endParaRPr>
          </a:p>
        </p:txBody>
      </p:sp>
      <p:cxnSp>
        <p:nvCxnSpPr>
          <p:cNvPr id="619" name="Google Shape;619;p15"/>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620" name="Google Shape;620;p15"/>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621" name="Google Shape;621;p15"/>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12</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7"/>
        </a:solidFill>
      </p:bgPr>
    </p:bg>
    <p:spTree>
      <p:nvGrpSpPr>
        <p:cNvPr id="626" name="Shape 626"/>
        <p:cNvGrpSpPr/>
        <p:nvPr/>
      </p:nvGrpSpPr>
      <p:grpSpPr>
        <a:xfrm>
          <a:off x="0" y="0"/>
          <a:ext cx="0" cy="0"/>
          <a:chOff x="0" y="0"/>
          <a:chExt cx="0" cy="0"/>
        </a:xfrm>
      </p:grpSpPr>
      <p:sp>
        <p:nvSpPr>
          <p:cNvPr id="627" name="Google Shape;627;p16"/>
          <p:cNvSpPr/>
          <p:nvPr/>
        </p:nvSpPr>
        <p:spPr>
          <a:xfrm>
            <a:off x="612648" y="301752"/>
            <a:ext cx="10058400" cy="2103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67F75"/>
              </a:buClr>
              <a:buSzPts val="1050"/>
              <a:buFont typeface="Inter"/>
              <a:buNone/>
            </a:pPr>
            <a:r>
              <a:rPr b="1" i="0" lang="en-US" sz="1050" u="none" cap="none" strike="noStrike">
                <a:solidFill>
                  <a:srgbClr val="067F75"/>
                </a:solidFill>
                <a:latin typeface="Inter"/>
                <a:ea typeface="Inter"/>
                <a:cs typeface="Inter"/>
                <a:sym typeface="Inter"/>
              </a:rPr>
              <a:t>12 · CONCLUSÃO</a:t>
            </a:r>
            <a:endParaRPr b="0" i="0" sz="1050" u="none" cap="none" strike="noStrike">
              <a:solidFill>
                <a:schemeClr val="dk1"/>
              </a:solidFill>
              <a:latin typeface="Inter"/>
              <a:ea typeface="Inter"/>
              <a:cs typeface="Inter"/>
              <a:sym typeface="Inter"/>
            </a:endParaRPr>
          </a:p>
        </p:txBody>
      </p:sp>
      <p:sp>
        <p:nvSpPr>
          <p:cNvPr id="628" name="Google Shape;628;p16"/>
          <p:cNvSpPr/>
          <p:nvPr/>
        </p:nvSpPr>
        <p:spPr>
          <a:xfrm>
            <a:off x="612648" y="658368"/>
            <a:ext cx="109270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2950"/>
              <a:buFont typeface="Inter"/>
              <a:buNone/>
            </a:pPr>
            <a:r>
              <a:rPr b="1" i="0" lang="en-US" sz="2950" u="none" cap="none" strike="noStrike">
                <a:solidFill>
                  <a:srgbClr val="102A39"/>
                </a:solidFill>
                <a:latin typeface="Inter"/>
                <a:ea typeface="Inter"/>
                <a:cs typeface="Inter"/>
                <a:sym typeface="Inter"/>
              </a:rPr>
              <a:t>O que aprendemos com o projeto?</a:t>
            </a:r>
            <a:endParaRPr b="0" i="0" sz="2950" u="none" cap="none" strike="noStrike">
              <a:solidFill>
                <a:schemeClr val="dk1"/>
              </a:solidFill>
              <a:latin typeface="Inter"/>
              <a:ea typeface="Inter"/>
              <a:cs typeface="Inter"/>
              <a:sym typeface="Inter"/>
            </a:endParaRPr>
          </a:p>
        </p:txBody>
      </p:sp>
      <p:sp>
        <p:nvSpPr>
          <p:cNvPr id="629" name="Google Shape;629;p16"/>
          <p:cNvSpPr/>
          <p:nvPr/>
        </p:nvSpPr>
        <p:spPr>
          <a:xfrm>
            <a:off x="640080" y="1399032"/>
            <a:ext cx="109728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20"/>
              <a:buFont typeface="Inter"/>
              <a:buNone/>
            </a:pPr>
            <a:r>
              <a:rPr b="0" i="0" lang="en-US" sz="1420" u="none" cap="none" strike="noStrike">
                <a:solidFill>
                  <a:srgbClr val="536979"/>
                </a:solidFill>
                <a:latin typeface="Inter"/>
                <a:ea typeface="Inter"/>
                <a:cs typeface="Inter"/>
                <a:sym typeface="Inter"/>
              </a:rPr>
              <a:t>Uma pesquisa científica pode virar uma ferramenta reproduzível e transparente.</a:t>
            </a:r>
            <a:endParaRPr b="0" i="0" sz="1420" u="none" cap="none" strike="noStrike">
              <a:solidFill>
                <a:schemeClr val="dk1"/>
              </a:solidFill>
              <a:latin typeface="Inter"/>
              <a:ea typeface="Inter"/>
              <a:cs typeface="Inter"/>
              <a:sym typeface="Inter"/>
            </a:endParaRPr>
          </a:p>
        </p:txBody>
      </p:sp>
      <p:sp>
        <p:nvSpPr>
          <p:cNvPr id="630" name="Google Shape;630;p16"/>
          <p:cNvSpPr/>
          <p:nvPr/>
        </p:nvSpPr>
        <p:spPr>
          <a:xfrm>
            <a:off x="768096" y="2020824"/>
            <a:ext cx="6583680" cy="886968"/>
          </a:xfrm>
          <a:prstGeom prst="roundRect">
            <a:avLst>
              <a:gd fmla="val 1855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6"/>
          <p:cNvSpPr/>
          <p:nvPr/>
        </p:nvSpPr>
        <p:spPr>
          <a:xfrm>
            <a:off x="987552" y="2267712"/>
            <a:ext cx="365760" cy="365760"/>
          </a:xfrm>
          <a:prstGeom prst="ellipse">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6"/>
          <p:cNvSpPr/>
          <p:nvPr/>
        </p:nvSpPr>
        <p:spPr>
          <a:xfrm>
            <a:off x="1028700" y="2308860"/>
            <a:ext cx="29260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F75"/>
              </a:buClr>
              <a:buSzPts val="1500"/>
              <a:buFont typeface="Inter"/>
              <a:buNone/>
            </a:pPr>
            <a:r>
              <a:rPr b="1" i="0" lang="en-US" sz="1500" u="none" cap="none" strike="noStrike">
                <a:solidFill>
                  <a:srgbClr val="067F75"/>
                </a:solidFill>
                <a:latin typeface="Inter"/>
                <a:ea typeface="Inter"/>
                <a:cs typeface="Inter"/>
                <a:sym typeface="Inter"/>
              </a:rPr>
              <a:t>✓</a:t>
            </a:r>
            <a:endParaRPr b="0" i="0" sz="1500" u="none" cap="none" strike="noStrike">
              <a:solidFill>
                <a:schemeClr val="dk1"/>
              </a:solidFill>
              <a:latin typeface="Inter"/>
              <a:ea typeface="Inter"/>
              <a:cs typeface="Inter"/>
              <a:sym typeface="Inter"/>
            </a:endParaRPr>
          </a:p>
        </p:txBody>
      </p:sp>
      <p:sp>
        <p:nvSpPr>
          <p:cNvPr id="633" name="Google Shape;633;p16"/>
          <p:cNvSpPr/>
          <p:nvPr/>
        </p:nvSpPr>
        <p:spPr>
          <a:xfrm>
            <a:off x="1554480" y="2139696"/>
            <a:ext cx="539496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50"/>
              <a:buFont typeface="Inter"/>
              <a:buNone/>
            </a:pPr>
            <a:r>
              <a:rPr b="1" i="0" lang="en-US" sz="1750" u="none" cap="none" strike="noStrike">
                <a:solidFill>
                  <a:srgbClr val="102A39"/>
                </a:solidFill>
                <a:latin typeface="Inter"/>
                <a:ea typeface="Inter"/>
                <a:cs typeface="Inter"/>
                <a:sym typeface="Inter"/>
              </a:rPr>
              <a:t>Transformação</a:t>
            </a:r>
            <a:endParaRPr b="0" i="0" sz="1750" u="none" cap="none" strike="noStrike">
              <a:solidFill>
                <a:schemeClr val="dk1"/>
              </a:solidFill>
              <a:latin typeface="Inter"/>
              <a:ea typeface="Inter"/>
              <a:cs typeface="Inter"/>
              <a:sym typeface="Inter"/>
            </a:endParaRPr>
          </a:p>
        </p:txBody>
      </p:sp>
      <p:sp>
        <p:nvSpPr>
          <p:cNvPr id="634" name="Google Shape;634;p16"/>
          <p:cNvSpPr/>
          <p:nvPr/>
        </p:nvSpPr>
        <p:spPr>
          <a:xfrm>
            <a:off x="1554480" y="2496312"/>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00"/>
              <a:buFont typeface="Inter"/>
              <a:buNone/>
            </a:pPr>
            <a:r>
              <a:rPr b="0" i="0" lang="en-US" sz="1400" u="none" cap="none" strike="noStrike">
                <a:solidFill>
                  <a:srgbClr val="536979"/>
                </a:solidFill>
                <a:latin typeface="Inter"/>
                <a:ea typeface="Inter"/>
                <a:cs typeface="Inter"/>
                <a:sym typeface="Inter"/>
              </a:rPr>
              <a:t>Medições do DNA → estimativa de idade</a:t>
            </a:r>
            <a:endParaRPr b="0" i="0" sz="1400" u="none" cap="none" strike="noStrike">
              <a:solidFill>
                <a:schemeClr val="dk1"/>
              </a:solidFill>
              <a:latin typeface="Inter"/>
              <a:ea typeface="Inter"/>
              <a:cs typeface="Inter"/>
              <a:sym typeface="Inter"/>
            </a:endParaRPr>
          </a:p>
        </p:txBody>
      </p:sp>
      <p:sp>
        <p:nvSpPr>
          <p:cNvPr id="635" name="Google Shape;635;p16"/>
          <p:cNvSpPr/>
          <p:nvPr/>
        </p:nvSpPr>
        <p:spPr>
          <a:xfrm>
            <a:off x="768096" y="3118104"/>
            <a:ext cx="6583680" cy="886968"/>
          </a:xfrm>
          <a:prstGeom prst="roundRect">
            <a:avLst>
              <a:gd fmla="val 1855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a:off x="987552" y="3364992"/>
            <a:ext cx="365760" cy="365760"/>
          </a:xfrm>
          <a:prstGeom prst="ellipse">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a:off x="1028700" y="3406140"/>
            <a:ext cx="29260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F75"/>
              </a:buClr>
              <a:buSzPts val="1500"/>
              <a:buFont typeface="Inter"/>
              <a:buNone/>
            </a:pPr>
            <a:r>
              <a:rPr b="1" i="0" lang="en-US" sz="1500" u="none" cap="none" strike="noStrike">
                <a:solidFill>
                  <a:srgbClr val="067F75"/>
                </a:solidFill>
                <a:latin typeface="Inter"/>
                <a:ea typeface="Inter"/>
                <a:cs typeface="Inter"/>
                <a:sym typeface="Inter"/>
              </a:rPr>
              <a:t>✓</a:t>
            </a:r>
            <a:endParaRPr b="0" i="0" sz="1500" u="none" cap="none" strike="noStrike">
              <a:solidFill>
                <a:schemeClr val="dk1"/>
              </a:solidFill>
              <a:latin typeface="Inter"/>
              <a:ea typeface="Inter"/>
              <a:cs typeface="Inter"/>
              <a:sym typeface="Inter"/>
            </a:endParaRPr>
          </a:p>
        </p:txBody>
      </p:sp>
      <p:sp>
        <p:nvSpPr>
          <p:cNvPr id="638" name="Google Shape;638;p16"/>
          <p:cNvSpPr/>
          <p:nvPr/>
        </p:nvSpPr>
        <p:spPr>
          <a:xfrm>
            <a:off x="1554480" y="3236976"/>
            <a:ext cx="539496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50"/>
              <a:buFont typeface="Inter"/>
              <a:buNone/>
            </a:pPr>
            <a:r>
              <a:rPr b="1" i="0" lang="en-US" sz="1750" u="none" cap="none" strike="noStrike">
                <a:solidFill>
                  <a:srgbClr val="102A39"/>
                </a:solidFill>
                <a:latin typeface="Inter"/>
                <a:ea typeface="Inter"/>
                <a:cs typeface="Inter"/>
                <a:sym typeface="Inter"/>
              </a:rPr>
              <a:t>Reprodutibilidade</a:t>
            </a:r>
            <a:endParaRPr b="0" i="0" sz="1750" u="none" cap="none" strike="noStrike">
              <a:solidFill>
                <a:schemeClr val="dk1"/>
              </a:solidFill>
              <a:latin typeface="Inter"/>
              <a:ea typeface="Inter"/>
              <a:cs typeface="Inter"/>
              <a:sym typeface="Inter"/>
            </a:endParaRPr>
          </a:p>
        </p:txBody>
      </p:sp>
      <p:sp>
        <p:nvSpPr>
          <p:cNvPr id="639" name="Google Shape;639;p16"/>
          <p:cNvSpPr/>
          <p:nvPr/>
        </p:nvSpPr>
        <p:spPr>
          <a:xfrm>
            <a:off x="1554480" y="3593592"/>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00"/>
              <a:buFont typeface="Inter"/>
              <a:buNone/>
            </a:pPr>
            <a:r>
              <a:rPr b="0" i="0" lang="en-US" sz="1400" u="none" cap="none" strike="noStrike">
                <a:solidFill>
                  <a:srgbClr val="536979"/>
                </a:solidFill>
                <a:latin typeface="Inter"/>
                <a:ea typeface="Inter"/>
                <a:cs typeface="Inter"/>
                <a:sym typeface="Inter"/>
              </a:rPr>
              <a:t>Usa os coeficientes originais S5–S8</a:t>
            </a:r>
            <a:endParaRPr b="0" i="0" sz="1400" u="none" cap="none" strike="noStrike">
              <a:solidFill>
                <a:schemeClr val="dk1"/>
              </a:solidFill>
              <a:latin typeface="Inter"/>
              <a:ea typeface="Inter"/>
              <a:cs typeface="Inter"/>
              <a:sym typeface="Inter"/>
            </a:endParaRPr>
          </a:p>
        </p:txBody>
      </p:sp>
      <p:sp>
        <p:nvSpPr>
          <p:cNvPr id="640" name="Google Shape;640;p16"/>
          <p:cNvSpPr/>
          <p:nvPr/>
        </p:nvSpPr>
        <p:spPr>
          <a:xfrm>
            <a:off x="768096" y="4215384"/>
            <a:ext cx="6583680" cy="886968"/>
          </a:xfrm>
          <a:prstGeom prst="roundRect">
            <a:avLst>
              <a:gd fmla="val 18557" name="adj"/>
            </a:avLst>
          </a:prstGeom>
          <a:solidFill>
            <a:srgbClr val="FFFFFF"/>
          </a:solidFill>
          <a:ln cap="flat" cmpd="sng" w="12700">
            <a:solidFill>
              <a:srgbClr val="DCE5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a:off x="987552" y="4462272"/>
            <a:ext cx="365760" cy="365760"/>
          </a:xfrm>
          <a:prstGeom prst="ellipse">
            <a:avLst/>
          </a:prstGeom>
          <a:solidFill>
            <a:srgbClr val="D9F1E9"/>
          </a:solidFill>
          <a:ln cap="flat" cmpd="sng" w="12700">
            <a:solidFill>
              <a:srgbClr val="D9F1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a:off x="1028700" y="4503420"/>
            <a:ext cx="29260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7F75"/>
              </a:buClr>
              <a:buSzPts val="1500"/>
              <a:buFont typeface="Inter"/>
              <a:buNone/>
            </a:pPr>
            <a:r>
              <a:rPr b="1" i="0" lang="en-US" sz="1500" u="none" cap="none" strike="noStrike">
                <a:solidFill>
                  <a:srgbClr val="067F75"/>
                </a:solidFill>
                <a:latin typeface="Inter"/>
                <a:ea typeface="Inter"/>
                <a:cs typeface="Inter"/>
                <a:sym typeface="Inter"/>
              </a:rPr>
              <a:t>✓</a:t>
            </a:r>
            <a:endParaRPr b="0" i="0" sz="1500" u="none" cap="none" strike="noStrike">
              <a:solidFill>
                <a:schemeClr val="dk1"/>
              </a:solidFill>
              <a:latin typeface="Inter"/>
              <a:ea typeface="Inter"/>
              <a:cs typeface="Inter"/>
              <a:sym typeface="Inter"/>
            </a:endParaRPr>
          </a:p>
        </p:txBody>
      </p:sp>
      <p:sp>
        <p:nvSpPr>
          <p:cNvPr id="643" name="Google Shape;643;p16"/>
          <p:cNvSpPr/>
          <p:nvPr/>
        </p:nvSpPr>
        <p:spPr>
          <a:xfrm>
            <a:off x="1554480" y="4334256"/>
            <a:ext cx="5394960" cy="2834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2A39"/>
              </a:buClr>
              <a:buSzPts val="1750"/>
              <a:buFont typeface="Inter"/>
              <a:buNone/>
            </a:pPr>
            <a:r>
              <a:rPr b="1" i="0" lang="en-US" sz="1750" u="none" cap="none" strike="noStrike">
                <a:solidFill>
                  <a:srgbClr val="102A39"/>
                </a:solidFill>
                <a:latin typeface="Inter"/>
                <a:ea typeface="Inter"/>
                <a:cs typeface="Inter"/>
                <a:sym typeface="Inter"/>
              </a:rPr>
              <a:t>Transparência</a:t>
            </a:r>
            <a:endParaRPr b="0" i="0" sz="1750" u="none" cap="none" strike="noStrike">
              <a:solidFill>
                <a:schemeClr val="dk1"/>
              </a:solidFill>
              <a:latin typeface="Inter"/>
              <a:ea typeface="Inter"/>
              <a:cs typeface="Inter"/>
              <a:sym typeface="Inter"/>
            </a:endParaRPr>
          </a:p>
        </p:txBody>
      </p:sp>
      <p:sp>
        <p:nvSpPr>
          <p:cNvPr id="644" name="Google Shape;644;p16"/>
          <p:cNvSpPr/>
          <p:nvPr/>
        </p:nvSpPr>
        <p:spPr>
          <a:xfrm>
            <a:off x="1554480" y="4690872"/>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36979"/>
              </a:buClr>
              <a:buSzPts val="1400"/>
              <a:buFont typeface="Inter"/>
              <a:buNone/>
            </a:pPr>
            <a:r>
              <a:rPr b="0" i="0" lang="en-US" sz="1400" u="none" cap="none" strike="noStrike">
                <a:solidFill>
                  <a:srgbClr val="536979"/>
                </a:solidFill>
                <a:latin typeface="Inter"/>
                <a:ea typeface="Inter"/>
                <a:cs typeface="Inter"/>
                <a:sym typeface="Inter"/>
              </a:rPr>
              <a:t>Mostra CpGs medidos, ausentes e cobertura</a:t>
            </a:r>
            <a:endParaRPr b="0" i="0" sz="1400" u="none" cap="none" strike="noStrike">
              <a:solidFill>
                <a:schemeClr val="dk1"/>
              </a:solidFill>
              <a:latin typeface="Inter"/>
              <a:ea typeface="Inter"/>
              <a:cs typeface="Inter"/>
              <a:sym typeface="Inter"/>
            </a:endParaRPr>
          </a:p>
        </p:txBody>
      </p:sp>
      <p:sp>
        <p:nvSpPr>
          <p:cNvPr id="645" name="Google Shape;645;p16"/>
          <p:cNvSpPr/>
          <p:nvPr/>
        </p:nvSpPr>
        <p:spPr>
          <a:xfrm>
            <a:off x="7680960" y="2020824"/>
            <a:ext cx="3767328" cy="3145536"/>
          </a:xfrm>
          <a:prstGeom prst="roundRect">
            <a:avLst>
              <a:gd fmla="val 7267" name="adj"/>
            </a:avLst>
          </a:prstGeom>
          <a:solidFill>
            <a:srgbClr val="0C2633"/>
          </a:solidFill>
          <a:ln cap="flat" cmpd="sng" w="12700">
            <a:solidFill>
              <a:srgbClr val="0C26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7991856" y="2331720"/>
            <a:ext cx="3127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EB9B"/>
              </a:buClr>
              <a:buSzPts val="1520"/>
              <a:buFont typeface="Inter"/>
              <a:buNone/>
            </a:pPr>
            <a:r>
              <a:rPr b="1" i="0" lang="en-US" sz="1520" u="none" cap="none" strike="noStrike">
                <a:solidFill>
                  <a:srgbClr val="BEEB9B"/>
                </a:solidFill>
                <a:latin typeface="Inter"/>
                <a:ea typeface="Inter"/>
                <a:cs typeface="Inter"/>
                <a:sym typeface="Inter"/>
              </a:rPr>
              <a:t>UM LIMITE IMPORTANTE</a:t>
            </a:r>
            <a:endParaRPr b="0" i="0" sz="1520" u="none" cap="none" strike="noStrike">
              <a:solidFill>
                <a:schemeClr val="dk1"/>
              </a:solidFill>
              <a:latin typeface="Inter"/>
              <a:ea typeface="Inter"/>
              <a:cs typeface="Inter"/>
              <a:sym typeface="Inter"/>
            </a:endParaRPr>
          </a:p>
        </p:txBody>
      </p:sp>
      <p:sp>
        <p:nvSpPr>
          <p:cNvPr id="647" name="Google Shape;647;p16"/>
          <p:cNvSpPr/>
          <p:nvPr/>
        </p:nvSpPr>
        <p:spPr>
          <a:xfrm>
            <a:off x="7991856" y="2852928"/>
            <a:ext cx="31089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70"/>
              <a:buFont typeface="Inter"/>
              <a:buNone/>
            </a:pPr>
            <a:r>
              <a:rPr b="1" i="0" lang="en-US" sz="2270" u="none" cap="none" strike="noStrike">
                <a:solidFill>
                  <a:srgbClr val="FFFFFF"/>
                </a:solidFill>
                <a:latin typeface="Inter"/>
                <a:ea typeface="Inter"/>
                <a:cs typeface="Inter"/>
                <a:sym typeface="Inter"/>
              </a:rPr>
              <a:t>Idade epigenética ≠ diagnóstico de saúde</a:t>
            </a:r>
            <a:endParaRPr b="0" i="0" sz="2270" u="none" cap="none" strike="noStrike">
              <a:solidFill>
                <a:schemeClr val="dk1"/>
              </a:solidFill>
              <a:latin typeface="Inter"/>
              <a:ea typeface="Inter"/>
              <a:cs typeface="Inter"/>
              <a:sym typeface="Inter"/>
            </a:endParaRPr>
          </a:p>
        </p:txBody>
      </p:sp>
      <p:sp>
        <p:nvSpPr>
          <p:cNvPr id="648" name="Google Shape;648;p16"/>
          <p:cNvSpPr/>
          <p:nvPr/>
        </p:nvSpPr>
        <p:spPr>
          <a:xfrm>
            <a:off x="7991856" y="4160520"/>
            <a:ext cx="3127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EDF"/>
              </a:buClr>
              <a:buSzPts val="1440"/>
              <a:buFont typeface="Inter"/>
              <a:buNone/>
            </a:pPr>
            <a:r>
              <a:rPr b="0" i="0" lang="en-US" sz="1440" u="none" cap="none" strike="noStrike">
                <a:solidFill>
                  <a:srgbClr val="C9DEDF"/>
                </a:solidFill>
                <a:latin typeface="Inter"/>
                <a:ea typeface="Inter"/>
                <a:cs typeface="Inter"/>
                <a:sym typeface="Inter"/>
              </a:rPr>
              <a:t>A qualidade dos dados e a validação científica continuam essenciais.</a:t>
            </a:r>
            <a:endParaRPr b="0" i="0" sz="1440" u="none" cap="none" strike="noStrike">
              <a:solidFill>
                <a:schemeClr val="dk1"/>
              </a:solidFill>
              <a:latin typeface="Inter"/>
              <a:ea typeface="Inter"/>
              <a:cs typeface="Inter"/>
              <a:sym typeface="Inter"/>
            </a:endParaRPr>
          </a:p>
        </p:txBody>
      </p:sp>
      <p:cxnSp>
        <p:nvCxnSpPr>
          <p:cNvPr id="649" name="Google Shape;649;p16"/>
          <p:cNvCxnSpPr/>
          <p:nvPr/>
        </p:nvCxnSpPr>
        <p:spPr>
          <a:xfrm>
            <a:off x="612648" y="6492240"/>
            <a:ext cx="10954512" cy="0"/>
          </a:xfrm>
          <a:prstGeom prst="straightConnector1">
            <a:avLst/>
          </a:prstGeom>
          <a:noFill/>
          <a:ln cap="flat" cmpd="sng" w="12700">
            <a:solidFill>
              <a:srgbClr val="DCE5E4"/>
            </a:solidFill>
            <a:prstDash val="solid"/>
            <a:round/>
            <a:headEnd len="sm" w="sm" type="none"/>
            <a:tailEnd len="sm" w="sm" type="none"/>
          </a:ln>
        </p:spPr>
      </p:cxnSp>
      <p:sp>
        <p:nvSpPr>
          <p:cNvPr id="650" name="Google Shape;650;p16"/>
          <p:cNvSpPr/>
          <p:nvPr/>
        </p:nvSpPr>
        <p:spPr>
          <a:xfrm>
            <a:off x="621792" y="6556248"/>
            <a:ext cx="594360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96A0"/>
              </a:buClr>
              <a:buSzPts val="810"/>
              <a:buFont typeface="Inter"/>
              <a:buNone/>
            </a:pPr>
            <a:r>
              <a:rPr b="1" i="0" lang="en-US" sz="810" u="none" cap="none" strike="noStrike">
                <a:solidFill>
                  <a:srgbClr val="8696A0"/>
                </a:solidFill>
                <a:latin typeface="Inter"/>
                <a:ea typeface="Inter"/>
                <a:cs typeface="Inter"/>
                <a:sym typeface="Inter"/>
              </a:rPr>
              <a:t>CALCULADORA DE IDADE EPIGENÉTICA</a:t>
            </a:r>
            <a:endParaRPr b="0" i="0" sz="810" u="none" cap="none" strike="noStrike">
              <a:solidFill>
                <a:schemeClr val="dk1"/>
              </a:solidFill>
              <a:latin typeface="Inter"/>
              <a:ea typeface="Inter"/>
              <a:cs typeface="Inter"/>
              <a:sym typeface="Inter"/>
            </a:endParaRPr>
          </a:p>
        </p:txBody>
      </p:sp>
      <p:sp>
        <p:nvSpPr>
          <p:cNvPr id="651" name="Google Shape;651;p16"/>
          <p:cNvSpPr/>
          <p:nvPr/>
        </p:nvSpPr>
        <p:spPr>
          <a:xfrm>
            <a:off x="11247120" y="6510528"/>
            <a:ext cx="3200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67F75"/>
              </a:buClr>
              <a:buSzPts val="1100"/>
              <a:buFont typeface="Inter"/>
              <a:buNone/>
            </a:pPr>
            <a:r>
              <a:rPr b="1" i="0" lang="en-US" sz="1100" u="none" cap="none" strike="noStrike">
                <a:solidFill>
                  <a:srgbClr val="067F75"/>
                </a:solidFill>
                <a:latin typeface="Inter"/>
                <a:ea typeface="Inter"/>
                <a:cs typeface="Inter"/>
                <a:sym typeface="Inter"/>
              </a:rPr>
              <a:t>13</a:t>
            </a:r>
            <a:endParaRPr b="0" i="0" sz="1100" u="none" cap="none" strike="noStrike">
              <a:solidFill>
                <a:schemeClr val="dk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633"/>
        </a:solidFill>
      </p:bgPr>
    </p:bg>
    <p:spTree>
      <p:nvGrpSpPr>
        <p:cNvPr id="656" name="Shape 656"/>
        <p:cNvGrpSpPr/>
        <p:nvPr/>
      </p:nvGrpSpPr>
      <p:grpSpPr>
        <a:xfrm>
          <a:off x="0" y="0"/>
          <a:ext cx="0" cy="0"/>
          <a:chOff x="0" y="0"/>
          <a:chExt cx="0" cy="0"/>
        </a:xfrm>
      </p:grpSpPr>
      <p:sp>
        <p:nvSpPr>
          <p:cNvPr id="657" name="Google Shape;657;p17"/>
          <p:cNvSpPr/>
          <p:nvPr/>
        </p:nvSpPr>
        <p:spPr>
          <a:xfrm>
            <a:off x="9930384" y="27432"/>
            <a:ext cx="2194560" cy="2194560"/>
          </a:xfrm>
          <a:prstGeom prst="ellipse">
            <a:avLst/>
          </a:prstGeom>
          <a:solidFill>
            <a:srgbClr val="1B4850"/>
          </a:solidFill>
          <a:ln cap="flat" cmpd="sng" w="12700">
            <a:solidFill>
              <a:srgbClr val="1B48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758952" y="1042416"/>
            <a:ext cx="9710928"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800"/>
              <a:buFont typeface="Inter"/>
              <a:buNone/>
            </a:pPr>
            <a:r>
              <a:rPr b="1" i="0" lang="en-US" sz="5800" u="none" cap="none" strike="noStrike">
                <a:solidFill>
                  <a:srgbClr val="FFFFFF"/>
                </a:solidFill>
                <a:latin typeface="Inter"/>
                <a:ea typeface="Inter"/>
                <a:cs typeface="Inter"/>
                <a:sym typeface="Inter"/>
              </a:rPr>
              <a:t>Obrigado!</a:t>
            </a:r>
            <a:endParaRPr b="0" i="0" sz="5800" u="none" cap="none" strike="noStrike">
              <a:solidFill>
                <a:schemeClr val="dk1"/>
              </a:solidFill>
              <a:latin typeface="Inter"/>
              <a:ea typeface="Inter"/>
              <a:cs typeface="Inter"/>
              <a:sym typeface="Inter"/>
            </a:endParaRPr>
          </a:p>
        </p:txBody>
      </p:sp>
      <p:sp>
        <p:nvSpPr>
          <p:cNvPr id="659" name="Google Shape;659;p17"/>
          <p:cNvSpPr/>
          <p:nvPr/>
        </p:nvSpPr>
        <p:spPr>
          <a:xfrm>
            <a:off x="795528" y="2212848"/>
            <a:ext cx="9235440" cy="8138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EEB9B"/>
              </a:buClr>
              <a:buSzPts val="3800"/>
              <a:buFont typeface="Inter"/>
              <a:buNone/>
            </a:pPr>
            <a:r>
              <a:t/>
            </a:r>
            <a:endParaRPr b="0" i="0" sz="3800" u="none" cap="none" strike="noStrike">
              <a:solidFill>
                <a:schemeClr val="dk1"/>
              </a:solidFill>
              <a:latin typeface="Inter"/>
              <a:ea typeface="Inter"/>
              <a:cs typeface="Inter"/>
              <a:sym typeface="Inter"/>
            </a:endParaRPr>
          </a:p>
        </p:txBody>
      </p:sp>
      <p:cxnSp>
        <p:nvCxnSpPr>
          <p:cNvPr id="660" name="Google Shape;660;p17"/>
          <p:cNvCxnSpPr/>
          <p:nvPr/>
        </p:nvCxnSpPr>
        <p:spPr>
          <a:xfrm>
            <a:off x="795528" y="3401568"/>
            <a:ext cx="10451592" cy="0"/>
          </a:xfrm>
          <a:prstGeom prst="straightConnector1">
            <a:avLst/>
          </a:prstGeom>
          <a:noFill/>
          <a:ln cap="flat" cmpd="sng" w="19050">
            <a:solidFill>
              <a:srgbClr val="37636C"/>
            </a:solidFill>
            <a:prstDash val="solid"/>
            <a:round/>
            <a:headEnd len="sm" w="sm" type="none"/>
            <a:tailEnd len="sm" w="sm" type="none"/>
          </a:ln>
        </p:spPr>
      </p:cxnSp>
      <p:sp>
        <p:nvSpPr>
          <p:cNvPr id="661" name="Google Shape;661;p17"/>
          <p:cNvSpPr/>
          <p:nvPr/>
        </p:nvSpPr>
        <p:spPr>
          <a:xfrm>
            <a:off x="804672" y="370332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D3CD"/>
              </a:buClr>
              <a:buSzPts val="1300"/>
              <a:buFont typeface="Inter"/>
              <a:buNone/>
            </a:pPr>
            <a:r>
              <a:rPr b="1" i="0" lang="en-US" sz="1300" u="none" cap="none" strike="noStrike">
                <a:solidFill>
                  <a:srgbClr val="A9D3CD"/>
                </a:solidFill>
                <a:latin typeface="Inter"/>
                <a:ea typeface="Inter"/>
                <a:cs typeface="Inter"/>
                <a:sym typeface="Inter"/>
              </a:rPr>
              <a:t>REFERÊNCIAS</a:t>
            </a:r>
            <a:endParaRPr b="0" i="0" sz="1300" u="none" cap="none" strike="noStrike">
              <a:solidFill>
                <a:schemeClr val="dk1"/>
              </a:solidFill>
              <a:latin typeface="Inter"/>
              <a:ea typeface="Inter"/>
              <a:cs typeface="Inter"/>
              <a:sym typeface="Inter"/>
            </a:endParaRPr>
          </a:p>
        </p:txBody>
      </p:sp>
      <p:sp>
        <p:nvSpPr>
          <p:cNvPr id="662" name="Google Shape;662;p17"/>
          <p:cNvSpPr/>
          <p:nvPr/>
        </p:nvSpPr>
        <p:spPr>
          <a:xfrm>
            <a:off x="804672" y="4133088"/>
            <a:ext cx="10716768" cy="338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20"/>
              <a:buFont typeface="Inter"/>
              <a:buNone/>
            </a:pPr>
            <a:r>
              <a:rPr b="0" i="0" lang="en-US" sz="1520" u="none" cap="none" strike="noStrike">
                <a:solidFill>
                  <a:srgbClr val="FFFFFF"/>
                </a:solidFill>
                <a:latin typeface="Inter"/>
                <a:ea typeface="Inter"/>
                <a:cs typeface="Inter"/>
                <a:sym typeface="Inter"/>
              </a:rPr>
              <a:t>Garma LD, Quintela-Fandiño M. Genome Medicine 16, 116 (2024).</a:t>
            </a:r>
            <a:endParaRPr b="0" i="0" sz="1520" u="none" cap="none" strike="noStrike">
              <a:solidFill>
                <a:schemeClr val="dk1"/>
              </a:solidFill>
              <a:latin typeface="Inter"/>
              <a:ea typeface="Inter"/>
              <a:cs typeface="Inter"/>
              <a:sym typeface="Inter"/>
            </a:endParaRPr>
          </a:p>
        </p:txBody>
      </p:sp>
      <p:sp>
        <p:nvSpPr>
          <p:cNvPr id="663" name="Google Shape;663;p17">
            <a:hlinkClick r:id="rId3"/>
          </p:cNvPr>
          <p:cNvSpPr/>
          <p:nvPr/>
        </p:nvSpPr>
        <p:spPr>
          <a:xfrm>
            <a:off x="804672" y="4507992"/>
            <a:ext cx="10607040" cy="2651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2D0"/>
              </a:buClr>
              <a:buSzPts val="1280"/>
              <a:buFont typeface="Inter"/>
              <a:buNone/>
            </a:pPr>
            <a:r>
              <a:rPr b="0" i="0" lang="en-US" sz="1280" u="sng" cap="none" strike="noStrike">
                <a:solidFill>
                  <a:schemeClr val="hlink"/>
                </a:solidFill>
                <a:latin typeface="Inter"/>
                <a:ea typeface="Inter"/>
                <a:cs typeface="Inter"/>
                <a:sym typeface="Inter"/>
                <a:hlinkClick r:id="rId4"/>
              </a:rPr>
              <a:t>doi.org/10.1186/s13073-024-01387-4</a:t>
            </a:r>
            <a:endParaRPr b="0" i="0" sz="1280" u="none" cap="none" strike="noStrike">
              <a:solidFill>
                <a:schemeClr val="dk1"/>
              </a:solidFill>
              <a:latin typeface="Inter"/>
              <a:ea typeface="Inter"/>
              <a:cs typeface="Inter"/>
              <a:sym typeface="Inter"/>
            </a:endParaRPr>
          </a:p>
        </p:txBody>
      </p:sp>
      <p:sp>
        <p:nvSpPr>
          <p:cNvPr id="664" name="Google Shape;664;p17"/>
          <p:cNvSpPr/>
          <p:nvPr/>
        </p:nvSpPr>
        <p:spPr>
          <a:xfrm>
            <a:off x="804672" y="5029200"/>
            <a:ext cx="104698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30"/>
              <a:buFont typeface="Inter"/>
              <a:buNone/>
            </a:pPr>
            <a:r>
              <a:rPr b="0" i="0" lang="en-US" sz="1430" u="none" cap="none" strike="noStrike">
                <a:solidFill>
                  <a:srgbClr val="FFFFFF"/>
                </a:solidFill>
                <a:latin typeface="Inter"/>
                <a:ea typeface="Inter"/>
                <a:cs typeface="Inter"/>
                <a:sym typeface="Inter"/>
              </a:rPr>
              <a:t>NCBI GEO — GSE246337 · Biomarkers of Aging Consortium (500 amostras EPIC v2).</a:t>
            </a:r>
            <a:endParaRPr b="0" i="0" sz="1430" u="none" cap="none" strike="noStrike">
              <a:solidFill>
                <a:schemeClr val="dk1"/>
              </a:solidFill>
              <a:latin typeface="Inter"/>
              <a:ea typeface="Inter"/>
              <a:cs typeface="Inter"/>
              <a:sym typeface="Inter"/>
            </a:endParaRPr>
          </a:p>
        </p:txBody>
      </p:sp>
      <p:sp>
        <p:nvSpPr>
          <p:cNvPr id="665" name="Google Shape;665;p17">
            <a:hlinkClick r:id="rId5"/>
          </p:cNvPr>
          <p:cNvSpPr/>
          <p:nvPr/>
        </p:nvSpPr>
        <p:spPr>
          <a:xfrm>
            <a:off x="804672" y="5458968"/>
            <a:ext cx="10424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D2D0"/>
              </a:buClr>
              <a:buSzPts val="1280"/>
              <a:buFont typeface="Inter"/>
              <a:buNone/>
            </a:pPr>
            <a:r>
              <a:rPr b="0" i="0" lang="en-US" sz="1280" u="sng" cap="none" strike="noStrike">
                <a:solidFill>
                  <a:schemeClr val="hlink"/>
                </a:solidFill>
                <a:latin typeface="Inter"/>
                <a:ea typeface="Inter"/>
                <a:cs typeface="Inter"/>
                <a:sym typeface="Inter"/>
                <a:hlinkClick r:id="rId6"/>
              </a:rPr>
              <a:t>ncbi.nlm.nih.gov/geo/query/acc.cgi?acc=GSE246337</a:t>
            </a:r>
            <a:endParaRPr b="0" i="0" sz="1280" u="none" cap="none" strike="noStrike">
              <a:solidFill>
                <a:schemeClr val="dk1"/>
              </a:solidFill>
              <a:latin typeface="Inter"/>
              <a:ea typeface="Inter"/>
              <a:cs typeface="Inter"/>
              <a:sym typeface="Inter"/>
            </a:endParaRPr>
          </a:p>
        </p:txBody>
      </p:sp>
      <p:sp>
        <p:nvSpPr>
          <p:cNvPr id="666" name="Google Shape;666;p17"/>
          <p:cNvSpPr/>
          <p:nvPr/>
        </p:nvSpPr>
        <p:spPr>
          <a:xfrm>
            <a:off x="795528" y="6126480"/>
            <a:ext cx="107807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6C5"/>
              </a:buClr>
              <a:buSzPts val="1100"/>
              <a:buFont typeface="Inter"/>
              <a:buNone/>
            </a:pPr>
            <a:r>
              <a:rPr b="0" i="0" lang="en-US" sz="1100" u="none" cap="none" strike="noStrike">
                <a:solidFill>
                  <a:srgbClr val="B7C6C5"/>
                </a:solidFill>
                <a:latin typeface="Inter"/>
                <a:ea typeface="Inter"/>
                <a:cs typeface="Inter"/>
                <a:sym typeface="Inter"/>
              </a:rPr>
              <a:t>Apoio de IA: GPT-6 (ChatGPT), na programação, testes, explicações e preparação desta apresentação.</a:t>
            </a:r>
            <a:endParaRPr b="0" i="0" sz="110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